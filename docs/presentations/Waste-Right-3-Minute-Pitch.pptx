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449359acaa41c0" /><Relationship Type="http://schemas.openxmlformats.org/officeDocument/2006/relationships/extended-properties" Target="/docProps/app.xml" Id="R1453992efc404842" /><Relationship Type="http://schemas.openxmlformats.org/officeDocument/2006/relationships/officeDocument" Target="/ppt/presentation.xml" Id="Rf7b1a395b18e4450" /></Relationships>
</file>

<file path=ppt/presentation.xml><?xml version="1.0" encoding="utf-8"?>
<p:presentation xmlns:p="http://schemas.openxmlformats.org/presentationml/2006/main">
  <p:sldMasterIdLst>
    <p:sldMasterId xmlns:r="http://schemas.openxmlformats.org/officeDocument/2006/relationships" id="2147483648" r:id="R867b75188ad14060"/>
  </p:sldMasterIdLst>
  <p:notesMasterIdLst>
    <p:notesMasterId xmlns:r="http://schemas.openxmlformats.org/officeDocument/2006/relationships" r:id="Raaf8c96afec24c11"/>
  </p:notesMasterIdLst>
  <p:sldIdLst>
    <p:sldId xmlns:r="http://schemas.openxmlformats.org/officeDocument/2006/relationships" id="256" r:id="R0c874c8c126445e6"/>
    <p:sldId xmlns:r="http://schemas.openxmlformats.org/officeDocument/2006/relationships" id="257" r:id="Rab13bd8199e1421c"/>
    <p:sldId xmlns:r="http://schemas.openxmlformats.org/officeDocument/2006/relationships" id="258" r:id="R803eaf3edcef4a76"/>
    <p:sldId xmlns:r="http://schemas.openxmlformats.org/officeDocument/2006/relationships" id="259" r:id="R3c90d1fad21d4d31"/>
    <p:sldId xmlns:r="http://schemas.openxmlformats.org/officeDocument/2006/relationships" id="260" r:id="R605e86af918f47e9"/>
    <p:sldId xmlns:r="http://schemas.openxmlformats.org/officeDocument/2006/relationships" id="261" r:id="Ra1f32f89071a4bee"/>
    <p:sldId xmlns:r="http://schemas.openxmlformats.org/officeDocument/2006/relationships" id="262" r:id="R9db2e5f8a3f34008"/>
    <p:sldId xmlns:r="http://schemas.openxmlformats.org/officeDocument/2006/relationships" id="263" r:id="R14b58a2c7c9c40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0136c560bf4bb0" /><Relationship Type="http://schemas.openxmlformats.org/officeDocument/2006/relationships/slideMaster" Target="/ppt/slideMasters/slideMaster1.xml" Id="R867b75188ad14060" /><Relationship Type="http://schemas.openxmlformats.org/officeDocument/2006/relationships/notesMaster" Target="/ppt/notesMasters/notesMaster1.xml" Id="Raaf8c96afec24c11" /><Relationship Type="http://schemas.openxmlformats.org/officeDocument/2006/relationships/presProps" Target="/ppt/presProps.xml" Id="Rf2e5bb68ed4844e1" /><Relationship Type="http://schemas.openxmlformats.org/officeDocument/2006/relationships/tableStyles" Target="/ppt/tableStyles.xml" Id="Rc3dbdbedb52e4dd9" /><Relationship Type="http://schemas.openxmlformats.org/officeDocument/2006/relationships/slide" Target="/ppt/slides/slide1.xml" Id="R0c874c8c126445e6" /><Relationship Type="http://schemas.openxmlformats.org/officeDocument/2006/relationships/slide" Target="/ppt/slides/slide2.xml" Id="Rab13bd8199e1421c" /><Relationship Type="http://schemas.openxmlformats.org/officeDocument/2006/relationships/slide" Target="/ppt/slides/slide3.xml" Id="R803eaf3edcef4a76" /><Relationship Type="http://schemas.openxmlformats.org/officeDocument/2006/relationships/slide" Target="/ppt/slides/slide4.xml" Id="R3c90d1fad21d4d31" /><Relationship Type="http://schemas.openxmlformats.org/officeDocument/2006/relationships/slide" Target="/ppt/slides/slide5.xml" Id="R605e86af918f47e9" /><Relationship Type="http://schemas.openxmlformats.org/officeDocument/2006/relationships/slide" Target="/ppt/slides/slide6.xml" Id="Ra1f32f89071a4bee" /><Relationship Type="http://schemas.openxmlformats.org/officeDocument/2006/relationships/slide" Target="/ppt/slides/slide7.xml" Id="R9db2e5f8a3f34008" /><Relationship Type="http://schemas.openxmlformats.org/officeDocument/2006/relationships/slide" Target="/ppt/slides/slide8.xml" Id="R14b58a2c7c9c40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e4ee0e88314a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ae6417bd7647fb" /><Relationship Type="http://schemas.openxmlformats.org/officeDocument/2006/relationships/notesMaster" Target="/ppt/notesMasters/notesMaster1.xml" Id="Rf43efcfc9d0b48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eeb2a049234f43" /><Relationship Type="http://schemas.openxmlformats.org/officeDocument/2006/relationships/notesMaster" Target="/ppt/notesMasters/notesMaster1.xml" Id="R47838c2af13d4e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0766ea2cd44aed" /><Relationship Type="http://schemas.openxmlformats.org/officeDocument/2006/relationships/notesMaster" Target="/ppt/notesMasters/notesMaster1.xml" Id="Rda227329b1574b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e5cefa09094917" /><Relationship Type="http://schemas.openxmlformats.org/officeDocument/2006/relationships/notesMaster" Target="/ppt/notesMasters/notesMaster1.xml" Id="Rfef8a1358ab341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ff07d3780d466a" /><Relationship Type="http://schemas.openxmlformats.org/officeDocument/2006/relationships/notesMaster" Target="/ppt/notesMasters/notesMaster1.xml" Id="R121b2735217345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74fc387edf41c4" /><Relationship Type="http://schemas.openxmlformats.org/officeDocument/2006/relationships/notesMaster" Target="/ppt/notesMasters/notesMaster1.xml" Id="R6eb3cffcfd7a4b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03e1425c4048e8" /><Relationship Type="http://schemas.openxmlformats.org/officeDocument/2006/relationships/notesMaster" Target="/ppt/notesMasters/notesMaster1.xml" Id="R377edc0e4e1c42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3b2b6708564204" /><Relationship Type="http://schemas.openxmlformats.org/officeDocument/2006/relationships/notesMaster" Target="/ppt/notesMasters/notesMaster1.xml" Id="Rb15596ef65d242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15 seconds</a:t>
            </a:r>
          </a:p>
          <a:p xmlns:a="http://schemas.openxmlformats.org/drawingml/2006/main">
            <a:r>
              <a:t/>
            </a:r>
          </a:p>
          <a:p xmlns:a="http://schemas.openxmlformats.org/drawingml/2006/main">
            <a:r>
              <a:t>SAY:</a:t>
            </a:r>
          </a:p>
          <a:p xmlns:a="http://schemas.openxmlformats.org/drawingml/2006/main">
            <a:r>
              <a:t>Waste Right makes household waste collection easier. Residents scan and confirm their waste, helpers collect and weigh it, and proposed local hubs handle segregation and processing. Our goal is a simpler, accountable collection service.</a:t>
            </a:r>
          </a:p>
          <a:p xmlns:a="http://schemas.openxmlformats.org/drawingml/2006/main">
            <a:r>
              <a:t/>
            </a:r>
          </a:p>
          <a:p xmlns:a="http://schemas.openxmlformats.org/drawingml/2006/main">
            <a:r>
              <a:t>EVIDENCE / LIMITS:</a:t>
            </a:r>
          </a:p>
          <a:p xmlns:a="http://schemas.openxmlformats.org/drawingml/2006/main">
            <a:r>
              <a:t>Product concept from founder requirements. Illustration depicts the concept, not an operating facility. Hubs and on-site composting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20 seconds</a:t>
            </a:r>
          </a:p>
          <a:p xmlns:a="http://schemas.openxmlformats.org/drawingml/2006/main">
            <a:r>
              <a:t/>
            </a:r>
          </a:p>
          <a:p xmlns:a="http://schemas.openxmlformats.org/drawingml/2006/main">
            <a:r>
              <a:t>SAY:</a:t>
            </a:r>
          </a:p>
          <a:p xmlns:a="http://schemas.openxmlformats.org/drawingml/2006/main">
            <a:r>
              <a:t>Residents face confusing mixed packaging, repeated forms and unclear final charges. Collection partners need organised jobs, usable addresses and visible earnings. Even after identifying an item, someone still has to collect, weigh and route it. We connect those steps through one shared collection record.</a:t>
            </a:r>
          </a:p>
          <a:p xmlns:a="http://schemas.openxmlformats.org/drawingml/2006/main">
            <a:r>
              <a:t/>
            </a:r>
          </a:p>
          <a:p xmlns:a="http://schemas.openxmlformats.org/drawingml/2006/main">
            <a:r>
              <a:t>EVIDENCE / LIMITS:</a:t>
            </a:r>
          </a:p>
          <a:p xmlns:a="http://schemas.openxmlformats.org/drawingml/2006/main">
            <a:r>
              <a:t>Product problem framing from supplied requirements; no survey, market-size or adoption statistic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20 seconds</a:t>
            </a:r>
          </a:p>
          <a:p xmlns:a="http://schemas.openxmlformats.org/drawingml/2006/main">
            <a:r>
              <a:t/>
            </a:r>
          </a:p>
          <a:p xmlns:a="http://schemas.openxmlformats.org/drawingml/2006/main">
            <a:r>
              <a:t>SAY:</a:t>
            </a:r>
          </a:p>
          <a:p xmlns:a="http://schemas.openxmlformats.org/drawingml/2006/main">
            <a:r>
              <a:t>The resident scans or describes the waste, corrects the suggestions and books a pickup. A helper records actual material and weight; the resident reviews the receipt. Separate helper and Operations workspaces track work, earnings and disputes. Daily confirmed scanning earns points toward pickup credits.</a:t>
            </a:r>
          </a:p>
          <a:p xmlns:a="http://schemas.openxmlformats.org/drawingml/2006/main">
            <a:r>
              <a:t/>
            </a:r>
          </a:p>
          <a:p xmlns:a="http://schemas.openxmlformats.org/drawingml/2006/main">
            <a:r>
              <a:t>EVIDENCE / LIMITS:</a:t>
            </a:r>
          </a:p>
          <a:p xmlns:a="http://schemas.openxmlformats.org/drawingml/2006/main">
            <a:r>
              <a:t>Implemented prototype flow in live-camera.tsx, dashboard.tsx, quick-pickup.tsx and service APIs. One point per first confirmed India day; ten points per credit; at most two monthly. Credit covers Basic fee, not applicable extras.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30 seconds</a:t>
            </a:r>
          </a:p>
          <a:p xmlns:a="http://schemas.openxmlformats.org/drawingml/2006/main">
            <a:r>
              <a:t/>
            </a:r>
          </a:p>
          <a:p xmlns:a="http://schemas.openxmlformats.org/drawingml/2006/main">
            <a:r>
              <a:t>SAY:</a:t>
            </a:r>
          </a:p>
          <a:p xmlns:a="http://schemas.openxmlformats.org/drawingml/2006/main">
            <a:r>
              <a:t>We accept both segregated and unsegregated pickups. Unsegregated loads do not require separation at home. Our proposed hubs receive, weigh and segregate the material. Suitable organics enter planned on-site composting or go to a contracted processor. Recyclables follow suitable recovery routes; contaminated or hazardous material needs separate handling. Hubs are planned operations, not facilities we claim are already running.</a:t>
            </a:r>
          </a:p>
          <a:p xmlns:a="http://schemas.openxmlformats.org/drawingml/2006/main">
            <a:r>
              <a:t/>
            </a:r>
          </a:p>
          <a:p xmlns:a="http://schemas.openxmlformats.org/drawingml/2006/main">
            <a:r>
              <a:t>EVIDENCE / LIMITS:</a:t>
            </a:r>
          </a:p>
          <a:p xmlns:a="http://schemas.openxmlformats.org/drawingml/2006/main">
            <a:r>
              <a:t>Latest founder clarification: segregation for mixed pickups takes place at proposed hubs, with planned on-site composting. No operating hub, compost yield, plant capacity, processor agreement or guaranteed acceptance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25 seconds</a:t>
            </a:r>
          </a:p>
          <a:p xmlns:a="http://schemas.openxmlformats.org/drawingml/2006/main">
            <a:r>
              <a:t/>
            </a:r>
          </a:p>
          <a:p xmlns:a="http://schemas.openxmlformats.org/drawingml/2006/main">
            <a:r>
              <a:t>SAY:</a:t>
            </a:r>
          </a:p>
          <a:p xmlns:a="http://schemas.openxmlformats.org/drawingml/2006/main">
            <a:r>
              <a:t>Basic starts at ten rupees with two kilograms included. Gold is 399 for fourteen monthly pickups with eight kilograms each; Platinum is 469 for twenty-four with ten kilograms each. Membership pickups include segregation. Extra weight costs three rupees per kilogram. Basic and reward mixed waste adds five rupees per measured kilogram for sorting.</a:t>
            </a:r>
          </a:p>
          <a:p xmlns:a="http://schemas.openxmlformats.org/drawingml/2006/main">
            <a:r>
              <a:t/>
            </a:r>
          </a:p>
          <a:p xmlns:a="http://schemas.openxmlformats.org/drawingml/2006/main">
            <a:r>
              <a:t>EVIDENCE / LIMITS:</a:t>
            </a:r>
          </a:p>
          <a:p xmlns:a="http://schemas.openxmlformats.org/drawingml/2006/main">
            <a:r>
              <a:t>Sources: catalog.ts, pickup-pricing.ts, service.ts, docs/excess-weight.md. Monthly included limits: Gold112kg, Platinum240kg. Fractions of excess charged proportionally. Membership eligibility/monthly allowance still applies. Standard hours7am-before2pm; break2-5pm; evening5-7pm. No automatic pass renewal.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25 seconds</a:t>
            </a:r>
          </a:p>
          <a:p xmlns:a="http://schemas.openxmlformats.org/drawingml/2006/main">
            <a:r>
              <a:t/>
            </a:r>
          </a:p>
          <a:p xmlns:a="http://schemas.openxmlformats.org/drawingml/2006/main">
            <a:r>
              <a:t>SAY:</a:t>
            </a:r>
          </a:p>
          <a:p xmlns:a="http://schemas.openxmlformats.org/drawingml/2006/main">
            <a:r>
              <a:t>The main app combines image understanding, packaging OCR and human confirmation. Separately, we fine-tuned an organic-waste segmentation model on 450 images. It achieved 66.13 percent foreground mean IoU on 67 held-out images. That measures region overlap, not item accuracy. The dataset is from one household and a fixed camera; phone-camera validation is still needed.</a:t>
            </a:r>
          </a:p>
          <a:p xmlns:a="http://schemas.openxmlformats.org/drawingml/2006/main">
            <a:r>
              <a:t/>
            </a:r>
          </a:p>
          <a:p xmlns:a="http://schemas.openxmlformats.org/drawingml/2006/main">
            <a:r>
              <a:t>EVIDENCE / LIMITS:</a:t>
            </a:r>
          </a:p>
          <a:p xmlns:a="http://schemas.openxmlformats.org/drawingml/2006/main">
            <a:r>
              <a:t>Sources: classify API; live-camera.tsx; model/training/HOUSEHOLD_V2.md; household-v2-results.json. Fine-tuned DeepLabV3 MobileNetV3-Large on Colab T4. Split315/68/67 grouped by capture day and duplicate clusters. Dataset Wolling/Pal TU Wien, CC BY4.0, https://doi.org/10.48436/27k90-dvw73 . Separate local inference service; not integrated as the main app identification model. No A/B-test win or general phone accuracy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20 seconds</a:t>
            </a:r>
          </a:p>
          <a:p xmlns:a="http://schemas.openxmlformats.org/drawingml/2006/main">
            <a:r>
              <a:t/>
            </a:r>
          </a:p>
          <a:p xmlns:a="http://schemas.openxmlformats.org/drawingml/2006/main">
            <a:r>
              <a:t>SAY:</a:t>
            </a:r>
          </a:p>
          <a:p xmlns:a="http://schemas.openxmlformats.org/drawingml/2006/main">
            <a:r>
              <a:t>Our sustainability goal is measured recovery: track accepted organic material, contamination and the processing destination. We plan prompt hub sorting and controlled composting. Scaling requires dense local routes, sufficient hub capacity and worthwhile helper earnings. GOBARdhan and NAMASTE are potential partnership or support routes; no award is documented.</a:t>
            </a:r>
          </a:p>
          <a:p xmlns:a="http://schemas.openxmlformats.org/drawingml/2006/main">
            <a:r>
              <a:t/>
            </a:r>
          </a:p>
          <a:p xmlns:a="http://schemas.openxmlformats.org/drawingml/2006/main">
            <a:r>
              <a:t>EVIDENCE / LIMITS:</a:t>
            </a:r>
          </a:p>
          <a:p xmlns:a="http://schemas.openxmlformats.org/drawingml/2006/main">
            <a:r>
              <a:t>Operating controls are proposed, not field-tested. Composting principles: https://www.epa.gov/sustainable-management-food/composting . GOBARdhan official launch: https://www.pib.gov.in/PressReleaseIframePage.aspx?PRID=2317937&amp;lang=2&amp;reg=48 . NAMASTE waste-picker component: https://www.pib.gov.in/PressReleasePage.aspx?PRID=2134303&amp;lang=2&amp;reg=48 . Eligibility is separate from Waste Right signup. Benefits and emissions depend on actual operating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20 seconds</a:t>
            </a:r>
          </a:p>
          <a:p xmlns:a="http://schemas.openxmlformats.org/drawingml/2006/main">
            <a:r>
              <a:t/>
            </a:r>
          </a:p>
          <a:p xmlns:a="http://schemas.openxmlformats.org/drawingml/2006/main">
            <a:r>
              <a:t>SAY:</a:t>
            </a:r>
          </a:p>
          <a:p xmlns:a="http://schemas.openxmlformats.org/drawingml/2006/main">
            <a:r>
              <a:t>The prototype connects scanning to collection records. Revenue combines fees, subscriptions and actual recovery. The ten-rupee Basic fee leaves two rupees after base helper pay, before other costs. We seek a four-week, fifty-household pilot to test collection reliability, helper earnings and route economics.</a:t>
            </a:r>
          </a:p>
          <a:p xmlns:a="http://schemas.openxmlformats.org/drawingml/2006/main">
            <a:r>
              <a:t/>
            </a:r>
          </a:p>
          <a:p xmlns:a="http://schemas.openxmlformats.org/drawingml/2006/main">
            <a:r>
              <a:t>EVIDENCE / LIMITS:</a:t>
            </a:r>
          </a:p>
          <a:p xmlns:a="http://schemas.openxmlformats.org/drawingml/2006/main">
            <a:r>
              <a:t>Pilot scope is a target, not traction. Revenue combines fees, passes and actual recovery proceeds; public support only after entitlement and receipt. ₹2 is not profit. Hub staff/rent, sorting, transport, processing, rejection, payment fees and overhead need costing. Helper pilot policy also includes sorting/recovery shares. Latest suite39 tests plus production build, not evidence of field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a49daf5e5d43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7acf81e4a04c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eab95264254f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f5cd6e4d9f4c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1b12cea9944c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081525b8c549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DF19D6-5B43-4078-B747-DDAB88D43D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80BED1-4EC2-4D28-B3F3-D1FE89DF71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4E2FF1-F816-48F9-8E5B-CE1C71113F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2FCF2-2EB8-40A1-A4CC-D71554BB26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82AEFE-2EA1-415C-9041-52066F2EFE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2F9A24-B286-492A-8FEA-754D3AFD49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B3C333-2F27-4744-9507-D0266A563D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475233-ACFA-425B-B48D-9D94E36915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8A2798-03FE-43F3-9C9F-9D36DAAEC4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D62320-1122-4725-891F-C6B471D03C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13bab78f7741ca" /><Relationship Type="http://schemas.openxmlformats.org/officeDocument/2006/relationships/slideLayout" Target="/ppt/slideLayouts/slideLayout1.xml" Id="Rff9ec85fe1654498" /><Relationship Type="http://schemas.openxmlformats.org/officeDocument/2006/relationships/slideLayout" Target="/ppt/slideLayouts/slideLayout2.xml" Id="Rcf6bb527fed74b8d" /><Relationship Type="http://schemas.openxmlformats.org/officeDocument/2006/relationships/slideLayout" Target="/ppt/slideLayouts/slideLayout3.xml" Id="R4a67402726e9428d" /><Relationship Type="http://schemas.openxmlformats.org/officeDocument/2006/relationships/slideLayout" Target="/ppt/slideLayouts/slideLayout4.xml" Id="Ra1886843b34f46cf" /><Relationship Type="http://schemas.openxmlformats.org/officeDocument/2006/relationships/slideLayout" Target="/ppt/slideLayouts/slideLayout5.xml" Id="Rf1db6bad666a4346" /><Relationship Type="http://schemas.openxmlformats.org/officeDocument/2006/relationships/slideLayout" Target="/ppt/slideLayouts/slideLayout6.xml" Id="R1fa694dfc4354d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9ec85fe1654498"/>
    <p:sldLayoutId xmlns:r="http://schemas.openxmlformats.org/officeDocument/2006/relationships" id="2147483650" r:id="Rcf6bb527fed74b8d"/>
    <p:sldLayoutId xmlns:r="http://schemas.openxmlformats.org/officeDocument/2006/relationships" id="2147483651" r:id="R4a67402726e9428d"/>
    <p:sldLayoutId xmlns:r="http://schemas.openxmlformats.org/officeDocument/2006/relationships" id="2147483652" r:id="Ra1886843b34f46cf"/>
    <p:sldLayoutId xmlns:r="http://schemas.openxmlformats.org/officeDocument/2006/relationships" id="2147483653" r:id="Rf1db6bad666a4346"/>
    <p:sldLayoutId xmlns:r="http://schemas.openxmlformats.org/officeDocument/2006/relationships" id="2147483654" r:id="R1fa694dfc4354d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9c0ce71027441d" /><Relationship Type="http://schemas.openxmlformats.org/officeDocument/2006/relationships/image" Target="/ppt/media/image.png" Id="R54fb258bdd034162" /><Relationship Type="http://schemas.openxmlformats.org/officeDocument/2006/relationships/notesSlide" Target="/ppt/notesSlides/notesSlide1.xml" Id="Rcf10a6bb02a645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7c2146bac64002" /><Relationship Type="http://schemas.openxmlformats.org/officeDocument/2006/relationships/notesSlide" Target="/ppt/notesSlides/notesSlide2.xml" Id="R8599b487f9cb49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c1e717fc6d44d47" /><Relationship Type="http://schemas.openxmlformats.org/officeDocument/2006/relationships/notesSlide" Target="/ppt/notesSlides/notesSlide3.xml" Id="Rab3a294086df41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67d35f47e74079" /><Relationship Type="http://schemas.openxmlformats.org/officeDocument/2006/relationships/notesSlide" Target="/ppt/notesSlides/notesSlide4.xml" Id="R65faaffcab064a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f22bbba94f4aec" /><Relationship Type="http://schemas.openxmlformats.org/officeDocument/2006/relationships/notesSlide" Target="/ppt/notesSlides/notesSlide5.xml" Id="Rfcca99485e5741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c20e9d2bdb4e5b" /><Relationship Type="http://schemas.openxmlformats.org/officeDocument/2006/relationships/notesSlide" Target="/ppt/notesSlides/notesSlide6.xml" Id="R5763db0932a74e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d25381ce694959" /><Relationship Type="http://schemas.openxmlformats.org/officeDocument/2006/relationships/notesSlide" Target="/ppt/notesSlides/notesSlide7.xml" Id="Rbaa7826bd8a04e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850b04a1be4398" /><Relationship Type="http://schemas.openxmlformats.org/officeDocument/2006/relationships/notesSlide" Target="/ppt/notesSlides/notesSlide8.xml" Id="Rb6671b069cff4537" /></Relationships>
</file>

<file path=ppt/slides/slide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C580AEA-4E95-4F44-B713-CC939A3B149B}"/>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Waste Right</a:t>
            </a:r>
          </a:p>
        </p:txBody>
      </p:sp>
      <p:sp>
        <p:nvSpPr>
          <p:cNvPr id="3" name="">
            <a:extLst xmlns:a="http://schemas.openxmlformats.org/drawingml/2006/main">
              <a:ext uri="{FF2B5EF4-FFF2-40B4-BE49-F238E27FC236}">
                <a16:creationId xmlns:a16="http://schemas.microsoft.com/office/drawing/2014/main" id="{A8F0E8B0-7BFD-4B82-8C47-17D774823A7E}"/>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problem: household waste needs a simpler collection route</a:t>
            </a:r>
          </a:p>
        </p:txBody>
      </p:sp>
      <p:sp>
        <p:nvSpPr>
          <p:cNvPr id="4" name="">
            <a:extLst xmlns:a="http://schemas.openxmlformats.org/drawingml/2006/main">
              <a:ext uri="{FF2B5EF4-FFF2-40B4-BE49-F238E27FC236}">
                <a16:creationId xmlns:a16="http://schemas.microsoft.com/office/drawing/2014/main" id="{FE1CD966-C869-41C5-AC3F-8D705563387C}"/>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01</a:t>
            </a:r>
          </a:p>
        </p:txBody>
      </p:sp>
      <p:sp>
        <p:nvSpPr>
          <p:cNvPr id="5" name="">
            <a:extLst xmlns:a="http://schemas.openxmlformats.org/drawingml/2006/main">
              <a:ext uri="{FF2B5EF4-FFF2-40B4-BE49-F238E27FC236}">
                <a16:creationId xmlns:a16="http://schemas.microsoft.com/office/drawing/2014/main" id="{294BB267-5E9F-4807-9880-04206D64F080}"/>
              </a:ext>
            </a:extLst>
          </p:cNvPr>
          <p:cNvSpPr>
            <a:spLocks xmlns:a="http://schemas.openxmlformats.org/drawingml/2006/main" noGrp="1"/>
          </p:cNvSpPr>
          <p:nvPr/>
        </p:nvSpPr>
        <p:spPr>
          <a:xfrm xmlns:a="http://schemas.openxmlformats.org/drawingml/2006/main">
            <a:off x="628650" y="2667000"/>
            <a:ext cx="628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173F30"/>
                </a:solidFill>
              </a:defRPr>
            </a:defPPr>
            <a:lvl1pPr>
              <a:defRPr sz="3975" b="1">
                <a:solidFill>
                  <a:srgbClr val="173F30"/>
                </a:solidFill>
              </a:defRPr>
            </a:lvl1pPr>
            <a:lvl2pPr>
              <a:defRPr sz="3975" b="1">
                <a:solidFill>
                  <a:srgbClr val="173F30"/>
                </a:solidFill>
              </a:defRPr>
            </a:lvl2pPr>
            <a:lvl3pPr>
              <a:defRPr sz="3975" b="1">
                <a:solidFill>
                  <a:srgbClr val="173F30"/>
                </a:solidFill>
              </a:defRPr>
            </a:lvl3pPr>
            <a:lvl4pPr>
              <a:defRPr sz="3975" b="1">
                <a:solidFill>
                  <a:srgbClr val="173F30"/>
                </a:solidFill>
              </a:defRPr>
            </a:lvl4pPr>
            <a:lvl5pPr>
              <a:defRPr sz="3975" b="1">
                <a:solidFill>
                  <a:srgbClr val="173F30"/>
                </a:solidFill>
              </a:defRPr>
            </a:lvl5pPr>
            <a:lvl6pPr>
              <a:defRPr sz="3975" b="1">
                <a:solidFill>
                  <a:srgbClr val="173F30"/>
                </a:solidFill>
              </a:defRPr>
            </a:lvl6pPr>
            <a:lvl7pPr>
              <a:defRPr sz="3975" b="1">
                <a:solidFill>
                  <a:srgbClr val="173F30"/>
                </a:solidFill>
              </a:defRPr>
            </a:lvl7pPr>
            <a:lvl8pPr>
              <a:defRPr sz="3975" b="1">
                <a:solidFill>
                  <a:srgbClr val="173F30"/>
                </a:solidFill>
              </a:defRPr>
            </a:lvl8pPr>
            <a:lvl9pPr>
              <a:defRPr sz="3975" b="1">
                <a:solidFill>
                  <a:srgbClr val="173F30"/>
                </a:solidFill>
              </a:defRPr>
            </a:lvl9pPr>
          </a:lstStyle>
          <a:p xmlns:a="http://schemas.openxmlformats.org/drawingml/2006/main">
            <a:pPr>
              <a:defRPr sz="3975" b="1">
                <a:solidFill>
                  <a:srgbClr val="173F30"/>
                </a:solidFill>
              </a:defRPr>
            </a:pPr>
            <a:r>
              <a:rPr sz="3975" b="1">
                <a:solidFill>
                  <a:srgbClr val="173F30"/>
                </a:solidFill>
              </a:rPr>
              <a:t>Scan. Confirm.</a:t>
            </a:r>
          </a:p>
          <a:p xmlns:a="http://schemas.openxmlformats.org/drawingml/2006/main">
            <a:pPr>
              <a:defRPr sz="3975" b="1">
                <a:solidFill>
                  <a:srgbClr val="173F30"/>
                </a:solidFill>
              </a:defRPr>
            </a:pPr>
            <a:r>
              <a:rPr sz="3975" b="1">
                <a:solidFill>
                  <a:srgbClr val="173F30"/>
                </a:solidFill>
              </a:rPr>
              <a:t>Get it collected.</a:t>
            </a:r>
          </a:p>
        </p:txBody>
      </p:sp>
      <p:sp>
        <p:nvSpPr>
          <p:cNvPr id="6" name="">
            <a:extLst xmlns:a="http://schemas.openxmlformats.org/drawingml/2006/main">
              <a:ext uri="{FF2B5EF4-FFF2-40B4-BE49-F238E27FC236}">
                <a16:creationId xmlns:a16="http://schemas.microsoft.com/office/drawing/2014/main" id="{C582C278-8096-4A3E-AB55-F71F99FA5688}"/>
              </a:ext>
            </a:extLst>
          </p:cNvPr>
          <p:cNvSpPr>
            <a:spLocks xmlns:a="http://schemas.openxmlformats.org/drawingml/2006/main" noGrp="1"/>
          </p:cNvSpPr>
          <p:nvPr/>
        </p:nvSpPr>
        <p:spPr>
          <a:xfrm xmlns:a="http://schemas.openxmlformats.org/drawingml/2006/main">
            <a:off x="628650" y="46196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6766D"/>
                </a:solidFill>
              </a:defRPr>
            </a:defPPr>
            <a:lvl1pPr>
              <a:defRPr sz="2175" b="0">
                <a:solidFill>
                  <a:srgbClr val="66766D"/>
                </a:solidFill>
              </a:defRPr>
            </a:lvl1pPr>
            <a:lvl2pPr>
              <a:defRPr sz="2175" b="0">
                <a:solidFill>
                  <a:srgbClr val="66766D"/>
                </a:solidFill>
              </a:defRPr>
            </a:lvl2pPr>
            <a:lvl3pPr>
              <a:defRPr sz="2175" b="0">
                <a:solidFill>
                  <a:srgbClr val="66766D"/>
                </a:solidFill>
              </a:defRPr>
            </a:lvl3pPr>
            <a:lvl4pPr>
              <a:defRPr sz="2175" b="0">
                <a:solidFill>
                  <a:srgbClr val="66766D"/>
                </a:solidFill>
              </a:defRPr>
            </a:lvl4pPr>
            <a:lvl5pPr>
              <a:defRPr sz="2175" b="0">
                <a:solidFill>
                  <a:srgbClr val="66766D"/>
                </a:solidFill>
              </a:defRPr>
            </a:lvl5pPr>
            <a:lvl6pPr>
              <a:defRPr sz="2175" b="0">
                <a:solidFill>
                  <a:srgbClr val="66766D"/>
                </a:solidFill>
              </a:defRPr>
            </a:lvl6pPr>
            <a:lvl7pPr>
              <a:defRPr sz="2175" b="0">
                <a:solidFill>
                  <a:srgbClr val="66766D"/>
                </a:solidFill>
              </a:defRPr>
            </a:lvl7pPr>
            <a:lvl8pPr>
              <a:defRPr sz="2175" b="0">
                <a:solidFill>
                  <a:srgbClr val="66766D"/>
                </a:solidFill>
              </a:defRPr>
            </a:lvl8pPr>
            <a:lvl9pPr>
              <a:defRPr sz="2175" b="0">
                <a:solidFill>
                  <a:srgbClr val="66766D"/>
                </a:solidFill>
              </a:defRPr>
            </a:lvl9pPr>
          </a:lstStyle>
          <a:p xmlns:a="http://schemas.openxmlformats.org/drawingml/2006/main">
            <a:pPr>
              <a:defRPr sz="2175" b="0">
                <a:solidFill>
                  <a:srgbClr val="66766D"/>
                </a:solidFill>
              </a:defRPr>
            </a:pPr>
            <a:r>
              <a:rPr sz="2175" b="0">
                <a:solidFill>
                  <a:srgbClr val="66766D"/>
                </a:solidFill>
              </a:rPr>
              <a:t>Mixed waste, human checks</a:t>
            </a:r>
          </a:p>
          <a:p xmlns:a="http://schemas.openxmlformats.org/drawingml/2006/main">
            <a:pPr>
              <a:defRPr sz="2175" b="0">
                <a:solidFill>
                  <a:srgbClr val="66766D"/>
                </a:solidFill>
              </a:defRPr>
            </a:pPr>
            <a:r>
              <a:rPr sz="2175" b="0">
                <a:solidFill>
                  <a:srgbClr val="66766D"/>
                </a:solidFill>
              </a:rPr>
              <a:t>and proposed local processing hubs</a:t>
            </a:r>
          </a:p>
        </p:txBody>
      </p:sp>
      <p:pic>
        <p:nvPicPr>
          <p:cNvPr id="7" name="">
            <a:extLst xmlns:a="http://schemas.openxmlformats.org/drawingml/2006/main">
              <a:ext uri="{FF2B5EF4-FFF2-40B4-BE49-F238E27FC236}">
                <a16:creationId xmlns:a16="http://schemas.microsoft.com/office/drawing/2014/main" id="{16705167-AE47-412A-9D15-ABB3EF466851}"/>
              </a:ext>
            </a:extLst>
          </p:cNvPr>
          <p:cNvPicPr>
            <a:picLocks xmlns:a="http://schemas.openxmlformats.org/drawingml/2006/main" noChangeAspect="1"/>
          </p:cNvPicPr>
          <p:nvPr/>
        </p:nvPicPr>
        <p:blipFill>
          <a:blip xmlns:r="http://schemas.openxmlformats.org/officeDocument/2006/relationships" xmlns:a="http://schemas.openxmlformats.org/drawingml/2006/main" r:embed="R54fb258bdd034162"/>
          <a:stretch xmlns:a="http://schemas.openxmlformats.org/drawingml/2006/main"/>
        </p:blipFill>
        <p:spPr>
          <a:xfrm xmlns:a="http://schemas.openxmlformats.org/drawingml/2006/main">
            <a:off x="7667625" y="2190750"/>
            <a:ext cx="3429000" cy="3429000"/>
          </a:xfrm>
          <a:prstGeom xmlns:a="http://schemas.openxmlformats.org/drawingml/2006/main" prst="rect">
            <a:avLst/>
          </a:prstGeom>
        </p:spPr>
      </p:pic>
    </p:spTree>
    <p:extLst>
      <p:ext uri="{BB962C8B-B14F-4D97-AF65-F5344CB8AC3E}">
        <p14:creationId xmlns:p14="http://schemas.microsoft.com/office/powerpoint/2010/main" val="279643579"/>
      </p:ext>
    </p:extLst>
  </p:cSld>
</p:sld>
</file>

<file path=ppt/slides/slide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B86DF78-E0B2-4ED5-9492-58C250BA838D}"/>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Pain points</a:t>
            </a:r>
          </a:p>
        </p:txBody>
      </p:sp>
      <p:sp>
        <p:nvSpPr>
          <p:cNvPr id="3" name="">
            <a:extLst xmlns:a="http://schemas.openxmlformats.org/drawingml/2006/main">
              <a:ext uri="{FF2B5EF4-FFF2-40B4-BE49-F238E27FC236}">
                <a16:creationId xmlns:a16="http://schemas.microsoft.com/office/drawing/2014/main" id="{63574616-B61A-4460-98C9-B8F1DF0F1EC8}"/>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Identification alone does not arrange collection</a:t>
            </a:r>
          </a:p>
        </p:txBody>
      </p:sp>
      <p:sp>
        <p:nvSpPr>
          <p:cNvPr id="4" name="">
            <a:extLst xmlns:a="http://schemas.openxmlformats.org/drawingml/2006/main">
              <a:ext uri="{FF2B5EF4-FFF2-40B4-BE49-F238E27FC236}">
                <a16:creationId xmlns:a16="http://schemas.microsoft.com/office/drawing/2014/main" id="{00D73CE4-5BA6-49A8-B42A-CE61179394D9}"/>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02</a:t>
            </a:r>
          </a:p>
        </p:txBody>
      </p:sp>
      <p:sp>
        <p:nvSpPr>
          <p:cNvPr id="5" name="">
            <a:extLst xmlns:a="http://schemas.openxmlformats.org/drawingml/2006/main">
              <a:ext uri="{FF2B5EF4-FFF2-40B4-BE49-F238E27FC236}">
                <a16:creationId xmlns:a16="http://schemas.microsoft.com/office/drawing/2014/main" id="{E02B3E90-6F7B-4439-8D3F-9FCFE1A50DCC}"/>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Residents</a:t>
            </a:r>
          </a:p>
        </p:txBody>
      </p:sp>
      <p:sp>
        <p:nvSpPr>
          <p:cNvPr id="6" name="">
            <a:extLst xmlns:a="http://schemas.openxmlformats.org/drawingml/2006/main">
              <a:ext uri="{FF2B5EF4-FFF2-40B4-BE49-F238E27FC236}">
                <a16:creationId xmlns:a16="http://schemas.microsoft.com/office/drawing/2014/main" id="{6004FDD6-A9FB-4D51-830C-390F606FD745}"/>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Mixed packaging is confusing.</a:t>
            </a:r>
          </a:p>
          <a:p xmlns:a="http://schemas.openxmlformats.org/drawingml/2006/main">
            <a:pPr>
              <a:defRPr sz="1875" b="0">
                <a:solidFill>
                  <a:srgbClr val="66766D"/>
                </a:solidFill>
              </a:defRPr>
            </a:pPr>
            <a:r>
              <a:rPr sz="1875" b="0">
                <a:solidFill>
                  <a:srgbClr val="66766D"/>
                </a:solidFill>
              </a:rPr>
              <a:t>Booking takes too many steps.</a:t>
            </a:r>
          </a:p>
          <a:p xmlns:a="http://schemas.openxmlformats.org/drawingml/2006/main">
            <a:pPr>
              <a:defRPr sz="1875" b="0">
                <a:solidFill>
                  <a:srgbClr val="66766D"/>
                </a:solidFill>
              </a:defRPr>
            </a:pPr>
            <a:r>
              <a:rPr sz="1875" b="0">
                <a:solidFill>
                  <a:srgbClr val="66766D"/>
                </a:solidFill>
              </a:rPr>
              <a:t>Final weight and fees are unclear.</a:t>
            </a:r>
          </a:p>
        </p:txBody>
      </p:sp>
      <p:sp>
        <p:nvSpPr>
          <p:cNvPr id="7" name="">
            <a:extLst xmlns:a="http://schemas.openxmlformats.org/drawingml/2006/main">
              <a:ext uri="{FF2B5EF4-FFF2-40B4-BE49-F238E27FC236}">
                <a16:creationId xmlns:a16="http://schemas.microsoft.com/office/drawing/2014/main" id="{0D5051EE-AD14-40B3-A484-1BE2A9AE115A}"/>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Collection partners</a:t>
            </a:r>
          </a:p>
        </p:txBody>
      </p:sp>
      <p:sp>
        <p:nvSpPr>
          <p:cNvPr id="8" name="">
            <a:extLst xmlns:a="http://schemas.openxmlformats.org/drawingml/2006/main">
              <a:ext uri="{FF2B5EF4-FFF2-40B4-BE49-F238E27FC236}">
                <a16:creationId xmlns:a16="http://schemas.microsoft.com/office/drawing/2014/main" id="{F1AE7096-9B05-4E93-8AD2-F24687F94996}"/>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Jobs need organising.</a:t>
            </a:r>
          </a:p>
          <a:p xmlns:a="http://schemas.openxmlformats.org/drawingml/2006/main">
            <a:pPr>
              <a:defRPr sz="1875" b="0">
                <a:solidFill>
                  <a:srgbClr val="66766D"/>
                </a:solidFill>
              </a:defRPr>
            </a:pPr>
            <a:r>
              <a:rPr sz="1875" b="0">
                <a:solidFill>
                  <a:srgbClr val="66766D"/>
                </a:solidFill>
              </a:rPr>
              <a:t>Materials and weight need checking.</a:t>
            </a:r>
          </a:p>
          <a:p xmlns:a="http://schemas.openxmlformats.org/drawingml/2006/main">
            <a:pPr>
              <a:defRPr sz="1875" b="0">
                <a:solidFill>
                  <a:srgbClr val="66766D"/>
                </a:solidFill>
              </a:defRPr>
            </a:pPr>
            <a:r>
              <a:rPr sz="1875" b="0">
                <a:solidFill>
                  <a:srgbClr val="66766D"/>
                </a:solidFill>
              </a:rPr>
              <a:t>Earnings and dues need clear records.</a:t>
            </a:r>
          </a:p>
        </p:txBody>
      </p:sp>
    </p:spTree>
    <p:extLst>
      <p:ext uri="{BB962C8B-B14F-4D97-AF65-F5344CB8AC3E}">
        <p14:creationId xmlns:p14="http://schemas.microsoft.com/office/powerpoint/2010/main" val="1814337872"/>
      </p:ext>
    </p:extLst>
  </p:cSld>
</p:sld>
</file>

<file path=ppt/slides/slide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68EDF24-6581-4B57-8057-0AD7587F0C82}"/>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Our solution</a:t>
            </a:r>
          </a:p>
        </p:txBody>
      </p:sp>
      <p:sp>
        <p:nvSpPr>
          <p:cNvPr id="3" name="">
            <a:extLst xmlns:a="http://schemas.openxmlformats.org/drawingml/2006/main">
              <a:ext uri="{FF2B5EF4-FFF2-40B4-BE49-F238E27FC236}">
                <a16:creationId xmlns:a16="http://schemas.microsoft.com/office/drawing/2014/main" id="{DC5A447F-28CD-485E-BD79-D7E82DB9D7E1}"/>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One record connects the resident, helper and Operations</a:t>
            </a:r>
          </a:p>
        </p:txBody>
      </p:sp>
      <p:sp>
        <p:nvSpPr>
          <p:cNvPr id="4" name="">
            <a:extLst xmlns:a="http://schemas.openxmlformats.org/drawingml/2006/main">
              <a:ext uri="{FF2B5EF4-FFF2-40B4-BE49-F238E27FC236}">
                <a16:creationId xmlns:a16="http://schemas.microsoft.com/office/drawing/2014/main" id="{D8EB4EB1-3ECF-427E-B9A7-EDE18C8FA3FA}"/>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03</a:t>
            </a:r>
          </a:p>
        </p:txBody>
      </p:sp>
      <p:sp>
        <p:nvSpPr>
          <p:cNvPr id="5" name="">
            <a:extLst xmlns:a="http://schemas.openxmlformats.org/drawingml/2006/main">
              <a:ext uri="{FF2B5EF4-FFF2-40B4-BE49-F238E27FC236}">
                <a16:creationId xmlns:a16="http://schemas.microsoft.com/office/drawing/2014/main" id="{BD04E6F7-50E0-4C97-AABF-AAA641226FD0}"/>
              </a:ext>
            </a:extLst>
          </p:cNvPr>
          <p:cNvSpPr>
            <a:spLocks xmlns:a="http://schemas.openxmlformats.org/drawingml/2006/main" noGrp="1"/>
          </p:cNvSpPr>
          <p:nvPr/>
        </p:nvSpPr>
        <p:spPr>
          <a:xfrm xmlns:a="http://schemas.openxmlformats.org/drawingml/2006/main">
            <a:off x="628650" y="24765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Scan and confirm</a:t>
            </a:r>
          </a:p>
        </p:txBody>
      </p:sp>
      <p:sp>
        <p:nvSpPr>
          <p:cNvPr id="6" name="">
            <a:extLst xmlns:a="http://schemas.openxmlformats.org/drawingml/2006/main">
              <a:ext uri="{FF2B5EF4-FFF2-40B4-BE49-F238E27FC236}">
                <a16:creationId xmlns:a16="http://schemas.microsoft.com/office/drawing/2014/main" id="{35461759-01E0-4F4F-AB96-692994B7E610}"/>
              </a:ext>
            </a:extLst>
          </p:cNvPr>
          <p:cNvSpPr>
            <a:spLocks xmlns:a="http://schemas.openxmlformats.org/drawingml/2006/main" noGrp="1"/>
          </p:cNvSpPr>
          <p:nvPr/>
        </p:nvSpPr>
        <p:spPr>
          <a:xfrm xmlns:a="http://schemas.openxmlformats.org/drawingml/2006/main">
            <a:off x="3714750" y="24765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Phone camera or description. Correct or remove mistaken suggestions.</a:t>
            </a:r>
          </a:p>
        </p:txBody>
      </p:sp>
      <p:sp>
        <p:nvSpPr>
          <p:cNvPr id="7" name="">
            <a:extLst xmlns:a="http://schemas.openxmlformats.org/drawingml/2006/main">
              <a:ext uri="{FF2B5EF4-FFF2-40B4-BE49-F238E27FC236}">
                <a16:creationId xmlns:a16="http://schemas.microsoft.com/office/drawing/2014/main" id="{F83C1EE7-4DB6-4040-9F5F-0D969F2A2E72}"/>
              </a:ext>
            </a:extLst>
          </p:cNvPr>
          <p:cNvSpPr>
            <a:spLocks xmlns:a="http://schemas.openxmlformats.org/drawingml/2006/main" noGrp="1"/>
          </p:cNvSpPr>
          <p:nvPr/>
        </p:nvSpPr>
        <p:spPr>
          <a:xfrm xmlns:a="http://schemas.openxmlformats.org/drawingml/2006/main">
            <a:off x="628650" y="35052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Book and collect</a:t>
            </a:r>
          </a:p>
        </p:txBody>
      </p:sp>
      <p:sp>
        <p:nvSpPr>
          <p:cNvPr id="8" name="">
            <a:extLst xmlns:a="http://schemas.openxmlformats.org/drawingml/2006/main">
              <a:ext uri="{FF2B5EF4-FFF2-40B4-BE49-F238E27FC236}">
                <a16:creationId xmlns:a16="http://schemas.microsoft.com/office/drawing/2014/main" id="{F151C738-2A70-4863-B7DA-DEC76B75C96C}"/>
              </a:ext>
            </a:extLst>
          </p:cNvPr>
          <p:cNvSpPr>
            <a:spLocks xmlns:a="http://schemas.openxmlformats.org/drawingml/2006/main" noGrp="1"/>
          </p:cNvSpPr>
          <p:nvPr/>
        </p:nvSpPr>
        <p:spPr>
          <a:xfrm xmlns:a="http://schemas.openxmlformats.org/drawingml/2006/main">
            <a:off x="3714750" y="35052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Choose a pickup. The helper verifies material and records actual weight.</a:t>
            </a:r>
          </a:p>
        </p:txBody>
      </p:sp>
      <p:sp>
        <p:nvSpPr>
          <p:cNvPr id="9" name="">
            <a:extLst xmlns:a="http://schemas.openxmlformats.org/drawingml/2006/main">
              <a:ext uri="{FF2B5EF4-FFF2-40B4-BE49-F238E27FC236}">
                <a16:creationId xmlns:a16="http://schemas.microsoft.com/office/drawing/2014/main" id="{AFC7357A-030D-4AC0-9ECC-55F4479F6CBF}"/>
              </a:ext>
            </a:extLst>
          </p:cNvPr>
          <p:cNvSpPr>
            <a:spLocks xmlns:a="http://schemas.openxmlformats.org/drawingml/2006/main" noGrp="1"/>
          </p:cNvSpPr>
          <p:nvPr/>
        </p:nvSpPr>
        <p:spPr>
          <a:xfrm xmlns:a="http://schemas.openxmlformats.org/drawingml/2006/main">
            <a:off x="628650" y="45339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Review and repeat</a:t>
            </a:r>
          </a:p>
        </p:txBody>
      </p:sp>
      <p:sp>
        <p:nvSpPr>
          <p:cNvPr id="10" name="">
            <a:extLst xmlns:a="http://schemas.openxmlformats.org/drawingml/2006/main">
              <a:ext uri="{FF2B5EF4-FFF2-40B4-BE49-F238E27FC236}">
                <a16:creationId xmlns:a16="http://schemas.microsoft.com/office/drawing/2014/main" id="{056B11F8-758C-4EE5-AA99-AA66BFA05CA4}"/>
              </a:ext>
            </a:extLst>
          </p:cNvPr>
          <p:cNvSpPr>
            <a:spLocks xmlns:a="http://schemas.openxmlformats.org/drawingml/2006/main" noGrp="1"/>
          </p:cNvSpPr>
          <p:nvPr/>
        </p:nvSpPr>
        <p:spPr>
          <a:xfrm xmlns:a="http://schemas.openxmlformats.org/drawingml/2006/main">
            <a:off x="3714750" y="4533900"/>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Accept the receipt, resolve issues and earn scan-day pickup credits.</a:t>
            </a:r>
          </a:p>
        </p:txBody>
      </p:sp>
    </p:spTree>
    <p:extLst>
      <p:ext uri="{BB962C8B-B14F-4D97-AF65-F5344CB8AC3E}">
        <p14:creationId xmlns:p14="http://schemas.microsoft.com/office/powerpoint/2010/main" val="709893805"/>
      </p:ext>
    </p:extLst>
  </p:cSld>
</p:sld>
</file>

<file path=ppt/slides/slide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0C07B7-40CC-44E8-9921-B797A28C641F}"/>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The complete collection route</a:t>
            </a:r>
          </a:p>
        </p:txBody>
      </p:sp>
      <p:sp>
        <p:nvSpPr>
          <p:cNvPr id="3" name="">
            <a:extLst xmlns:a="http://schemas.openxmlformats.org/drawingml/2006/main">
              <a:ext uri="{FF2B5EF4-FFF2-40B4-BE49-F238E27FC236}">
                <a16:creationId xmlns:a16="http://schemas.microsoft.com/office/drawing/2014/main" id="{1A0ECD71-8D49-4036-B071-4C36CCFE98F1}"/>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Household → collection → proposed hub → suitable destination</a:t>
            </a:r>
          </a:p>
        </p:txBody>
      </p:sp>
      <p:sp>
        <p:nvSpPr>
          <p:cNvPr id="4" name="">
            <a:extLst xmlns:a="http://schemas.openxmlformats.org/drawingml/2006/main">
              <a:ext uri="{FF2B5EF4-FFF2-40B4-BE49-F238E27FC236}">
                <a16:creationId xmlns:a16="http://schemas.microsoft.com/office/drawing/2014/main" id="{BE0BA8F8-B47A-4276-997F-FDDF1ED6BD7D}"/>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04</a:t>
            </a:r>
          </a:p>
        </p:txBody>
      </p:sp>
      <p:sp>
        <p:nvSpPr>
          <p:cNvPr id="5" name="">
            <a:extLst xmlns:a="http://schemas.openxmlformats.org/drawingml/2006/main">
              <a:ext uri="{FF2B5EF4-FFF2-40B4-BE49-F238E27FC236}">
                <a16:creationId xmlns:a16="http://schemas.microsoft.com/office/drawing/2014/main" id="{C3C140AA-1191-414A-A32A-5181F9DB686A}"/>
              </a:ext>
            </a:extLst>
          </p:cNvPr>
          <p:cNvSpPr>
            <a:spLocks xmlns:a="http://schemas.openxmlformats.org/drawingml/2006/main" noGrp="1"/>
          </p:cNvSpPr>
          <p:nvPr/>
        </p:nvSpPr>
        <p:spPr>
          <a:xfrm xmlns:a="http://schemas.openxmlformats.org/drawingml/2006/main">
            <a:off x="628650" y="23336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Receive and segregate</a:t>
            </a:r>
          </a:p>
        </p:txBody>
      </p:sp>
      <p:sp>
        <p:nvSpPr>
          <p:cNvPr id="6" name="">
            <a:extLst xmlns:a="http://schemas.openxmlformats.org/drawingml/2006/main">
              <a:ext uri="{FF2B5EF4-FFF2-40B4-BE49-F238E27FC236}">
                <a16:creationId xmlns:a16="http://schemas.microsoft.com/office/drawing/2014/main" id="{B2818DBA-0660-4C43-A3A1-8D5E8EC3646D}"/>
              </a:ext>
            </a:extLst>
          </p:cNvPr>
          <p:cNvSpPr>
            <a:spLocks xmlns:a="http://schemas.openxmlformats.org/drawingml/2006/main" noGrp="1"/>
          </p:cNvSpPr>
          <p:nvPr/>
        </p:nvSpPr>
        <p:spPr>
          <a:xfrm xmlns:a="http://schemas.openxmlformats.org/drawingml/2006/main">
            <a:off x="3714750" y="23336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Accept segregated or mixed loads. Unsegregated service needs no home sorting.</a:t>
            </a:r>
          </a:p>
        </p:txBody>
      </p:sp>
      <p:sp>
        <p:nvSpPr>
          <p:cNvPr id="7" name="">
            <a:extLst xmlns:a="http://schemas.openxmlformats.org/drawingml/2006/main">
              <a:ext uri="{FF2B5EF4-FFF2-40B4-BE49-F238E27FC236}">
                <a16:creationId xmlns:a16="http://schemas.microsoft.com/office/drawing/2014/main" id="{44841427-F684-45D4-BF46-C9C7E11E9E94}"/>
              </a:ext>
            </a:extLst>
          </p:cNvPr>
          <p:cNvSpPr>
            <a:spLocks xmlns:a="http://schemas.openxmlformats.org/drawingml/2006/main" noGrp="1"/>
          </p:cNvSpPr>
          <p:nvPr/>
        </p:nvSpPr>
        <p:spPr>
          <a:xfrm xmlns:a="http://schemas.openxmlformats.org/drawingml/2006/main">
            <a:off x="628650" y="34004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Process suitable organics</a:t>
            </a:r>
          </a:p>
        </p:txBody>
      </p:sp>
      <p:sp>
        <p:nvSpPr>
          <p:cNvPr id="8" name="">
            <a:extLst xmlns:a="http://schemas.openxmlformats.org/drawingml/2006/main">
              <a:ext uri="{FF2B5EF4-FFF2-40B4-BE49-F238E27FC236}">
                <a16:creationId xmlns:a16="http://schemas.microsoft.com/office/drawing/2014/main" id="{8B9A58E3-9F36-49D6-9569-4283438C4ACD}"/>
              </a:ext>
            </a:extLst>
          </p:cNvPr>
          <p:cNvSpPr>
            <a:spLocks xmlns:a="http://schemas.openxmlformats.org/drawingml/2006/main" noGrp="1"/>
          </p:cNvSpPr>
          <p:nvPr/>
        </p:nvSpPr>
        <p:spPr>
          <a:xfrm xmlns:a="http://schemas.openxmlformats.org/drawingml/2006/main">
            <a:off x="3714750" y="34004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Plan hub composting where feasible, or hand over to a processing partner.</a:t>
            </a:r>
          </a:p>
        </p:txBody>
      </p:sp>
      <p:sp>
        <p:nvSpPr>
          <p:cNvPr id="9" name="">
            <a:extLst xmlns:a="http://schemas.openxmlformats.org/drawingml/2006/main">
              <a:ext uri="{FF2B5EF4-FFF2-40B4-BE49-F238E27FC236}">
                <a16:creationId xmlns:a16="http://schemas.microsoft.com/office/drawing/2014/main" id="{41E67D3F-03FB-46D1-A202-B89924022DB2}"/>
              </a:ext>
            </a:extLst>
          </p:cNvPr>
          <p:cNvSpPr>
            <a:spLocks xmlns:a="http://schemas.openxmlformats.org/drawingml/2006/main" noGrp="1"/>
          </p:cNvSpPr>
          <p:nvPr/>
        </p:nvSpPr>
        <p:spPr>
          <a:xfrm xmlns:a="http://schemas.openxmlformats.org/drawingml/2006/main">
            <a:off x="628650" y="44672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Route other materials</a:t>
            </a:r>
          </a:p>
        </p:txBody>
      </p:sp>
      <p:sp>
        <p:nvSpPr>
          <p:cNvPr id="10" name="">
            <a:extLst xmlns:a="http://schemas.openxmlformats.org/drawingml/2006/main">
              <a:ext uri="{FF2B5EF4-FFF2-40B4-BE49-F238E27FC236}">
                <a16:creationId xmlns:a16="http://schemas.microsoft.com/office/drawing/2014/main" id="{45926394-43C5-4B4D-B747-4EF5E7FF626A}"/>
              </a:ext>
            </a:extLst>
          </p:cNvPr>
          <p:cNvSpPr>
            <a:spLocks xmlns:a="http://schemas.openxmlformats.org/drawingml/2006/main" noGrp="1"/>
          </p:cNvSpPr>
          <p:nvPr/>
        </p:nvSpPr>
        <p:spPr>
          <a:xfrm xmlns:a="http://schemas.openxmlformats.org/drawingml/2006/main">
            <a:off x="3714750" y="44672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Send suitable recyclables for recovery; isolate rejected and specialist waste.</a:t>
            </a:r>
          </a:p>
        </p:txBody>
      </p:sp>
      <p:sp>
        <p:nvSpPr>
          <p:cNvPr id="11" name="">
            <a:extLst xmlns:a="http://schemas.openxmlformats.org/drawingml/2006/main">
              <a:ext uri="{FF2B5EF4-FFF2-40B4-BE49-F238E27FC236}">
                <a16:creationId xmlns:a16="http://schemas.microsoft.com/office/drawing/2014/main" id="{C1609300-CEDB-45FC-A9A2-3DD6BDD821A1}"/>
              </a:ext>
            </a:extLst>
          </p:cNvPr>
          <p:cNvSpPr>
            <a:spLocks xmlns:a="http://schemas.openxmlformats.org/drawingml/2006/main" noGrp="1"/>
          </p:cNvSpPr>
          <p:nvPr/>
        </p:nvSpPr>
        <p:spPr>
          <a:xfrm xmlns:a="http://schemas.openxmlformats.org/drawingml/2006/main">
            <a:off x="628650" y="58388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7770AA"/>
                </a:solidFill>
              </a:defRPr>
            </a:defPPr>
            <a:lvl1pPr>
              <a:defRPr sz="1500" b="1">
                <a:solidFill>
                  <a:srgbClr val="7770AA"/>
                </a:solidFill>
              </a:defRPr>
            </a:lvl1pPr>
            <a:lvl2pPr>
              <a:defRPr sz="1500" b="1">
                <a:solidFill>
                  <a:srgbClr val="7770AA"/>
                </a:solidFill>
              </a:defRPr>
            </a:lvl2pPr>
            <a:lvl3pPr>
              <a:defRPr sz="1500" b="1">
                <a:solidFill>
                  <a:srgbClr val="7770AA"/>
                </a:solidFill>
              </a:defRPr>
            </a:lvl3pPr>
            <a:lvl4pPr>
              <a:defRPr sz="1500" b="1">
                <a:solidFill>
                  <a:srgbClr val="7770AA"/>
                </a:solidFill>
              </a:defRPr>
            </a:lvl4pPr>
            <a:lvl5pPr>
              <a:defRPr sz="1500" b="1">
                <a:solidFill>
                  <a:srgbClr val="7770AA"/>
                </a:solidFill>
              </a:defRPr>
            </a:lvl5pPr>
            <a:lvl6pPr>
              <a:defRPr sz="1500" b="1">
                <a:solidFill>
                  <a:srgbClr val="7770AA"/>
                </a:solidFill>
              </a:defRPr>
            </a:lvl6pPr>
            <a:lvl7pPr>
              <a:defRPr sz="1500" b="1">
                <a:solidFill>
                  <a:srgbClr val="7770AA"/>
                </a:solidFill>
              </a:defRPr>
            </a:lvl7pPr>
            <a:lvl8pPr>
              <a:defRPr sz="1500" b="1">
                <a:solidFill>
                  <a:srgbClr val="7770AA"/>
                </a:solidFill>
              </a:defRPr>
            </a:lvl8pPr>
            <a:lvl9pPr>
              <a:defRPr sz="1500" b="1">
                <a:solidFill>
                  <a:srgbClr val="7770AA"/>
                </a:solidFill>
              </a:defRPr>
            </a:lvl9pPr>
          </a:lstStyle>
          <a:p xmlns:a="http://schemas.openxmlformats.org/drawingml/2006/main">
            <a:pPr>
              <a:defRPr sz="1500" b="1">
                <a:solidFill>
                  <a:srgbClr val="7770AA"/>
                </a:solidFill>
              </a:defRPr>
            </a:pPr>
            <a:r>
              <a:rPr sz="1500" b="1">
                <a:solidFill>
                  <a:srgbClr val="7770AA"/>
                </a:solidFill>
              </a:rPr>
              <a:t>Hub facilities and processing agreements are proposed; quality and capacity need validation.</a:t>
            </a:r>
          </a:p>
        </p:txBody>
      </p:sp>
    </p:spTree>
    <p:extLst>
      <p:ext uri="{BB962C8B-B14F-4D97-AF65-F5344CB8AC3E}">
        <p14:creationId xmlns:p14="http://schemas.microsoft.com/office/powerpoint/2010/main" val="1393592618"/>
      </p:ext>
    </p:extLst>
  </p:cSld>
</p:sld>
</file>

<file path=ppt/slides/slide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12C66E-E73C-417A-94FA-EC5413ADE979}"/>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Plans and measured charges</a:t>
            </a:r>
          </a:p>
        </p:txBody>
      </p:sp>
      <p:sp>
        <p:nvSpPr>
          <p:cNvPr id="3" name="">
            <a:extLst xmlns:a="http://schemas.openxmlformats.org/drawingml/2006/main">
              <a:ext uri="{FF2B5EF4-FFF2-40B4-BE49-F238E27FC236}">
                <a16:creationId xmlns:a16="http://schemas.microsoft.com/office/drawing/2014/main" id="{A2FD1F57-4FE4-4D6C-9EC3-35D9321E22E6}"/>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Monthly passes include segregation; Basic is pay per pickup</a:t>
            </a:r>
          </a:p>
        </p:txBody>
      </p:sp>
      <p:sp>
        <p:nvSpPr>
          <p:cNvPr id="4" name="">
            <a:extLst xmlns:a="http://schemas.openxmlformats.org/drawingml/2006/main">
              <a:ext uri="{FF2B5EF4-FFF2-40B4-BE49-F238E27FC236}">
                <a16:creationId xmlns:a16="http://schemas.microsoft.com/office/drawing/2014/main" id="{00054AA8-4A1A-4B66-8946-8A43D0A42752}"/>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05</a:t>
            </a:r>
          </a:p>
        </p:txBody>
      </p:sp>
      <p:graphicFrame>
        <p:nvGraphicFramePr>
          <p:cNvPr id="5" name="">
            <a:extLst xmlns:a="http://schemas.openxmlformats.org/drawingml/2006/main">
              <a:ext uri="{FF2B5EF4-FFF2-40B4-BE49-F238E27FC236}">
                <a16:creationId xmlns:a16="http://schemas.microsoft.com/office/drawing/2014/main" id="{1F531DA6-427C-4E56-9EA2-C97413917BA3}"/>
              </a:ext>
            </a:extLst>
          </p:cNvPr>
          <p:cNvGraphicFramePr/>
          <p:nvPr/>
        </p:nvGraphicFramePr>
        <p:xfrm>
          <a:off xmlns:a="http://schemas.openxmlformats.org/drawingml/2006/main" x="628650" y="2333625"/>
          <a:ext xmlns:a="http://schemas.openxmlformats.org/drawingml/2006/main" cx="10934700" cy="2190750"/>
        </p:xfrm>
        <a:graphic xmlns:a="http://schemas.openxmlformats.org/drawingml/2006/main">
          <a:graphicData uri="http://schemas.openxmlformats.org/drawingml/2006/table">
            <a:tbl>
              <a:tblPr/>
              <a:tblGrid>
                <a:gridCol w="2952750"/>
                <a:gridCol w="2571750"/>
                <a:gridCol w="2705100"/>
                <a:gridCol w="2705100"/>
              </a:tblGrid>
              <a:tr h="547688">
                <a:tc>
                  <a:txBody>
                    <a:bodyPr/>
                    <a:lstStyle/>
                    <a:p>
                      <a:r>
                        <a:rPr sz="1650" b="1">
                          <a:solidFill>
                            <a:srgbClr val="FFFFFF"/>
                          </a:solidFill>
                          <a:latin typeface="Arial"/>
                          <a:ea typeface="Arial"/>
                          <a:cs typeface="Arial"/>
                        </a:rPr>
                        <a:t/>
                      </a:r>
                    </a:p>
                  </a:txBody>
                  <a:tcPr marL="91440" marR="91440" marT="45720" marB="45720">
                    <a:solidFill>
                      <a:srgbClr val="173F30"/>
                    </a:solidFill>
                  </a:tcPr>
                </a:tc>
                <a:tc>
                  <a:txBody>
                    <a:bodyPr/>
                    <a:lstStyle/>
                    <a:p>
                      <a:r>
                        <a:rPr sz="1650" b="1">
                          <a:solidFill>
                            <a:srgbClr val="FFFFFF"/>
                          </a:solidFill>
                          <a:latin typeface="Arial"/>
                          <a:ea typeface="Arial"/>
                          <a:cs typeface="Arial"/>
                        </a:rPr>
                        <a:t>Basic</a:t>
                      </a:r>
                    </a:p>
                  </a:txBody>
                  <a:tcPr marL="91440" marR="91440" marT="45720" marB="45720">
                    <a:solidFill>
                      <a:srgbClr val="173F30"/>
                    </a:solidFill>
                  </a:tcPr>
                </a:tc>
                <a:tc>
                  <a:txBody>
                    <a:bodyPr/>
                    <a:lstStyle/>
                    <a:p>
                      <a:r>
                        <a:rPr sz="1650" b="1">
                          <a:solidFill>
                            <a:srgbClr val="FFFFFF"/>
                          </a:solidFill>
                          <a:latin typeface="Arial"/>
                          <a:ea typeface="Arial"/>
                          <a:cs typeface="Arial"/>
                        </a:rPr>
                        <a:t>Gold</a:t>
                      </a:r>
                    </a:p>
                  </a:txBody>
                  <a:tcPr marL="91440" marR="91440" marT="45720" marB="45720">
                    <a:solidFill>
                      <a:srgbClr val="173F30"/>
                    </a:solidFill>
                  </a:tcPr>
                </a:tc>
                <a:tc>
                  <a:txBody>
                    <a:bodyPr/>
                    <a:lstStyle/>
                    <a:p>
                      <a:r>
                        <a:rPr sz="1650" b="1">
                          <a:solidFill>
                            <a:srgbClr val="FFFFFF"/>
                          </a:solidFill>
                          <a:latin typeface="Arial"/>
                          <a:ea typeface="Arial"/>
                          <a:cs typeface="Arial"/>
                        </a:rPr>
                        <a:t>Platinum</a:t>
                      </a:r>
                    </a:p>
                  </a:txBody>
                  <a:tcPr marL="91440" marR="91440" marT="45720" marB="45720">
                    <a:solidFill>
                      <a:srgbClr val="173F30"/>
                    </a:solidFill>
                  </a:tcPr>
                </a:tc>
              </a:tr>
              <a:tr h="547688">
                <a:tc>
                  <a:txBody>
                    <a:bodyPr/>
                    <a:lstStyle/>
                    <a:p>
                      <a:r>
                        <a:rPr sz="1650" b="1">
                          <a:solidFill>
                            <a:srgbClr val="173F30"/>
                          </a:solidFill>
                          <a:latin typeface="Arial"/>
                          <a:ea typeface="Arial"/>
                          <a:cs typeface="Arial"/>
                        </a:rPr>
                        <a:t>Price</a:t>
                      </a:r>
                    </a:p>
                  </a:txBody>
                  <a:tcPr marL="91440" marR="91440" marT="45720" marB="45720">
                    <a:solidFill>
                      <a:srgbClr val="FFFFFF"/>
                    </a:solidFill>
                  </a:tcPr>
                </a:tc>
                <a:tc>
                  <a:txBody>
                    <a:bodyPr/>
                    <a:lstStyle/>
                    <a:p>
                      <a:r>
                        <a:rPr sz="1650" b="0">
                          <a:solidFill>
                            <a:srgbClr val="173F30"/>
                          </a:solidFill>
                          <a:latin typeface="Arial"/>
                          <a:ea typeface="Arial"/>
                          <a:cs typeface="Arial"/>
                        </a:rPr>
                        <a:t>₹10 / pickup</a:t>
                      </a:r>
                    </a:p>
                  </a:txBody>
                  <a:tcPr marL="91440" marR="91440" marT="45720" marB="45720">
                    <a:solidFill>
                      <a:srgbClr val="FFFFFF"/>
                    </a:solidFill>
                  </a:tcPr>
                </a:tc>
                <a:tc>
                  <a:txBody>
                    <a:bodyPr/>
                    <a:lstStyle/>
                    <a:p>
                      <a:r>
                        <a:rPr sz="1650" b="0">
                          <a:solidFill>
                            <a:srgbClr val="173F30"/>
                          </a:solidFill>
                          <a:latin typeface="Arial"/>
                          <a:ea typeface="Arial"/>
                          <a:cs typeface="Arial"/>
                        </a:rPr>
                        <a:t>₹399 / month</a:t>
                      </a:r>
                    </a:p>
                  </a:txBody>
                  <a:tcPr marL="91440" marR="91440" marT="45720" marB="45720">
                    <a:solidFill>
                      <a:srgbClr val="FFFFFF"/>
                    </a:solidFill>
                  </a:tcPr>
                </a:tc>
                <a:tc>
                  <a:txBody>
                    <a:bodyPr/>
                    <a:lstStyle/>
                    <a:p>
                      <a:r>
                        <a:rPr sz="1650" b="0">
                          <a:solidFill>
                            <a:srgbClr val="173F30"/>
                          </a:solidFill>
                          <a:latin typeface="Arial"/>
                          <a:ea typeface="Arial"/>
                          <a:cs typeface="Arial"/>
                        </a:rPr>
                        <a:t>₹469 / month</a:t>
                      </a:r>
                    </a:p>
                  </a:txBody>
                  <a:tcPr marL="91440" marR="91440" marT="45720" marB="45720">
                    <a:solidFill>
                      <a:srgbClr val="FFFFFF"/>
                    </a:solidFill>
                  </a:tcPr>
                </a:tc>
              </a:tr>
              <a:tr h="547688">
                <a:tc>
                  <a:txBody>
                    <a:bodyPr/>
                    <a:lstStyle/>
                    <a:p>
                      <a:r>
                        <a:rPr sz="1650" b="1">
                          <a:solidFill>
                            <a:srgbClr val="173F30"/>
                          </a:solidFill>
                          <a:latin typeface="Arial"/>
                          <a:ea typeface="Arial"/>
                          <a:cs typeface="Arial"/>
                        </a:rPr>
                        <a:t>Pickups</a:t>
                      </a:r>
                    </a:p>
                  </a:txBody>
                  <a:tcPr marL="91440" marR="91440" marT="45720" marB="45720">
                    <a:solidFill>
                      <a:srgbClr val="DFE9D5"/>
                    </a:solidFill>
                  </a:tcPr>
                </a:tc>
                <a:tc>
                  <a:txBody>
                    <a:bodyPr/>
                    <a:lstStyle/>
                    <a:p>
                      <a:r>
                        <a:rPr sz="1650" b="0">
                          <a:solidFill>
                            <a:srgbClr val="173F30"/>
                          </a:solidFill>
                          <a:latin typeface="Arial"/>
                          <a:ea typeface="Arial"/>
                          <a:cs typeface="Arial"/>
                        </a:rPr>
                        <a:t>1</a:t>
                      </a:r>
                    </a:p>
                  </a:txBody>
                  <a:tcPr marL="91440" marR="91440" marT="45720" marB="45720">
                    <a:solidFill>
                      <a:srgbClr val="DFE9D5"/>
                    </a:solidFill>
                  </a:tcPr>
                </a:tc>
                <a:tc>
                  <a:txBody>
                    <a:bodyPr/>
                    <a:lstStyle/>
                    <a:p>
                      <a:r>
                        <a:rPr sz="1650" b="0">
                          <a:solidFill>
                            <a:srgbClr val="173F30"/>
                          </a:solidFill>
                          <a:latin typeface="Arial"/>
                          <a:ea typeface="Arial"/>
                          <a:cs typeface="Arial"/>
                        </a:rPr>
                        <a:t>14 / month</a:t>
                      </a:r>
                    </a:p>
                  </a:txBody>
                  <a:tcPr marL="91440" marR="91440" marT="45720" marB="45720">
                    <a:solidFill>
                      <a:srgbClr val="DFE9D5"/>
                    </a:solidFill>
                  </a:tcPr>
                </a:tc>
                <a:tc>
                  <a:txBody>
                    <a:bodyPr/>
                    <a:lstStyle/>
                    <a:p>
                      <a:r>
                        <a:rPr sz="1650" b="0">
                          <a:solidFill>
                            <a:srgbClr val="173F30"/>
                          </a:solidFill>
                          <a:latin typeface="Arial"/>
                          <a:ea typeface="Arial"/>
                          <a:cs typeface="Arial"/>
                        </a:rPr>
                        <a:t>24 / month</a:t>
                      </a:r>
                    </a:p>
                  </a:txBody>
                  <a:tcPr marL="91440" marR="91440" marT="45720" marB="45720">
                    <a:solidFill>
                      <a:srgbClr val="DFE9D5"/>
                    </a:solidFill>
                  </a:tcPr>
                </a:tc>
              </a:tr>
              <a:tr h="547688">
                <a:tc>
                  <a:txBody>
                    <a:bodyPr/>
                    <a:lstStyle/>
                    <a:p>
                      <a:r>
                        <a:rPr sz="1650" b="1">
                          <a:solidFill>
                            <a:srgbClr val="173F30"/>
                          </a:solidFill>
                          <a:latin typeface="Arial"/>
                          <a:ea typeface="Arial"/>
                          <a:cs typeface="Arial"/>
                        </a:rPr>
                        <a:t>Included per pickup</a:t>
                      </a:r>
                    </a:p>
                  </a:txBody>
                  <a:tcPr marL="91440" marR="91440" marT="45720" marB="45720">
                    <a:solidFill>
                      <a:srgbClr val="FFFFFF"/>
                    </a:solidFill>
                  </a:tcPr>
                </a:tc>
                <a:tc>
                  <a:txBody>
                    <a:bodyPr/>
                    <a:lstStyle/>
                    <a:p>
                      <a:r>
                        <a:rPr sz="1650" b="0">
                          <a:solidFill>
                            <a:srgbClr val="173F30"/>
                          </a:solidFill>
                          <a:latin typeface="Arial"/>
                          <a:ea typeface="Arial"/>
                          <a:cs typeface="Arial"/>
                        </a:rPr>
                        <a:t>2 kg</a:t>
                      </a:r>
                    </a:p>
                  </a:txBody>
                  <a:tcPr marL="91440" marR="91440" marT="45720" marB="45720">
                    <a:solidFill>
                      <a:srgbClr val="FFFFFF"/>
                    </a:solidFill>
                  </a:tcPr>
                </a:tc>
                <a:tc>
                  <a:txBody>
                    <a:bodyPr/>
                    <a:lstStyle/>
                    <a:p>
                      <a:r>
                        <a:rPr sz="1650" b="0">
                          <a:solidFill>
                            <a:srgbClr val="173F30"/>
                          </a:solidFill>
                          <a:latin typeface="Arial"/>
                          <a:ea typeface="Arial"/>
                          <a:cs typeface="Arial"/>
                        </a:rPr>
                        <a:t>8 kg</a:t>
                      </a:r>
                    </a:p>
                  </a:txBody>
                  <a:tcPr marL="91440" marR="91440" marT="45720" marB="45720">
                    <a:solidFill>
                      <a:srgbClr val="FFFFFF"/>
                    </a:solidFill>
                  </a:tcPr>
                </a:tc>
                <a:tc>
                  <a:txBody>
                    <a:bodyPr/>
                    <a:lstStyle/>
                    <a:p>
                      <a:r>
                        <a:rPr sz="1650" b="0">
                          <a:solidFill>
                            <a:srgbClr val="173F30"/>
                          </a:solidFill>
                          <a:latin typeface="Arial"/>
                          <a:ea typeface="Arial"/>
                          <a:cs typeface="Arial"/>
                        </a:rPr>
                        <a:t>10 kg</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FDB7C8A-DC67-4282-98DA-4A1D45837280}"/>
              </a:ext>
            </a:extLst>
          </p:cNvPr>
          <p:cNvSpPr>
            <a:spLocks xmlns:a="http://schemas.openxmlformats.org/drawingml/2006/main" noGrp="1"/>
          </p:cNvSpPr>
          <p:nvPr/>
        </p:nvSpPr>
        <p:spPr>
          <a:xfrm xmlns:a="http://schemas.openxmlformats.org/drawingml/2006/main">
            <a:off x="628650" y="48291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770AA"/>
                </a:solidFill>
              </a:defRPr>
            </a:defPPr>
            <a:lvl1pPr>
              <a:defRPr sz="2175" b="1">
                <a:solidFill>
                  <a:srgbClr val="7770AA"/>
                </a:solidFill>
              </a:defRPr>
            </a:lvl1pPr>
            <a:lvl2pPr>
              <a:defRPr sz="2175" b="1">
                <a:solidFill>
                  <a:srgbClr val="7770AA"/>
                </a:solidFill>
              </a:defRPr>
            </a:lvl2pPr>
            <a:lvl3pPr>
              <a:defRPr sz="2175" b="1">
                <a:solidFill>
                  <a:srgbClr val="7770AA"/>
                </a:solidFill>
              </a:defRPr>
            </a:lvl3pPr>
            <a:lvl4pPr>
              <a:defRPr sz="2175" b="1">
                <a:solidFill>
                  <a:srgbClr val="7770AA"/>
                </a:solidFill>
              </a:defRPr>
            </a:lvl4pPr>
            <a:lvl5pPr>
              <a:defRPr sz="2175" b="1">
                <a:solidFill>
                  <a:srgbClr val="7770AA"/>
                </a:solidFill>
              </a:defRPr>
            </a:lvl5pPr>
            <a:lvl6pPr>
              <a:defRPr sz="2175" b="1">
                <a:solidFill>
                  <a:srgbClr val="7770AA"/>
                </a:solidFill>
              </a:defRPr>
            </a:lvl6pPr>
            <a:lvl7pPr>
              <a:defRPr sz="2175" b="1">
                <a:solidFill>
                  <a:srgbClr val="7770AA"/>
                </a:solidFill>
              </a:defRPr>
            </a:lvl7pPr>
            <a:lvl8pPr>
              <a:defRPr sz="2175" b="1">
                <a:solidFill>
                  <a:srgbClr val="7770AA"/>
                </a:solidFill>
              </a:defRPr>
            </a:lvl8pPr>
            <a:lvl9pPr>
              <a:defRPr sz="2175" b="1">
                <a:solidFill>
                  <a:srgbClr val="7770AA"/>
                </a:solidFill>
              </a:defRPr>
            </a:lvl9pPr>
          </a:lstStyle>
          <a:p xmlns:a="http://schemas.openxmlformats.org/drawingml/2006/main">
            <a:pPr>
              <a:defRPr sz="2175" b="1">
                <a:solidFill>
                  <a:srgbClr val="7770AA"/>
                </a:solidFill>
              </a:defRPr>
            </a:pPr>
            <a:r>
              <a:rPr sz="2175" b="1">
                <a:solidFill>
                  <a:srgbClr val="7770AA"/>
                </a:solidFill>
              </a:rPr>
              <a:t>Extra weight: ₹3/kg above the included allowance</a:t>
            </a:r>
          </a:p>
        </p:txBody>
      </p:sp>
      <p:sp>
        <p:nvSpPr>
          <p:cNvPr id="7" name="">
            <a:extLst xmlns:a="http://schemas.openxmlformats.org/drawingml/2006/main">
              <a:ext uri="{FF2B5EF4-FFF2-40B4-BE49-F238E27FC236}">
                <a16:creationId xmlns:a16="http://schemas.microsoft.com/office/drawing/2014/main" id="{3690705D-7562-4A0C-821F-CDBE1788702C}"/>
              </a:ext>
            </a:extLst>
          </p:cNvPr>
          <p:cNvSpPr>
            <a:spLocks xmlns:a="http://schemas.openxmlformats.org/drawingml/2006/main" noGrp="1"/>
          </p:cNvSpPr>
          <p:nvPr/>
        </p:nvSpPr>
        <p:spPr>
          <a:xfrm xmlns:a="http://schemas.openxmlformats.org/drawingml/2006/main">
            <a:off x="628650" y="55054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66D"/>
                </a:solidFill>
              </a:defRPr>
            </a:defPPr>
            <a:lvl1pPr>
              <a:defRPr sz="1725" b="0">
                <a:solidFill>
                  <a:srgbClr val="66766D"/>
                </a:solidFill>
              </a:defRPr>
            </a:lvl1pPr>
            <a:lvl2pPr>
              <a:defRPr sz="1725" b="0">
                <a:solidFill>
                  <a:srgbClr val="66766D"/>
                </a:solidFill>
              </a:defRPr>
            </a:lvl2pPr>
            <a:lvl3pPr>
              <a:defRPr sz="1725" b="0">
                <a:solidFill>
                  <a:srgbClr val="66766D"/>
                </a:solidFill>
              </a:defRPr>
            </a:lvl3pPr>
            <a:lvl4pPr>
              <a:defRPr sz="1725" b="0">
                <a:solidFill>
                  <a:srgbClr val="66766D"/>
                </a:solidFill>
              </a:defRPr>
            </a:lvl4pPr>
            <a:lvl5pPr>
              <a:defRPr sz="1725" b="0">
                <a:solidFill>
                  <a:srgbClr val="66766D"/>
                </a:solidFill>
              </a:defRPr>
            </a:lvl5pPr>
            <a:lvl6pPr>
              <a:defRPr sz="1725" b="0">
                <a:solidFill>
                  <a:srgbClr val="66766D"/>
                </a:solidFill>
              </a:defRPr>
            </a:lvl6pPr>
            <a:lvl7pPr>
              <a:defRPr sz="1725" b="0">
                <a:solidFill>
                  <a:srgbClr val="66766D"/>
                </a:solidFill>
              </a:defRPr>
            </a:lvl7pPr>
            <a:lvl8pPr>
              <a:defRPr sz="1725" b="0">
                <a:solidFill>
                  <a:srgbClr val="66766D"/>
                </a:solidFill>
              </a:defRPr>
            </a:lvl8pPr>
            <a:lvl9pPr>
              <a:defRPr sz="1725" b="0">
                <a:solidFill>
                  <a:srgbClr val="66766D"/>
                </a:solidFill>
              </a:defRPr>
            </a:lvl9pPr>
          </a:lstStyle>
          <a:p xmlns:a="http://schemas.openxmlformats.org/drawingml/2006/main">
            <a:pPr>
              <a:defRPr sz="1725" b="0">
                <a:solidFill>
                  <a:srgbClr val="66766D"/>
                </a:solidFill>
              </a:defRPr>
            </a:pPr>
            <a:r>
              <a:rPr sz="1725" b="0">
                <a:solidFill>
                  <a:srgbClr val="66766D"/>
                </a:solidFill>
              </a:rPr>
              <a:t>Basic/reward mixed sorting: ₹5/kg. Evening fees: ₹5–₹7.</a:t>
            </a:r>
          </a:p>
          <a:p xmlns:a="http://schemas.openxmlformats.org/drawingml/2006/main">
            <a:pPr>
              <a:defRPr sz="1725" b="0">
                <a:solidFill>
                  <a:srgbClr val="66766D"/>
                </a:solidFill>
              </a:defRPr>
            </a:pPr>
            <a:r>
              <a:rPr sz="1725" b="0">
                <a:solidFill>
                  <a:srgbClr val="66766D"/>
                </a:solidFill>
              </a:rPr>
              <a:t>Helper weighs; resident reviews the measured receipt.</a:t>
            </a:r>
          </a:p>
        </p:txBody>
      </p:sp>
    </p:spTree>
    <p:extLst>
      <p:ext uri="{BB962C8B-B14F-4D97-AF65-F5344CB8AC3E}">
        <p14:creationId xmlns:p14="http://schemas.microsoft.com/office/powerpoint/2010/main" val="1879828241"/>
      </p:ext>
    </p:extLst>
  </p:cSld>
</p:sld>
</file>

<file path=ppt/slides/slide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F30C07-2611-42F6-B181-2B448FFF3336}"/>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AI assistance, human verification</a:t>
            </a:r>
          </a:p>
        </p:txBody>
      </p:sp>
      <p:sp>
        <p:nvSpPr>
          <p:cNvPr id="3" name="">
            <a:extLst xmlns:a="http://schemas.openxmlformats.org/drawingml/2006/main">
              <a:ext uri="{FF2B5EF4-FFF2-40B4-BE49-F238E27FC236}">
                <a16:creationId xmlns:a16="http://schemas.microsoft.com/office/drawing/2014/main" id="{922AA3E0-5219-4ACC-A7C7-7C6B1B522075}"/>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The app and trained research model have distinct roles</a:t>
            </a:r>
          </a:p>
        </p:txBody>
      </p:sp>
      <p:sp>
        <p:nvSpPr>
          <p:cNvPr id="4" name="">
            <a:extLst xmlns:a="http://schemas.openxmlformats.org/drawingml/2006/main">
              <a:ext uri="{FF2B5EF4-FFF2-40B4-BE49-F238E27FC236}">
                <a16:creationId xmlns:a16="http://schemas.microsoft.com/office/drawing/2014/main" id="{7D72AE84-DCC2-4D0A-BF63-A35B53594F6A}"/>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06</a:t>
            </a:r>
          </a:p>
        </p:txBody>
      </p:sp>
      <p:sp>
        <p:nvSpPr>
          <p:cNvPr id="5" name="">
            <a:extLst xmlns:a="http://schemas.openxmlformats.org/drawingml/2006/main">
              <a:ext uri="{FF2B5EF4-FFF2-40B4-BE49-F238E27FC236}">
                <a16:creationId xmlns:a16="http://schemas.microsoft.com/office/drawing/2014/main" id="{896A1F04-523C-4B21-8EFC-F90C795476BE}"/>
              </a:ext>
            </a:extLst>
          </p:cNvPr>
          <p:cNvSpPr>
            <a:spLocks xmlns:a="http://schemas.openxmlformats.org/drawingml/2006/main" noGrp="1"/>
          </p:cNvSpPr>
          <p:nvPr/>
        </p:nvSpPr>
        <p:spPr>
          <a:xfrm xmlns:a="http://schemas.openxmlformats.org/drawingml/2006/main">
            <a:off x="62865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Main app</a:t>
            </a:r>
          </a:p>
        </p:txBody>
      </p:sp>
      <p:sp>
        <p:nvSpPr>
          <p:cNvPr id="6" name="">
            <a:extLst xmlns:a="http://schemas.openxmlformats.org/drawingml/2006/main">
              <a:ext uri="{FF2B5EF4-FFF2-40B4-BE49-F238E27FC236}">
                <a16:creationId xmlns:a16="http://schemas.microsoft.com/office/drawing/2014/main" id="{EDF0BEA9-6C83-4BB8-933B-316F40600B67}"/>
              </a:ext>
            </a:extLst>
          </p:cNvPr>
          <p:cNvSpPr>
            <a:spLocks xmlns:a="http://schemas.openxmlformats.org/drawingml/2006/main" noGrp="1"/>
          </p:cNvSpPr>
          <p:nvPr/>
        </p:nvSpPr>
        <p:spPr>
          <a:xfrm xmlns:a="http://schemas.openxmlformats.org/drawingml/2006/main">
            <a:off x="62865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Image understanding + packaging OCR</a:t>
            </a:r>
          </a:p>
          <a:p xmlns:a="http://schemas.openxmlformats.org/drawingml/2006/main">
            <a:pPr>
              <a:defRPr sz="1875" b="0">
                <a:solidFill>
                  <a:srgbClr val="66766D"/>
                </a:solidFill>
              </a:defRPr>
            </a:pPr>
            <a:r>
              <a:rPr sz="1875" b="0">
                <a:solidFill>
                  <a:srgbClr val="66766D"/>
                </a:solidFill>
              </a:rPr>
              <a:t>Resident corrects the suggestions</a:t>
            </a:r>
          </a:p>
          <a:p xmlns:a="http://schemas.openxmlformats.org/drawingml/2006/main">
            <a:pPr>
              <a:defRPr sz="1875" b="0">
                <a:solidFill>
                  <a:srgbClr val="66766D"/>
                </a:solidFill>
              </a:defRPr>
            </a:pPr>
            <a:r>
              <a:rPr sz="1875" b="0">
                <a:solidFill>
                  <a:srgbClr val="66766D"/>
                </a:solidFill>
              </a:rPr>
              <a:t>Helper checks material and weight</a:t>
            </a:r>
          </a:p>
        </p:txBody>
      </p:sp>
      <p:sp>
        <p:nvSpPr>
          <p:cNvPr id="7" name="">
            <a:extLst xmlns:a="http://schemas.openxmlformats.org/drawingml/2006/main">
              <a:ext uri="{FF2B5EF4-FFF2-40B4-BE49-F238E27FC236}">
                <a16:creationId xmlns:a16="http://schemas.microsoft.com/office/drawing/2014/main" id="{6D50AD71-7413-4876-BC49-7A7DC2651126}"/>
              </a:ext>
            </a:extLst>
          </p:cNvPr>
          <p:cNvSpPr>
            <a:spLocks xmlns:a="http://schemas.openxmlformats.org/drawingml/2006/main" noGrp="1"/>
          </p:cNvSpPr>
          <p:nvPr/>
        </p:nvSpPr>
        <p:spPr>
          <a:xfrm xmlns:a="http://schemas.openxmlformats.org/drawingml/2006/main">
            <a:off x="6248400" y="25717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0"/>
                </a:solidFill>
              </a:defRPr>
            </a:defPPr>
            <a:lvl1pPr>
              <a:defRPr sz="2250" b="1">
                <a:solidFill>
                  <a:srgbClr val="173F30"/>
                </a:solidFill>
              </a:defRPr>
            </a:lvl1pPr>
            <a:lvl2pPr>
              <a:defRPr sz="2250" b="1">
                <a:solidFill>
                  <a:srgbClr val="173F30"/>
                </a:solidFill>
              </a:defRPr>
            </a:lvl2pPr>
            <a:lvl3pPr>
              <a:defRPr sz="2250" b="1">
                <a:solidFill>
                  <a:srgbClr val="173F30"/>
                </a:solidFill>
              </a:defRPr>
            </a:lvl3pPr>
            <a:lvl4pPr>
              <a:defRPr sz="2250" b="1">
                <a:solidFill>
                  <a:srgbClr val="173F30"/>
                </a:solidFill>
              </a:defRPr>
            </a:lvl4pPr>
            <a:lvl5pPr>
              <a:defRPr sz="2250" b="1">
                <a:solidFill>
                  <a:srgbClr val="173F30"/>
                </a:solidFill>
              </a:defRPr>
            </a:lvl5pPr>
            <a:lvl6pPr>
              <a:defRPr sz="2250" b="1">
                <a:solidFill>
                  <a:srgbClr val="173F30"/>
                </a:solidFill>
              </a:defRPr>
            </a:lvl6pPr>
            <a:lvl7pPr>
              <a:defRPr sz="2250" b="1">
                <a:solidFill>
                  <a:srgbClr val="173F30"/>
                </a:solidFill>
              </a:defRPr>
            </a:lvl7pPr>
            <a:lvl8pPr>
              <a:defRPr sz="2250" b="1">
                <a:solidFill>
                  <a:srgbClr val="173F30"/>
                </a:solidFill>
              </a:defRPr>
            </a:lvl8pPr>
            <a:lvl9pPr>
              <a:defRPr sz="2250" b="1">
                <a:solidFill>
                  <a:srgbClr val="173F30"/>
                </a:solidFill>
              </a:defRPr>
            </a:lvl9pPr>
          </a:lstStyle>
          <a:p xmlns:a="http://schemas.openxmlformats.org/drawingml/2006/main">
            <a:pPr>
              <a:defRPr sz="2250" b="1">
                <a:solidFill>
                  <a:srgbClr val="173F30"/>
                </a:solidFill>
              </a:defRPr>
            </a:pPr>
            <a:r>
              <a:rPr sz="2250" b="1">
                <a:solidFill>
                  <a:srgbClr val="173F30"/>
                </a:solidFill>
              </a:rPr>
              <a:t>Research model</a:t>
            </a:r>
          </a:p>
        </p:txBody>
      </p:sp>
      <p:sp>
        <p:nvSpPr>
          <p:cNvPr id="8" name="">
            <a:extLst xmlns:a="http://schemas.openxmlformats.org/drawingml/2006/main">
              <a:ext uri="{FF2B5EF4-FFF2-40B4-BE49-F238E27FC236}">
                <a16:creationId xmlns:a16="http://schemas.microsoft.com/office/drawing/2014/main" id="{273D5FD4-5E83-44D4-9225-677C9E1ECC50}"/>
              </a:ext>
            </a:extLst>
          </p:cNvPr>
          <p:cNvSpPr>
            <a:spLocks xmlns:a="http://schemas.openxmlformats.org/drawingml/2006/main" noGrp="1"/>
          </p:cNvSpPr>
          <p:nvPr/>
        </p:nvSpPr>
        <p:spPr>
          <a:xfrm xmlns:a="http://schemas.openxmlformats.org/drawingml/2006/main">
            <a:off x="6248400" y="3295650"/>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450 labelled images</a:t>
            </a:r>
          </a:p>
          <a:p xmlns:a="http://schemas.openxmlformats.org/drawingml/2006/main">
            <a:pPr>
              <a:defRPr sz="1875" b="0">
                <a:solidFill>
                  <a:srgbClr val="66766D"/>
                </a:solidFill>
              </a:defRPr>
            </a:pPr>
            <a:r>
              <a:rPr sz="1875" b="0">
                <a:solidFill>
                  <a:srgbClr val="66766D"/>
                </a:solidFill>
              </a:rPr>
              <a:t>67 held-out test images</a:t>
            </a:r>
          </a:p>
          <a:p xmlns:a="http://schemas.openxmlformats.org/drawingml/2006/main">
            <a:pPr>
              <a:defRPr sz="1875" b="0">
                <a:solidFill>
                  <a:srgbClr val="66766D"/>
                </a:solidFill>
              </a:defRPr>
            </a:pPr>
            <a:r>
              <a:rPr sz="1875" b="0">
                <a:solidFill>
                  <a:srgbClr val="66766D"/>
                </a:solidFill>
              </a:rPr>
              <a:t>66.13% foreground mean IoU</a:t>
            </a:r>
          </a:p>
        </p:txBody>
      </p:sp>
      <p:sp>
        <p:nvSpPr>
          <p:cNvPr id="9" name="">
            <a:extLst xmlns:a="http://schemas.openxmlformats.org/drawingml/2006/main">
              <a:ext uri="{FF2B5EF4-FFF2-40B4-BE49-F238E27FC236}">
                <a16:creationId xmlns:a16="http://schemas.microsoft.com/office/drawing/2014/main" id="{BA4A49F6-A0AE-4FA9-B568-DB27F4BF0A40}"/>
              </a:ext>
            </a:extLst>
          </p:cNvPr>
          <p:cNvSpPr>
            <a:spLocks xmlns:a="http://schemas.openxmlformats.org/drawingml/2006/main" noGrp="1"/>
          </p:cNvSpPr>
          <p:nvPr/>
        </p:nvSpPr>
        <p:spPr>
          <a:xfrm xmlns:a="http://schemas.openxmlformats.org/drawingml/2006/main">
            <a:off x="62865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7770AA"/>
                </a:solidFill>
              </a:defRPr>
            </a:defPPr>
            <a:lvl1pPr>
              <a:defRPr sz="1575" b="1">
                <a:solidFill>
                  <a:srgbClr val="7770AA"/>
                </a:solidFill>
              </a:defRPr>
            </a:lvl1pPr>
            <a:lvl2pPr>
              <a:defRPr sz="1575" b="1">
                <a:solidFill>
                  <a:srgbClr val="7770AA"/>
                </a:solidFill>
              </a:defRPr>
            </a:lvl2pPr>
            <a:lvl3pPr>
              <a:defRPr sz="1575" b="1">
                <a:solidFill>
                  <a:srgbClr val="7770AA"/>
                </a:solidFill>
              </a:defRPr>
            </a:lvl3pPr>
            <a:lvl4pPr>
              <a:defRPr sz="1575" b="1">
                <a:solidFill>
                  <a:srgbClr val="7770AA"/>
                </a:solidFill>
              </a:defRPr>
            </a:lvl4pPr>
            <a:lvl5pPr>
              <a:defRPr sz="1575" b="1">
                <a:solidFill>
                  <a:srgbClr val="7770AA"/>
                </a:solidFill>
              </a:defRPr>
            </a:lvl5pPr>
            <a:lvl6pPr>
              <a:defRPr sz="1575" b="1">
                <a:solidFill>
                  <a:srgbClr val="7770AA"/>
                </a:solidFill>
              </a:defRPr>
            </a:lvl6pPr>
            <a:lvl7pPr>
              <a:defRPr sz="1575" b="1">
                <a:solidFill>
                  <a:srgbClr val="7770AA"/>
                </a:solidFill>
              </a:defRPr>
            </a:lvl7pPr>
            <a:lvl8pPr>
              <a:defRPr sz="1575" b="1">
                <a:solidFill>
                  <a:srgbClr val="7770AA"/>
                </a:solidFill>
              </a:defRPr>
            </a:lvl8pPr>
            <a:lvl9pPr>
              <a:defRPr sz="1575" b="1">
                <a:solidFill>
                  <a:srgbClr val="7770AA"/>
                </a:solidFill>
              </a:defRPr>
            </a:lvl9pPr>
          </a:lstStyle>
          <a:p xmlns:a="http://schemas.openxmlformats.org/drawingml/2006/main">
            <a:pPr>
              <a:defRPr sz="1575" b="1">
                <a:solidFill>
                  <a:srgbClr val="7770AA"/>
                </a:solidFill>
              </a:defRPr>
            </a:pPr>
            <a:r>
              <a:rPr sz="1575" b="1">
                <a:solidFill>
                  <a:srgbClr val="7770AA"/>
                </a:solidFill>
              </a:rPr>
              <a:t>IoU is region overlap, not item accuracy. One-household data; phone validation remains.</a:t>
            </a:r>
          </a:p>
        </p:txBody>
      </p:sp>
    </p:spTree>
    <p:extLst>
      <p:ext uri="{BB962C8B-B14F-4D97-AF65-F5344CB8AC3E}">
        <p14:creationId xmlns:p14="http://schemas.microsoft.com/office/powerpoint/2010/main" val="1493821683"/>
      </p:ext>
    </p:extLst>
  </p:cSld>
</p:sld>
</file>

<file path=ppt/slides/slide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0BEB23-38FA-48FF-9428-54EAE985FC0D}"/>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F30"/>
                </a:solidFill>
              </a:defRPr>
            </a:defPPr>
            <a:lvl1pPr>
              <a:defRPr sz="3450" b="1">
                <a:solidFill>
                  <a:srgbClr val="173F30"/>
                </a:solidFill>
              </a:defRPr>
            </a:lvl1pPr>
            <a:lvl2pPr>
              <a:defRPr sz="3450" b="1">
                <a:solidFill>
                  <a:srgbClr val="173F30"/>
                </a:solidFill>
              </a:defRPr>
            </a:lvl2pPr>
            <a:lvl3pPr>
              <a:defRPr sz="3450" b="1">
                <a:solidFill>
                  <a:srgbClr val="173F30"/>
                </a:solidFill>
              </a:defRPr>
            </a:lvl3pPr>
            <a:lvl4pPr>
              <a:defRPr sz="3450" b="1">
                <a:solidFill>
                  <a:srgbClr val="173F30"/>
                </a:solidFill>
              </a:defRPr>
            </a:lvl4pPr>
            <a:lvl5pPr>
              <a:defRPr sz="3450" b="1">
                <a:solidFill>
                  <a:srgbClr val="173F30"/>
                </a:solidFill>
              </a:defRPr>
            </a:lvl5pPr>
            <a:lvl6pPr>
              <a:defRPr sz="3450" b="1">
                <a:solidFill>
                  <a:srgbClr val="173F30"/>
                </a:solidFill>
              </a:defRPr>
            </a:lvl6pPr>
            <a:lvl7pPr>
              <a:defRPr sz="3450" b="1">
                <a:solidFill>
                  <a:srgbClr val="173F30"/>
                </a:solidFill>
              </a:defRPr>
            </a:lvl7pPr>
            <a:lvl8pPr>
              <a:defRPr sz="3450" b="1">
                <a:solidFill>
                  <a:srgbClr val="173F30"/>
                </a:solidFill>
              </a:defRPr>
            </a:lvl8pPr>
            <a:lvl9pPr>
              <a:defRPr sz="3450" b="1">
                <a:solidFill>
                  <a:srgbClr val="173F30"/>
                </a:solidFill>
              </a:defRPr>
            </a:lvl9pPr>
          </a:lstStyle>
          <a:p xmlns:a="http://schemas.openxmlformats.org/drawingml/2006/main">
            <a:pPr>
              <a:defRPr sz="3450" b="1">
                <a:solidFill>
                  <a:srgbClr val="173F30"/>
                </a:solidFill>
              </a:defRPr>
            </a:pPr>
            <a:r>
              <a:rPr sz="3450" b="1">
                <a:solidFill>
                  <a:srgbClr val="173F30"/>
                </a:solidFill>
              </a:rPr>
              <a:t>Sustainability and scale</a:t>
            </a:r>
          </a:p>
        </p:txBody>
      </p:sp>
      <p:sp>
        <p:nvSpPr>
          <p:cNvPr id="3" name="">
            <a:extLst xmlns:a="http://schemas.openxmlformats.org/drawingml/2006/main">
              <a:ext uri="{FF2B5EF4-FFF2-40B4-BE49-F238E27FC236}">
                <a16:creationId xmlns:a16="http://schemas.microsoft.com/office/drawing/2014/main" id="{4DEBDAE5-871D-4FED-A462-4394F5744359}"/>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66D"/>
                </a:solidFill>
              </a:defRPr>
            </a:defPPr>
            <a:lvl1pPr>
              <a:defRPr sz="1800" b="0">
                <a:solidFill>
                  <a:srgbClr val="66766D"/>
                </a:solidFill>
              </a:defRPr>
            </a:lvl1pPr>
            <a:lvl2pPr>
              <a:defRPr sz="1800" b="0">
                <a:solidFill>
                  <a:srgbClr val="66766D"/>
                </a:solidFill>
              </a:defRPr>
            </a:lvl2pPr>
            <a:lvl3pPr>
              <a:defRPr sz="1800" b="0">
                <a:solidFill>
                  <a:srgbClr val="66766D"/>
                </a:solidFill>
              </a:defRPr>
            </a:lvl3pPr>
            <a:lvl4pPr>
              <a:defRPr sz="1800" b="0">
                <a:solidFill>
                  <a:srgbClr val="66766D"/>
                </a:solidFill>
              </a:defRPr>
            </a:lvl4pPr>
            <a:lvl5pPr>
              <a:defRPr sz="1800" b="0">
                <a:solidFill>
                  <a:srgbClr val="66766D"/>
                </a:solidFill>
              </a:defRPr>
            </a:lvl5pPr>
            <a:lvl6pPr>
              <a:defRPr sz="1800" b="0">
                <a:solidFill>
                  <a:srgbClr val="66766D"/>
                </a:solidFill>
              </a:defRPr>
            </a:lvl6pPr>
            <a:lvl7pPr>
              <a:defRPr sz="1800" b="0">
                <a:solidFill>
                  <a:srgbClr val="66766D"/>
                </a:solidFill>
              </a:defRPr>
            </a:lvl7pPr>
            <a:lvl8pPr>
              <a:defRPr sz="1800" b="0">
                <a:solidFill>
                  <a:srgbClr val="66766D"/>
                </a:solidFill>
              </a:defRPr>
            </a:lvl8pPr>
            <a:lvl9pPr>
              <a:defRPr sz="1800" b="0">
                <a:solidFill>
                  <a:srgbClr val="66766D"/>
                </a:solidFill>
              </a:defRPr>
            </a:lvl9pPr>
          </a:lstStyle>
          <a:p xmlns:a="http://schemas.openxmlformats.org/drawingml/2006/main">
            <a:pPr>
              <a:defRPr sz="1800" b="0">
                <a:solidFill>
                  <a:srgbClr val="66766D"/>
                </a:solidFill>
              </a:defRPr>
            </a:pPr>
            <a:r>
              <a:rPr sz="1800" b="0">
                <a:solidFill>
                  <a:srgbClr val="66766D"/>
                </a:solidFill>
              </a:rPr>
              <a:t>Measure recovery, then repeat a working locality model</a:t>
            </a:r>
          </a:p>
        </p:txBody>
      </p:sp>
      <p:sp>
        <p:nvSpPr>
          <p:cNvPr id="4" name="">
            <a:extLst xmlns:a="http://schemas.openxmlformats.org/drawingml/2006/main">
              <a:ext uri="{FF2B5EF4-FFF2-40B4-BE49-F238E27FC236}">
                <a16:creationId xmlns:a16="http://schemas.microsoft.com/office/drawing/2014/main" id="{C8A52DED-2FCC-4811-AB98-9B2B50E9C7BE}"/>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66D"/>
                </a:solidFill>
              </a:defRPr>
            </a:defPPr>
            <a:lvl1pPr>
              <a:defRPr sz="900" b="0">
                <a:solidFill>
                  <a:srgbClr val="66766D"/>
                </a:solidFill>
              </a:defRPr>
            </a:lvl1pPr>
            <a:lvl2pPr>
              <a:defRPr sz="900" b="0">
                <a:solidFill>
                  <a:srgbClr val="66766D"/>
                </a:solidFill>
              </a:defRPr>
            </a:lvl2pPr>
            <a:lvl3pPr>
              <a:defRPr sz="900" b="0">
                <a:solidFill>
                  <a:srgbClr val="66766D"/>
                </a:solidFill>
              </a:defRPr>
            </a:lvl3pPr>
            <a:lvl4pPr>
              <a:defRPr sz="900" b="0">
                <a:solidFill>
                  <a:srgbClr val="66766D"/>
                </a:solidFill>
              </a:defRPr>
            </a:lvl4pPr>
            <a:lvl5pPr>
              <a:defRPr sz="900" b="0">
                <a:solidFill>
                  <a:srgbClr val="66766D"/>
                </a:solidFill>
              </a:defRPr>
            </a:lvl5pPr>
            <a:lvl6pPr>
              <a:defRPr sz="900" b="0">
                <a:solidFill>
                  <a:srgbClr val="66766D"/>
                </a:solidFill>
              </a:defRPr>
            </a:lvl6pPr>
            <a:lvl7pPr>
              <a:defRPr sz="900" b="0">
                <a:solidFill>
                  <a:srgbClr val="66766D"/>
                </a:solidFill>
              </a:defRPr>
            </a:lvl7pPr>
            <a:lvl8pPr>
              <a:defRPr sz="900" b="0">
                <a:solidFill>
                  <a:srgbClr val="66766D"/>
                </a:solidFill>
              </a:defRPr>
            </a:lvl8pPr>
            <a:lvl9pPr>
              <a:defRPr sz="900" b="0">
                <a:solidFill>
                  <a:srgbClr val="66766D"/>
                </a:solidFill>
              </a:defRPr>
            </a:lvl9pPr>
          </a:lstStyle>
          <a:p xmlns:a="http://schemas.openxmlformats.org/drawingml/2006/main">
            <a:pPr>
              <a:defRPr sz="900" b="0">
                <a:solidFill>
                  <a:srgbClr val="66766D"/>
                </a:solidFill>
              </a:defRPr>
            </a:pPr>
            <a:r>
              <a:rPr sz="900" b="0">
                <a:solidFill>
                  <a:srgbClr val="66766D"/>
                </a:solidFill>
              </a:rPr>
              <a:t>Waste Right     07</a:t>
            </a:r>
          </a:p>
        </p:txBody>
      </p:sp>
      <p:sp>
        <p:nvSpPr>
          <p:cNvPr id="5" name="">
            <a:extLst xmlns:a="http://schemas.openxmlformats.org/drawingml/2006/main">
              <a:ext uri="{FF2B5EF4-FFF2-40B4-BE49-F238E27FC236}">
                <a16:creationId xmlns:a16="http://schemas.microsoft.com/office/drawing/2014/main" id="{306480DA-8A7D-4E15-BF85-BBE9A57612D9}"/>
              </a:ext>
            </a:extLst>
          </p:cNvPr>
          <p:cNvSpPr>
            <a:spLocks xmlns:a="http://schemas.openxmlformats.org/drawingml/2006/main" noGrp="1"/>
          </p:cNvSpPr>
          <p:nvPr/>
        </p:nvSpPr>
        <p:spPr>
          <a:xfrm xmlns:a="http://schemas.openxmlformats.org/drawingml/2006/main">
            <a:off x="628650" y="23336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Quality and impact</a:t>
            </a:r>
          </a:p>
        </p:txBody>
      </p:sp>
      <p:sp>
        <p:nvSpPr>
          <p:cNvPr id="6" name="">
            <a:extLst xmlns:a="http://schemas.openxmlformats.org/drawingml/2006/main">
              <a:ext uri="{FF2B5EF4-FFF2-40B4-BE49-F238E27FC236}">
                <a16:creationId xmlns:a16="http://schemas.microsoft.com/office/drawing/2014/main" id="{E8632887-0C6C-4ADF-8E68-8F3A86807305}"/>
              </a:ext>
            </a:extLst>
          </p:cNvPr>
          <p:cNvSpPr>
            <a:spLocks xmlns:a="http://schemas.openxmlformats.org/drawingml/2006/main" noGrp="1"/>
          </p:cNvSpPr>
          <p:nvPr/>
        </p:nvSpPr>
        <p:spPr>
          <a:xfrm xmlns:a="http://schemas.openxmlformats.org/drawingml/2006/main">
            <a:off x="3714750" y="23336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Prompt hub sorting, controlled composting and records of accepted and rejected kg.</a:t>
            </a:r>
          </a:p>
        </p:txBody>
      </p:sp>
      <p:sp>
        <p:nvSpPr>
          <p:cNvPr id="7" name="">
            <a:extLst xmlns:a="http://schemas.openxmlformats.org/drawingml/2006/main">
              <a:ext uri="{FF2B5EF4-FFF2-40B4-BE49-F238E27FC236}">
                <a16:creationId xmlns:a16="http://schemas.microsoft.com/office/drawing/2014/main" id="{2AA237E7-C744-4AB4-B60E-D719563219E5}"/>
              </a:ext>
            </a:extLst>
          </p:cNvPr>
          <p:cNvSpPr>
            <a:spLocks xmlns:a="http://schemas.openxmlformats.org/drawingml/2006/main" noGrp="1"/>
          </p:cNvSpPr>
          <p:nvPr/>
        </p:nvSpPr>
        <p:spPr>
          <a:xfrm xmlns:a="http://schemas.openxmlformats.org/drawingml/2006/main">
            <a:off x="628650" y="34004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Local expansion</a:t>
            </a:r>
          </a:p>
        </p:txBody>
      </p:sp>
      <p:sp>
        <p:nvSpPr>
          <p:cNvPr id="8" name="">
            <a:extLst xmlns:a="http://schemas.openxmlformats.org/drawingml/2006/main">
              <a:ext uri="{FF2B5EF4-FFF2-40B4-BE49-F238E27FC236}">
                <a16:creationId xmlns:a16="http://schemas.microsoft.com/office/drawing/2014/main" id="{6862FA63-23F3-464E-9D66-76215EAEF86B}"/>
              </a:ext>
            </a:extLst>
          </p:cNvPr>
          <p:cNvSpPr>
            <a:spLocks xmlns:a="http://schemas.openxmlformats.org/drawingml/2006/main" noGrp="1"/>
          </p:cNvSpPr>
          <p:nvPr/>
        </p:nvSpPr>
        <p:spPr>
          <a:xfrm xmlns:a="http://schemas.openxmlformats.org/drawingml/2006/main">
            <a:off x="3714750" y="34004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Dense routes, sufficient hub capacity, clear helper pay and measured operating costs.</a:t>
            </a:r>
          </a:p>
        </p:txBody>
      </p:sp>
      <p:sp>
        <p:nvSpPr>
          <p:cNvPr id="9" name="">
            <a:extLst xmlns:a="http://schemas.openxmlformats.org/drawingml/2006/main">
              <a:ext uri="{FF2B5EF4-FFF2-40B4-BE49-F238E27FC236}">
                <a16:creationId xmlns:a16="http://schemas.microsoft.com/office/drawing/2014/main" id="{AC775807-66D4-402B-A7BD-BECE3D1509F8}"/>
              </a:ext>
            </a:extLst>
          </p:cNvPr>
          <p:cNvSpPr>
            <a:spLocks xmlns:a="http://schemas.openxmlformats.org/drawingml/2006/main" noGrp="1"/>
          </p:cNvSpPr>
          <p:nvPr/>
        </p:nvSpPr>
        <p:spPr>
          <a:xfrm xmlns:a="http://schemas.openxmlformats.org/drawingml/2006/main">
            <a:off x="628650" y="44672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0"/>
                </a:solidFill>
              </a:defRPr>
            </a:defPPr>
            <a:lvl1pPr>
              <a:defRPr sz="2100" b="1">
                <a:solidFill>
                  <a:srgbClr val="173F30"/>
                </a:solidFill>
              </a:defRPr>
            </a:lvl1pPr>
            <a:lvl2pPr>
              <a:defRPr sz="2100" b="1">
                <a:solidFill>
                  <a:srgbClr val="173F30"/>
                </a:solidFill>
              </a:defRPr>
            </a:lvl2pPr>
            <a:lvl3pPr>
              <a:defRPr sz="2100" b="1">
                <a:solidFill>
                  <a:srgbClr val="173F30"/>
                </a:solidFill>
              </a:defRPr>
            </a:lvl3pPr>
            <a:lvl4pPr>
              <a:defRPr sz="2100" b="1">
                <a:solidFill>
                  <a:srgbClr val="173F30"/>
                </a:solidFill>
              </a:defRPr>
            </a:lvl4pPr>
            <a:lvl5pPr>
              <a:defRPr sz="2100" b="1">
                <a:solidFill>
                  <a:srgbClr val="173F30"/>
                </a:solidFill>
              </a:defRPr>
            </a:lvl5pPr>
            <a:lvl6pPr>
              <a:defRPr sz="2100" b="1">
                <a:solidFill>
                  <a:srgbClr val="173F30"/>
                </a:solidFill>
              </a:defRPr>
            </a:lvl6pPr>
            <a:lvl7pPr>
              <a:defRPr sz="2100" b="1">
                <a:solidFill>
                  <a:srgbClr val="173F30"/>
                </a:solidFill>
              </a:defRPr>
            </a:lvl7pPr>
            <a:lvl8pPr>
              <a:defRPr sz="2100" b="1">
                <a:solidFill>
                  <a:srgbClr val="173F30"/>
                </a:solidFill>
              </a:defRPr>
            </a:lvl8pPr>
            <a:lvl9pPr>
              <a:defRPr sz="2100" b="1">
                <a:solidFill>
                  <a:srgbClr val="173F30"/>
                </a:solidFill>
              </a:defRPr>
            </a:lvl9pPr>
          </a:lstStyle>
          <a:p xmlns:a="http://schemas.openxmlformats.org/drawingml/2006/main">
            <a:pPr>
              <a:defRPr sz="2100" b="1">
                <a:solidFill>
                  <a:srgbClr val="173F30"/>
                </a:solidFill>
              </a:defRPr>
            </a:pPr>
            <a:r>
              <a:rPr sz="2100" b="1">
                <a:solidFill>
                  <a:srgbClr val="173F30"/>
                </a:solidFill>
              </a:rPr>
              <a:t>Public programmes</a:t>
            </a:r>
          </a:p>
        </p:txBody>
      </p:sp>
      <p:sp>
        <p:nvSpPr>
          <p:cNvPr id="10" name="">
            <a:extLst xmlns:a="http://schemas.openxmlformats.org/drawingml/2006/main">
              <a:ext uri="{FF2B5EF4-FFF2-40B4-BE49-F238E27FC236}">
                <a16:creationId xmlns:a16="http://schemas.microsoft.com/office/drawing/2014/main" id="{08675520-0D3C-42AC-BE6E-F9AA2B0829A8}"/>
              </a:ext>
            </a:extLst>
          </p:cNvPr>
          <p:cNvSpPr>
            <a:spLocks xmlns:a="http://schemas.openxmlformats.org/drawingml/2006/main" noGrp="1"/>
          </p:cNvSpPr>
          <p:nvPr/>
        </p:nvSpPr>
        <p:spPr>
          <a:xfrm xmlns:a="http://schemas.openxmlformats.org/drawingml/2006/main">
            <a:off x="3714750" y="4467225"/>
            <a:ext cx="757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66D"/>
                </a:solidFill>
              </a:defRPr>
            </a:defPPr>
            <a:lvl1pPr>
              <a:defRPr sz="1875" b="0">
                <a:solidFill>
                  <a:srgbClr val="66766D"/>
                </a:solidFill>
              </a:defRPr>
            </a:lvl1pPr>
            <a:lvl2pPr>
              <a:defRPr sz="1875" b="0">
                <a:solidFill>
                  <a:srgbClr val="66766D"/>
                </a:solidFill>
              </a:defRPr>
            </a:lvl2pPr>
            <a:lvl3pPr>
              <a:defRPr sz="1875" b="0">
                <a:solidFill>
                  <a:srgbClr val="66766D"/>
                </a:solidFill>
              </a:defRPr>
            </a:lvl3pPr>
            <a:lvl4pPr>
              <a:defRPr sz="1875" b="0">
                <a:solidFill>
                  <a:srgbClr val="66766D"/>
                </a:solidFill>
              </a:defRPr>
            </a:lvl4pPr>
            <a:lvl5pPr>
              <a:defRPr sz="1875" b="0">
                <a:solidFill>
                  <a:srgbClr val="66766D"/>
                </a:solidFill>
              </a:defRPr>
            </a:lvl5pPr>
            <a:lvl6pPr>
              <a:defRPr sz="1875" b="0">
                <a:solidFill>
                  <a:srgbClr val="66766D"/>
                </a:solidFill>
              </a:defRPr>
            </a:lvl6pPr>
            <a:lvl7pPr>
              <a:defRPr sz="1875" b="0">
                <a:solidFill>
                  <a:srgbClr val="66766D"/>
                </a:solidFill>
              </a:defRPr>
            </a:lvl7pPr>
            <a:lvl8pPr>
              <a:defRPr sz="1875" b="0">
                <a:solidFill>
                  <a:srgbClr val="66766D"/>
                </a:solidFill>
              </a:defRPr>
            </a:lvl8pPr>
            <a:lvl9pPr>
              <a:defRPr sz="1875" b="0">
                <a:solidFill>
                  <a:srgbClr val="66766D"/>
                </a:solidFill>
              </a:defRPr>
            </a:lvl9pPr>
          </a:lstStyle>
          <a:p xmlns:a="http://schemas.openxmlformats.org/drawingml/2006/main">
            <a:pPr>
              <a:defRPr sz="1875" b="0">
                <a:solidFill>
                  <a:srgbClr val="66766D"/>
                </a:solidFill>
              </a:defRPr>
            </a:pPr>
            <a:r>
              <a:rPr sz="1875" b="0">
                <a:solidFill>
                  <a:srgbClr val="66766D"/>
                </a:solidFill>
              </a:rPr>
              <a:t>Explore GOBARdhan processing partnerships and eligible NAMASTE support.</a:t>
            </a:r>
          </a:p>
        </p:txBody>
      </p:sp>
      <p:sp>
        <p:nvSpPr>
          <p:cNvPr id="11" name="">
            <a:extLst xmlns:a="http://schemas.openxmlformats.org/drawingml/2006/main">
              <a:ext uri="{FF2B5EF4-FFF2-40B4-BE49-F238E27FC236}">
                <a16:creationId xmlns:a16="http://schemas.microsoft.com/office/drawing/2014/main" id="{53C229DA-156B-4177-98C9-18ED541EA4AE}"/>
              </a:ext>
            </a:extLst>
          </p:cNvPr>
          <p:cNvSpPr>
            <a:spLocks xmlns:a="http://schemas.openxmlformats.org/drawingml/2006/main" noGrp="1"/>
          </p:cNvSpPr>
          <p:nvPr/>
        </p:nvSpPr>
        <p:spPr>
          <a:xfrm xmlns:a="http://schemas.openxmlformats.org/drawingml/2006/main">
            <a:off x="628650" y="5857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7770AA"/>
                </a:solidFill>
              </a:defRPr>
            </a:defPPr>
            <a:lvl1pPr>
              <a:defRPr sz="1575" b="1">
                <a:solidFill>
                  <a:srgbClr val="7770AA"/>
                </a:solidFill>
              </a:defRPr>
            </a:lvl1pPr>
            <a:lvl2pPr>
              <a:defRPr sz="1575" b="1">
                <a:solidFill>
                  <a:srgbClr val="7770AA"/>
                </a:solidFill>
              </a:defRPr>
            </a:lvl2pPr>
            <a:lvl3pPr>
              <a:defRPr sz="1575" b="1">
                <a:solidFill>
                  <a:srgbClr val="7770AA"/>
                </a:solidFill>
              </a:defRPr>
            </a:lvl3pPr>
            <a:lvl4pPr>
              <a:defRPr sz="1575" b="1">
                <a:solidFill>
                  <a:srgbClr val="7770AA"/>
                </a:solidFill>
              </a:defRPr>
            </a:lvl4pPr>
            <a:lvl5pPr>
              <a:defRPr sz="1575" b="1">
                <a:solidFill>
                  <a:srgbClr val="7770AA"/>
                </a:solidFill>
              </a:defRPr>
            </a:lvl5pPr>
            <a:lvl6pPr>
              <a:defRPr sz="1575" b="1">
                <a:solidFill>
                  <a:srgbClr val="7770AA"/>
                </a:solidFill>
              </a:defRPr>
            </a:lvl6pPr>
            <a:lvl7pPr>
              <a:defRPr sz="1575" b="1">
                <a:solidFill>
                  <a:srgbClr val="7770AA"/>
                </a:solidFill>
              </a:defRPr>
            </a:lvl7pPr>
            <a:lvl8pPr>
              <a:defRPr sz="1575" b="1">
                <a:solidFill>
                  <a:srgbClr val="7770AA"/>
                </a:solidFill>
              </a:defRPr>
            </a:lvl8pPr>
            <a:lvl9pPr>
              <a:defRPr sz="1575" b="1">
                <a:solidFill>
                  <a:srgbClr val="7770AA"/>
                </a:solidFill>
              </a:defRPr>
            </a:lvl9pPr>
          </a:lstStyle>
          <a:p xmlns:a="http://schemas.openxmlformats.org/drawingml/2006/main">
            <a:pPr>
              <a:defRPr sz="1575" b="1">
                <a:solidFill>
                  <a:srgbClr val="7770AA"/>
                </a:solidFill>
              </a:defRPr>
            </a:pPr>
            <a:r>
              <a:rPr sz="1575" b="1">
                <a:solidFill>
                  <a:srgbClr val="7770AA"/>
                </a:solidFill>
              </a:rPr>
              <a:t>Proposed partnerships. No government award or quantified carbon saving is claimed.</a:t>
            </a:r>
          </a:p>
        </p:txBody>
      </p:sp>
    </p:spTree>
    <p:extLst>
      <p:ext uri="{BB962C8B-B14F-4D97-AF65-F5344CB8AC3E}">
        <p14:creationId xmlns:p14="http://schemas.microsoft.com/office/powerpoint/2010/main" val="527139180"/>
      </p:ext>
    </p:extLst>
  </p:cSld>
</p:sld>
</file>

<file path=ppt/slides/slide8.xml><?xml version="1.0" encoding="utf-8"?>
<p:sld xmlns:p="http://schemas.openxmlformats.org/presentationml/2006/main">
  <p:cSld>
    <p:bg>
      <p:bgPr>
        <a:solidFill xmlns:a="http://schemas.openxmlformats.org/drawingml/2006/main">
          <a:srgbClr val="173F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4352E1-AF42-4B40-9D0F-E95A534C6831}"/>
              </a:ext>
            </a:extLst>
          </p:cNvPr>
          <p:cNvSpPr>
            <a:spLocks xmlns:a="http://schemas.openxmlformats.org/drawingml/2006/main" noGrp="1"/>
          </p:cNvSpPr>
          <p:nvPr/>
        </p:nvSpPr>
        <p:spPr>
          <a:xfrm xmlns:a="http://schemas.openxmlformats.org/drawingml/2006/main">
            <a:off x="609600" y="5143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defRPr>
            </a:defPPr>
            <a:lvl1pPr>
              <a:defRPr sz="3450" b="1">
                <a:solidFill>
                  <a:srgbClr val="FFFFFF"/>
                </a:solidFill>
              </a:defRPr>
            </a:lvl1pPr>
            <a:lvl2pPr>
              <a:defRPr sz="3450" b="1">
                <a:solidFill>
                  <a:srgbClr val="FFFFFF"/>
                </a:solidFill>
              </a:defRPr>
            </a:lvl2pPr>
            <a:lvl3pPr>
              <a:defRPr sz="3450" b="1">
                <a:solidFill>
                  <a:srgbClr val="FFFFFF"/>
                </a:solidFill>
              </a:defRPr>
            </a:lvl3pPr>
            <a:lvl4pPr>
              <a:defRPr sz="3450" b="1">
                <a:solidFill>
                  <a:srgbClr val="FFFFFF"/>
                </a:solidFill>
              </a:defRPr>
            </a:lvl4pPr>
            <a:lvl5pPr>
              <a:defRPr sz="3450" b="1">
                <a:solidFill>
                  <a:srgbClr val="FFFFFF"/>
                </a:solidFill>
              </a:defRPr>
            </a:lvl5pPr>
            <a:lvl6pPr>
              <a:defRPr sz="3450" b="1">
                <a:solidFill>
                  <a:srgbClr val="FFFFFF"/>
                </a:solidFill>
              </a:defRPr>
            </a:lvl6pPr>
            <a:lvl7pPr>
              <a:defRPr sz="3450" b="1">
                <a:solidFill>
                  <a:srgbClr val="FFFFFF"/>
                </a:solidFill>
              </a:defRPr>
            </a:lvl7pPr>
            <a:lvl8pPr>
              <a:defRPr sz="3450" b="1">
                <a:solidFill>
                  <a:srgbClr val="FFFFFF"/>
                </a:solidFill>
              </a:defRPr>
            </a:lvl8pPr>
            <a:lvl9pPr>
              <a:defRPr sz="3450" b="1">
                <a:solidFill>
                  <a:srgbClr val="FFFFFF"/>
                </a:solidFill>
              </a:defRPr>
            </a:lvl9pPr>
          </a:lstStyle>
          <a:p xmlns:a="http://schemas.openxmlformats.org/drawingml/2006/main">
            <a:pPr>
              <a:defRPr sz="3450" b="1">
                <a:solidFill>
                  <a:srgbClr val="FFFFFF"/>
                </a:solidFill>
              </a:defRPr>
            </a:pPr>
            <a:r>
              <a:rPr sz="3450" b="1">
                <a:solidFill>
                  <a:srgbClr val="FFFFFF"/>
                </a:solidFill>
              </a:rPr>
              <a:t>Next: prove the locality economics</a:t>
            </a:r>
          </a:p>
        </p:txBody>
      </p:sp>
      <p:sp>
        <p:nvSpPr>
          <p:cNvPr id="3" name="">
            <a:extLst xmlns:a="http://schemas.openxmlformats.org/drawingml/2006/main">
              <a:ext uri="{FF2B5EF4-FFF2-40B4-BE49-F238E27FC236}">
                <a16:creationId xmlns:a16="http://schemas.microsoft.com/office/drawing/2014/main" id="{1EF73A67-3BF8-404C-B87C-A5D1757B1320}"/>
              </a:ext>
            </a:extLst>
          </p:cNvPr>
          <p:cNvSpPr>
            <a:spLocks xmlns:a="http://schemas.openxmlformats.org/drawingml/2006/main" noGrp="1"/>
          </p:cNvSpPr>
          <p:nvPr/>
        </p:nvSpPr>
        <p:spPr>
          <a:xfrm xmlns:a="http://schemas.openxmlformats.org/drawingml/2006/main">
            <a:off x="628650" y="1562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7E3D5"/>
                </a:solidFill>
              </a:defRPr>
            </a:defPPr>
            <a:lvl1pPr>
              <a:defRPr sz="1800" b="0">
                <a:solidFill>
                  <a:srgbClr val="D7E3D5"/>
                </a:solidFill>
              </a:defRPr>
            </a:lvl1pPr>
            <a:lvl2pPr>
              <a:defRPr sz="1800" b="0">
                <a:solidFill>
                  <a:srgbClr val="D7E3D5"/>
                </a:solidFill>
              </a:defRPr>
            </a:lvl2pPr>
            <a:lvl3pPr>
              <a:defRPr sz="1800" b="0">
                <a:solidFill>
                  <a:srgbClr val="D7E3D5"/>
                </a:solidFill>
              </a:defRPr>
            </a:lvl3pPr>
            <a:lvl4pPr>
              <a:defRPr sz="1800" b="0">
                <a:solidFill>
                  <a:srgbClr val="D7E3D5"/>
                </a:solidFill>
              </a:defRPr>
            </a:lvl4pPr>
            <a:lvl5pPr>
              <a:defRPr sz="1800" b="0">
                <a:solidFill>
                  <a:srgbClr val="D7E3D5"/>
                </a:solidFill>
              </a:defRPr>
            </a:lvl5pPr>
            <a:lvl6pPr>
              <a:defRPr sz="1800" b="0">
                <a:solidFill>
                  <a:srgbClr val="D7E3D5"/>
                </a:solidFill>
              </a:defRPr>
            </a:lvl6pPr>
            <a:lvl7pPr>
              <a:defRPr sz="1800" b="0">
                <a:solidFill>
                  <a:srgbClr val="D7E3D5"/>
                </a:solidFill>
              </a:defRPr>
            </a:lvl7pPr>
            <a:lvl8pPr>
              <a:defRPr sz="1800" b="0">
                <a:solidFill>
                  <a:srgbClr val="D7E3D5"/>
                </a:solidFill>
              </a:defRPr>
            </a:lvl8pPr>
            <a:lvl9pPr>
              <a:defRPr sz="1800" b="0">
                <a:solidFill>
                  <a:srgbClr val="D7E3D5"/>
                </a:solidFill>
              </a:defRPr>
            </a:lvl9pPr>
          </a:lstStyle>
          <a:p xmlns:a="http://schemas.openxmlformats.org/drawingml/2006/main">
            <a:pPr>
              <a:defRPr sz="1800" b="0">
                <a:solidFill>
                  <a:srgbClr val="D7E3D5"/>
                </a:solidFill>
              </a:defRPr>
            </a:pPr>
            <a:r>
              <a:rPr sz="1800" b="0">
                <a:solidFill>
                  <a:srgbClr val="D7E3D5"/>
                </a:solidFill>
              </a:rPr>
              <a:t>A four-week pilot with 50 households and two helpers</a:t>
            </a:r>
          </a:p>
        </p:txBody>
      </p:sp>
      <p:sp>
        <p:nvSpPr>
          <p:cNvPr id="4" name="">
            <a:extLst xmlns:a="http://schemas.openxmlformats.org/drawingml/2006/main">
              <a:ext uri="{FF2B5EF4-FFF2-40B4-BE49-F238E27FC236}">
                <a16:creationId xmlns:a16="http://schemas.microsoft.com/office/drawing/2014/main" id="{BFF660D8-E850-4FCB-BD7D-95BD9E3D67B4}"/>
              </a:ext>
            </a:extLst>
          </p:cNvPr>
          <p:cNvSpPr>
            <a:spLocks xmlns:a="http://schemas.openxmlformats.org/drawingml/2006/main" noGrp="1"/>
          </p:cNvSpPr>
          <p:nvPr/>
        </p:nvSpPr>
        <p:spPr>
          <a:xfrm xmlns:a="http://schemas.openxmlformats.org/drawingml/2006/main">
            <a:off x="628650" y="64008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9CAB8"/>
                </a:solidFill>
              </a:defRPr>
            </a:defPPr>
            <a:lvl1pPr>
              <a:defRPr sz="900" b="0">
                <a:solidFill>
                  <a:srgbClr val="B9CAB8"/>
                </a:solidFill>
              </a:defRPr>
            </a:lvl1pPr>
            <a:lvl2pPr>
              <a:defRPr sz="900" b="0">
                <a:solidFill>
                  <a:srgbClr val="B9CAB8"/>
                </a:solidFill>
              </a:defRPr>
            </a:lvl2pPr>
            <a:lvl3pPr>
              <a:defRPr sz="900" b="0">
                <a:solidFill>
                  <a:srgbClr val="B9CAB8"/>
                </a:solidFill>
              </a:defRPr>
            </a:lvl3pPr>
            <a:lvl4pPr>
              <a:defRPr sz="900" b="0">
                <a:solidFill>
                  <a:srgbClr val="B9CAB8"/>
                </a:solidFill>
              </a:defRPr>
            </a:lvl4pPr>
            <a:lvl5pPr>
              <a:defRPr sz="900" b="0">
                <a:solidFill>
                  <a:srgbClr val="B9CAB8"/>
                </a:solidFill>
              </a:defRPr>
            </a:lvl5pPr>
            <a:lvl6pPr>
              <a:defRPr sz="900" b="0">
                <a:solidFill>
                  <a:srgbClr val="B9CAB8"/>
                </a:solidFill>
              </a:defRPr>
            </a:lvl6pPr>
            <a:lvl7pPr>
              <a:defRPr sz="900" b="0">
                <a:solidFill>
                  <a:srgbClr val="B9CAB8"/>
                </a:solidFill>
              </a:defRPr>
            </a:lvl7pPr>
            <a:lvl8pPr>
              <a:defRPr sz="900" b="0">
                <a:solidFill>
                  <a:srgbClr val="B9CAB8"/>
                </a:solidFill>
              </a:defRPr>
            </a:lvl8pPr>
            <a:lvl9pPr>
              <a:defRPr sz="900" b="0">
                <a:solidFill>
                  <a:srgbClr val="B9CAB8"/>
                </a:solidFill>
              </a:defRPr>
            </a:lvl9pPr>
          </a:lstStyle>
          <a:p xmlns:a="http://schemas.openxmlformats.org/drawingml/2006/main">
            <a:pPr>
              <a:defRPr sz="900" b="0">
                <a:solidFill>
                  <a:srgbClr val="B9CAB8"/>
                </a:solidFill>
              </a:defRPr>
            </a:pPr>
            <a:r>
              <a:rPr sz="900" b="0">
                <a:solidFill>
                  <a:srgbClr val="B9CAB8"/>
                </a:solidFill>
              </a:rPr>
              <a:t>Waste Right     08</a:t>
            </a:r>
          </a:p>
        </p:txBody>
      </p:sp>
      <p:sp>
        <p:nvSpPr>
          <p:cNvPr id="5" name="">
            <a:extLst xmlns:a="http://schemas.openxmlformats.org/drawingml/2006/main">
              <a:ext uri="{FF2B5EF4-FFF2-40B4-BE49-F238E27FC236}">
                <a16:creationId xmlns:a16="http://schemas.microsoft.com/office/drawing/2014/main" id="{E59F8BBC-A0C2-4255-A707-E8BEFB91CF6F}"/>
              </a:ext>
            </a:extLst>
          </p:cNvPr>
          <p:cNvSpPr>
            <a:spLocks xmlns:a="http://schemas.openxmlformats.org/drawingml/2006/main" noGrp="1"/>
          </p:cNvSpPr>
          <p:nvPr/>
        </p:nvSpPr>
        <p:spPr>
          <a:xfrm xmlns:a="http://schemas.openxmlformats.org/drawingml/2006/main">
            <a:off x="628650" y="25431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FFFFF"/>
                </a:solidFill>
              </a:defRPr>
            </a:defPPr>
            <a:lvl1pPr>
              <a:defRPr sz="2700" b="1">
                <a:solidFill>
                  <a:srgbClr val="FFFFFF"/>
                </a:solidFill>
              </a:defRPr>
            </a:lvl1pPr>
            <a:lvl2pPr>
              <a:defRPr sz="2700" b="1">
                <a:solidFill>
                  <a:srgbClr val="FFFFFF"/>
                </a:solidFill>
              </a:defRPr>
            </a:lvl2pPr>
            <a:lvl3pPr>
              <a:defRPr sz="2700" b="1">
                <a:solidFill>
                  <a:srgbClr val="FFFFFF"/>
                </a:solidFill>
              </a:defRPr>
            </a:lvl3pPr>
            <a:lvl4pPr>
              <a:defRPr sz="2700" b="1">
                <a:solidFill>
                  <a:srgbClr val="FFFFFF"/>
                </a:solidFill>
              </a:defRPr>
            </a:lvl4pPr>
            <a:lvl5pPr>
              <a:defRPr sz="2700" b="1">
                <a:solidFill>
                  <a:srgbClr val="FFFFFF"/>
                </a:solidFill>
              </a:defRPr>
            </a:lvl5pPr>
            <a:lvl6pPr>
              <a:defRPr sz="2700" b="1">
                <a:solidFill>
                  <a:srgbClr val="FFFFFF"/>
                </a:solidFill>
              </a:defRPr>
            </a:lvl6pPr>
            <a:lvl7pPr>
              <a:defRPr sz="2700" b="1">
                <a:solidFill>
                  <a:srgbClr val="FFFFFF"/>
                </a:solidFill>
              </a:defRPr>
            </a:lvl7pPr>
            <a:lvl8pPr>
              <a:defRPr sz="2700" b="1">
                <a:solidFill>
                  <a:srgbClr val="FFFFFF"/>
                </a:solidFill>
              </a:defRPr>
            </a:lvl8pPr>
            <a:lvl9pPr>
              <a:defRPr sz="2700" b="1">
                <a:solidFill>
                  <a:srgbClr val="FFFFFF"/>
                </a:solidFill>
              </a:defRPr>
            </a:lvl9pPr>
          </a:lstStyle>
          <a:p xmlns:a="http://schemas.openxmlformats.org/drawingml/2006/main">
            <a:pPr>
              <a:defRPr sz="2700" b="1">
                <a:solidFill>
                  <a:srgbClr val="FFFFFF"/>
                </a:solidFill>
              </a:defRPr>
            </a:pPr>
            <a:r>
              <a:rPr sz="2700" b="1">
                <a:solidFill>
                  <a:srgbClr val="FFFFFF"/>
                </a:solidFill>
              </a:rPr>
              <a:t>Prototype built</a:t>
            </a:r>
          </a:p>
        </p:txBody>
      </p:sp>
      <p:sp>
        <p:nvSpPr>
          <p:cNvPr id="6" name="">
            <a:extLst xmlns:a="http://schemas.openxmlformats.org/drawingml/2006/main">
              <a:ext uri="{FF2B5EF4-FFF2-40B4-BE49-F238E27FC236}">
                <a16:creationId xmlns:a16="http://schemas.microsoft.com/office/drawing/2014/main" id="{D59BD125-7AC6-4C6F-8608-8145ED746294}"/>
              </a:ext>
            </a:extLst>
          </p:cNvPr>
          <p:cNvSpPr>
            <a:spLocks xmlns:a="http://schemas.openxmlformats.org/drawingml/2006/main" noGrp="1"/>
          </p:cNvSpPr>
          <p:nvPr/>
        </p:nvSpPr>
        <p:spPr>
          <a:xfrm xmlns:a="http://schemas.openxmlformats.org/drawingml/2006/main">
            <a:off x="628650" y="3190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7E3D5"/>
                </a:solidFill>
              </a:defRPr>
            </a:defPPr>
            <a:lvl1pPr>
              <a:defRPr sz="2100" b="0">
                <a:solidFill>
                  <a:srgbClr val="D7E3D5"/>
                </a:solidFill>
              </a:defRPr>
            </a:lvl1pPr>
            <a:lvl2pPr>
              <a:defRPr sz="2100" b="0">
                <a:solidFill>
                  <a:srgbClr val="D7E3D5"/>
                </a:solidFill>
              </a:defRPr>
            </a:lvl2pPr>
            <a:lvl3pPr>
              <a:defRPr sz="2100" b="0">
                <a:solidFill>
                  <a:srgbClr val="D7E3D5"/>
                </a:solidFill>
              </a:defRPr>
            </a:lvl3pPr>
            <a:lvl4pPr>
              <a:defRPr sz="2100" b="0">
                <a:solidFill>
                  <a:srgbClr val="D7E3D5"/>
                </a:solidFill>
              </a:defRPr>
            </a:lvl4pPr>
            <a:lvl5pPr>
              <a:defRPr sz="2100" b="0">
                <a:solidFill>
                  <a:srgbClr val="D7E3D5"/>
                </a:solidFill>
              </a:defRPr>
            </a:lvl5pPr>
            <a:lvl6pPr>
              <a:defRPr sz="2100" b="0">
                <a:solidFill>
                  <a:srgbClr val="D7E3D5"/>
                </a:solidFill>
              </a:defRPr>
            </a:lvl6pPr>
            <a:lvl7pPr>
              <a:defRPr sz="2100" b="0">
                <a:solidFill>
                  <a:srgbClr val="D7E3D5"/>
                </a:solidFill>
              </a:defRPr>
            </a:lvl7pPr>
            <a:lvl8pPr>
              <a:defRPr sz="2100" b="0">
                <a:solidFill>
                  <a:srgbClr val="D7E3D5"/>
                </a:solidFill>
              </a:defRPr>
            </a:lvl8pPr>
            <a:lvl9pPr>
              <a:defRPr sz="2100" b="0">
                <a:solidFill>
                  <a:srgbClr val="D7E3D5"/>
                </a:solidFill>
              </a:defRPr>
            </a:lvl9pPr>
          </a:lstStyle>
          <a:p xmlns:a="http://schemas.openxmlformats.org/drawingml/2006/main">
            <a:pPr>
              <a:defRPr sz="2100" b="0">
                <a:solidFill>
                  <a:srgbClr val="D7E3D5"/>
                </a:solidFill>
              </a:defRPr>
            </a:pPr>
            <a:r>
              <a:rPr sz="2100" b="0">
                <a:solidFill>
                  <a:srgbClr val="D7E3D5"/>
                </a:solidFill>
              </a:rPr>
              <a:t>Scans, bookings, helper records, receipts and disputes</a:t>
            </a:r>
          </a:p>
        </p:txBody>
      </p:sp>
      <p:sp>
        <p:nvSpPr>
          <p:cNvPr id="7" name="">
            <a:extLst xmlns:a="http://schemas.openxmlformats.org/drawingml/2006/main">
              <a:ext uri="{FF2B5EF4-FFF2-40B4-BE49-F238E27FC236}">
                <a16:creationId xmlns:a16="http://schemas.microsoft.com/office/drawing/2014/main" id="{64CCFA3F-BDF1-4AC3-BC37-C0B3F9370838}"/>
              </a:ext>
            </a:extLst>
          </p:cNvPr>
          <p:cNvSpPr>
            <a:spLocks xmlns:a="http://schemas.openxmlformats.org/drawingml/2006/main" noGrp="1"/>
          </p:cNvSpPr>
          <p:nvPr/>
        </p:nvSpPr>
        <p:spPr>
          <a:xfrm xmlns:a="http://schemas.openxmlformats.org/drawingml/2006/main">
            <a:off x="628650" y="37528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7E3D5"/>
                </a:solidFill>
              </a:defRPr>
            </a:defPPr>
            <a:lvl1pPr>
              <a:defRPr sz="1875" b="0">
                <a:solidFill>
                  <a:srgbClr val="D7E3D5"/>
                </a:solidFill>
              </a:defRPr>
            </a:lvl1pPr>
            <a:lvl2pPr>
              <a:defRPr sz="1875" b="0">
                <a:solidFill>
                  <a:srgbClr val="D7E3D5"/>
                </a:solidFill>
              </a:defRPr>
            </a:lvl2pPr>
            <a:lvl3pPr>
              <a:defRPr sz="1875" b="0">
                <a:solidFill>
                  <a:srgbClr val="D7E3D5"/>
                </a:solidFill>
              </a:defRPr>
            </a:lvl3pPr>
            <a:lvl4pPr>
              <a:defRPr sz="1875" b="0">
                <a:solidFill>
                  <a:srgbClr val="D7E3D5"/>
                </a:solidFill>
              </a:defRPr>
            </a:lvl4pPr>
            <a:lvl5pPr>
              <a:defRPr sz="1875" b="0">
                <a:solidFill>
                  <a:srgbClr val="D7E3D5"/>
                </a:solidFill>
              </a:defRPr>
            </a:lvl5pPr>
            <a:lvl6pPr>
              <a:defRPr sz="1875" b="0">
                <a:solidFill>
                  <a:srgbClr val="D7E3D5"/>
                </a:solidFill>
              </a:defRPr>
            </a:lvl6pPr>
            <a:lvl7pPr>
              <a:defRPr sz="1875" b="0">
                <a:solidFill>
                  <a:srgbClr val="D7E3D5"/>
                </a:solidFill>
              </a:defRPr>
            </a:lvl7pPr>
            <a:lvl8pPr>
              <a:defRPr sz="1875" b="0">
                <a:solidFill>
                  <a:srgbClr val="D7E3D5"/>
                </a:solidFill>
              </a:defRPr>
            </a:lvl8pPr>
            <a:lvl9pPr>
              <a:defRPr sz="1875" b="0">
                <a:solidFill>
                  <a:srgbClr val="D7E3D5"/>
                </a:solidFill>
              </a:defRPr>
            </a:lvl9pPr>
          </a:lstStyle>
          <a:p xmlns:a="http://schemas.openxmlformats.org/drawingml/2006/main">
            <a:pPr>
              <a:defRPr sz="1875" b="0">
                <a:solidFill>
                  <a:srgbClr val="D7E3D5"/>
                </a:solidFill>
              </a:defRPr>
            </a:pPr>
            <a:r>
              <a:rPr sz="1875" b="0">
                <a:solidFill>
                  <a:srgbClr val="D7E3D5"/>
                </a:solidFill>
              </a:rPr>
              <a:t>Revenue: pickup fees, subscriptions and actual recovery</a:t>
            </a:r>
          </a:p>
        </p:txBody>
      </p:sp>
      <p:sp>
        <p:nvSpPr>
          <p:cNvPr id="8" name="">
            <a:extLst xmlns:a="http://schemas.openxmlformats.org/drawingml/2006/main">
              <a:ext uri="{FF2B5EF4-FFF2-40B4-BE49-F238E27FC236}">
                <a16:creationId xmlns:a16="http://schemas.microsoft.com/office/drawing/2014/main" id="{FCFD473D-5EAA-4171-B527-9D324D0EB734}"/>
              </a:ext>
            </a:extLst>
          </p:cNvPr>
          <p:cNvSpPr>
            <a:spLocks xmlns:a="http://schemas.openxmlformats.org/drawingml/2006/main" noGrp="1"/>
          </p:cNvSpPr>
          <p:nvPr/>
        </p:nvSpPr>
        <p:spPr>
          <a:xfrm xmlns:a="http://schemas.openxmlformats.org/drawingml/2006/main">
            <a:off x="628650" y="44196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7E3D5"/>
                </a:solidFill>
              </a:defRPr>
            </a:defPPr>
            <a:lvl1pPr>
              <a:defRPr sz="2175" b="0">
                <a:solidFill>
                  <a:srgbClr val="D7E3D5"/>
                </a:solidFill>
              </a:defRPr>
            </a:lvl1pPr>
            <a:lvl2pPr>
              <a:defRPr sz="2175" b="0">
                <a:solidFill>
                  <a:srgbClr val="D7E3D5"/>
                </a:solidFill>
              </a:defRPr>
            </a:lvl2pPr>
            <a:lvl3pPr>
              <a:defRPr sz="2175" b="0">
                <a:solidFill>
                  <a:srgbClr val="D7E3D5"/>
                </a:solidFill>
              </a:defRPr>
            </a:lvl3pPr>
            <a:lvl4pPr>
              <a:defRPr sz="2175" b="0">
                <a:solidFill>
                  <a:srgbClr val="D7E3D5"/>
                </a:solidFill>
              </a:defRPr>
            </a:lvl4pPr>
            <a:lvl5pPr>
              <a:defRPr sz="2175" b="0">
                <a:solidFill>
                  <a:srgbClr val="D7E3D5"/>
                </a:solidFill>
              </a:defRPr>
            </a:lvl5pPr>
            <a:lvl6pPr>
              <a:defRPr sz="2175" b="0">
                <a:solidFill>
                  <a:srgbClr val="D7E3D5"/>
                </a:solidFill>
              </a:defRPr>
            </a:lvl6pPr>
            <a:lvl7pPr>
              <a:defRPr sz="2175" b="0">
                <a:solidFill>
                  <a:srgbClr val="D7E3D5"/>
                </a:solidFill>
              </a:defRPr>
            </a:lvl7pPr>
            <a:lvl8pPr>
              <a:defRPr sz="2175" b="0">
                <a:solidFill>
                  <a:srgbClr val="D7E3D5"/>
                </a:solidFill>
              </a:defRPr>
            </a:lvl8pPr>
            <a:lvl9pPr>
              <a:defRPr sz="2175" b="0">
                <a:solidFill>
                  <a:srgbClr val="D7E3D5"/>
                </a:solidFill>
              </a:defRPr>
            </a:lvl9pPr>
          </a:lstStyle>
          <a:p xmlns:a="http://schemas.openxmlformats.org/drawingml/2006/main">
            <a:pPr>
              <a:defRPr sz="2175" b="0">
                <a:solidFill>
                  <a:srgbClr val="D7E3D5"/>
                </a:solidFill>
              </a:defRPr>
            </a:pPr>
            <a:r>
              <a:rPr sz="2175" b="0">
                <a:solidFill>
                  <a:srgbClr val="D7E3D5"/>
                </a:solidFill>
              </a:rPr>
              <a:t>₹10 fee − ₹8 base helper pay = ₹2 before other costs</a:t>
            </a:r>
          </a:p>
        </p:txBody>
      </p:sp>
      <p:sp>
        <p:nvSpPr>
          <p:cNvPr id="9" name="">
            <a:extLst xmlns:a="http://schemas.openxmlformats.org/drawingml/2006/main">
              <a:ext uri="{FF2B5EF4-FFF2-40B4-BE49-F238E27FC236}">
                <a16:creationId xmlns:a16="http://schemas.microsoft.com/office/drawing/2014/main" id="{4BA534AE-13DE-4243-A553-B24F5EF16CA2}"/>
              </a:ext>
            </a:extLst>
          </p:cNvPr>
          <p:cNvSpPr>
            <a:spLocks xmlns:a="http://schemas.openxmlformats.org/drawingml/2006/main" noGrp="1"/>
          </p:cNvSpPr>
          <p:nvPr/>
        </p:nvSpPr>
        <p:spPr>
          <a:xfrm xmlns:a="http://schemas.openxmlformats.org/drawingml/2006/main">
            <a:off x="628650" y="5334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defRPr>
            </a:defPPr>
            <a:lvl1pPr>
              <a:defRPr sz="2475" b="1">
                <a:solidFill>
                  <a:srgbClr val="FFFFFF"/>
                </a:solidFill>
              </a:defRPr>
            </a:lvl1pPr>
            <a:lvl2pPr>
              <a:defRPr sz="2475" b="1">
                <a:solidFill>
                  <a:srgbClr val="FFFFFF"/>
                </a:solidFill>
              </a:defRPr>
            </a:lvl2pPr>
            <a:lvl3pPr>
              <a:defRPr sz="2475" b="1">
                <a:solidFill>
                  <a:srgbClr val="FFFFFF"/>
                </a:solidFill>
              </a:defRPr>
            </a:lvl3pPr>
            <a:lvl4pPr>
              <a:defRPr sz="2475" b="1">
                <a:solidFill>
                  <a:srgbClr val="FFFFFF"/>
                </a:solidFill>
              </a:defRPr>
            </a:lvl4pPr>
            <a:lvl5pPr>
              <a:defRPr sz="2475" b="1">
                <a:solidFill>
                  <a:srgbClr val="FFFFFF"/>
                </a:solidFill>
              </a:defRPr>
            </a:lvl5pPr>
            <a:lvl6pPr>
              <a:defRPr sz="2475" b="1">
                <a:solidFill>
                  <a:srgbClr val="FFFFFF"/>
                </a:solidFill>
              </a:defRPr>
            </a:lvl6pPr>
            <a:lvl7pPr>
              <a:defRPr sz="2475" b="1">
                <a:solidFill>
                  <a:srgbClr val="FFFFFF"/>
                </a:solidFill>
              </a:defRPr>
            </a:lvl7pPr>
            <a:lvl8pPr>
              <a:defRPr sz="2475" b="1">
                <a:solidFill>
                  <a:srgbClr val="FFFFFF"/>
                </a:solidFill>
              </a:defRPr>
            </a:lvl8pPr>
            <a:lvl9pPr>
              <a:defRPr sz="2475" b="1">
                <a:solidFill>
                  <a:srgbClr val="FFFFFF"/>
                </a:solidFill>
              </a:defRPr>
            </a:lvl9pPr>
          </a:lstStyle>
          <a:p xmlns:a="http://schemas.openxmlformats.org/drawingml/2006/main">
            <a:pPr>
              <a:defRPr sz="2475" b="1">
                <a:solidFill>
                  <a:srgbClr val="FFFFFF"/>
                </a:solidFill>
              </a:defRPr>
            </a:pPr>
            <a:r>
              <a:rPr sz="2475" b="1">
                <a:solidFill>
                  <a:srgbClr val="FFFFFF"/>
                </a:solidFill>
              </a:rPr>
              <a:t>Seeking a pilot location and processing arrangement</a:t>
            </a:r>
          </a:p>
        </p:txBody>
      </p:sp>
    </p:spTree>
    <p:extLst>
      <p:ext uri="{BB962C8B-B14F-4D97-AF65-F5344CB8AC3E}">
        <p14:creationId xmlns:p14="http://schemas.microsoft.com/office/powerpoint/2010/main" val="1726667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2026-10-24T05:08:30.0310000Z</dcterms:created>
  <dcterms:modified xsi:type="dcterms:W3CDTF">2026-10-24T05:08:30.0310000Z</dcterms:modified>
</coreProperties>
</file>