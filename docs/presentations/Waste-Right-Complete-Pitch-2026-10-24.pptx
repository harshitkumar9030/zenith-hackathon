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881e1be6fd4897" /><Relationship Type="http://schemas.openxmlformats.org/officeDocument/2006/relationships/extended-properties" Target="/docProps/app.xml" Id="Rd71b53f09bfb4030" /><Relationship Type="http://schemas.openxmlformats.org/officeDocument/2006/relationships/officeDocument" Target="/ppt/presentation.xml" Id="Rc8c39db9b84246f5" /></Relationships>
</file>

<file path=ppt/presentation.xml><?xml version="1.0" encoding="utf-8"?>
<p:presentation xmlns:p="http://schemas.openxmlformats.org/presentationml/2006/main">
  <p:sldMasterIdLst>
    <p:sldMasterId xmlns:r="http://schemas.openxmlformats.org/officeDocument/2006/relationships" id="2147483648" r:id="R224a6031e39a43f9"/>
  </p:sldMasterIdLst>
  <p:notesMasterIdLst>
    <p:notesMasterId xmlns:r="http://schemas.openxmlformats.org/officeDocument/2006/relationships" r:id="R656f314af6bb4c9d"/>
  </p:notesMasterIdLst>
  <p:sldIdLst>
    <p:sldId xmlns:r="http://schemas.openxmlformats.org/officeDocument/2006/relationships" id="256" r:id="Rf2f0a56416e44efe"/>
    <p:sldId xmlns:r="http://schemas.openxmlformats.org/officeDocument/2006/relationships" id="257" r:id="Re7895cd30418415b"/>
    <p:sldId xmlns:r="http://schemas.openxmlformats.org/officeDocument/2006/relationships" id="258" r:id="Rdbd2df1d4887448f"/>
    <p:sldId xmlns:r="http://schemas.openxmlformats.org/officeDocument/2006/relationships" id="259" r:id="R9203fe26cede4845"/>
    <p:sldId xmlns:r="http://schemas.openxmlformats.org/officeDocument/2006/relationships" id="260" r:id="R4b5daf0e5a6e4d36"/>
    <p:sldId xmlns:r="http://schemas.openxmlformats.org/officeDocument/2006/relationships" id="261" r:id="Ra401d2538c1d4af7"/>
    <p:sldId xmlns:r="http://schemas.openxmlformats.org/officeDocument/2006/relationships" id="262" r:id="R5a10f5cb7c0a4294"/>
    <p:sldId xmlns:r="http://schemas.openxmlformats.org/officeDocument/2006/relationships" id="263" r:id="R6665d9cbb06a49f9"/>
    <p:sldId xmlns:r="http://schemas.openxmlformats.org/officeDocument/2006/relationships" id="264" r:id="Rd564ee4fee704280"/>
    <p:sldId xmlns:r="http://schemas.openxmlformats.org/officeDocument/2006/relationships" id="265" r:id="Rc558244ba2834a21"/>
    <p:sldId xmlns:r="http://schemas.openxmlformats.org/officeDocument/2006/relationships" id="266" r:id="Rd50dc10df3874894"/>
    <p:sldId xmlns:r="http://schemas.openxmlformats.org/officeDocument/2006/relationships" id="267" r:id="R2c7f877543794fa3"/>
    <p:sldId xmlns:r="http://schemas.openxmlformats.org/officeDocument/2006/relationships" id="268" r:id="R47d11525f92a4a59"/>
    <p:sldId xmlns:r="http://schemas.openxmlformats.org/officeDocument/2006/relationships" id="269" r:id="R39047fd368d24334"/>
    <p:sldId xmlns:r="http://schemas.openxmlformats.org/officeDocument/2006/relationships" id="270" r:id="Rff654d6a74fb4196"/>
    <p:sldId xmlns:r="http://schemas.openxmlformats.org/officeDocument/2006/relationships" id="271" r:id="Rccf9d594c7c946c0"/>
    <p:sldId xmlns:r="http://schemas.openxmlformats.org/officeDocument/2006/relationships" id="272" r:id="R81bf78a3a9c9482e"/>
    <p:sldId xmlns:r="http://schemas.openxmlformats.org/officeDocument/2006/relationships" id="273" r:id="R7611c69f77104cc3"/>
    <p:sldId xmlns:r="http://schemas.openxmlformats.org/officeDocument/2006/relationships" id="274" r:id="Rde065305bcee4ec9"/>
    <p:sldId xmlns:r="http://schemas.openxmlformats.org/officeDocument/2006/relationships" id="275" r:id="R4b16acd82abf460c"/>
    <p:sldId xmlns:r="http://schemas.openxmlformats.org/officeDocument/2006/relationships" id="276" r:id="Rbdd5e8568bb449d8"/>
    <p:sldId xmlns:r="http://schemas.openxmlformats.org/officeDocument/2006/relationships" id="277" r:id="Rf1d9a32ad97641f1"/>
    <p:sldId xmlns:r="http://schemas.openxmlformats.org/officeDocument/2006/relationships" id="278" r:id="Rbcf80b3d2b8e48d4"/>
    <p:sldId xmlns:r="http://schemas.openxmlformats.org/officeDocument/2006/relationships" id="279" r:id="R14f2840b007746f8"/>
    <p:sldId xmlns:r="http://schemas.openxmlformats.org/officeDocument/2006/relationships" id="280" r:id="R2f90bb2e06a34019"/>
    <p:sldId xmlns:r="http://schemas.openxmlformats.org/officeDocument/2006/relationships" id="281" r:id="R24ad3e636a6c4fdf"/>
    <p:sldId xmlns:r="http://schemas.openxmlformats.org/officeDocument/2006/relationships" id="282" r:id="R9c736b8002984614"/>
    <p:sldId xmlns:r="http://schemas.openxmlformats.org/officeDocument/2006/relationships" id="283" r:id="R4537f15dc17246bf"/>
    <p:sldId xmlns:r="http://schemas.openxmlformats.org/officeDocument/2006/relationships" id="284" r:id="Rc0e7e836e96f4fbc"/>
    <p:sldId xmlns:r="http://schemas.openxmlformats.org/officeDocument/2006/relationships" id="285" r:id="Rcd002e8e9a654f98"/>
    <p:sldId xmlns:r="http://schemas.openxmlformats.org/officeDocument/2006/relationships" id="286" r:id="Rb53645cfb3e54b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c7e2b4dca44d78" /><Relationship Type="http://schemas.openxmlformats.org/officeDocument/2006/relationships/slideMaster" Target="/ppt/slideMasters/slideMaster1.xml" Id="R224a6031e39a43f9" /><Relationship Type="http://schemas.openxmlformats.org/officeDocument/2006/relationships/notesMaster" Target="/ppt/notesMasters/notesMaster1.xml" Id="R656f314af6bb4c9d" /><Relationship Type="http://schemas.openxmlformats.org/officeDocument/2006/relationships/presProps" Target="/ppt/presProps.xml" Id="R52e95836d37e4565" /><Relationship Type="http://schemas.openxmlformats.org/officeDocument/2006/relationships/tableStyles" Target="/ppt/tableStyles.xml" Id="Rdc3edc34dee94692" /><Relationship Type="http://schemas.openxmlformats.org/officeDocument/2006/relationships/slide" Target="/ppt/slides/slide1.xml" Id="Rf2f0a56416e44efe" /><Relationship Type="http://schemas.openxmlformats.org/officeDocument/2006/relationships/slide" Target="/ppt/slides/slide2.xml" Id="Re7895cd30418415b" /><Relationship Type="http://schemas.openxmlformats.org/officeDocument/2006/relationships/slide" Target="/ppt/slides/slide3.xml" Id="Rdbd2df1d4887448f" /><Relationship Type="http://schemas.openxmlformats.org/officeDocument/2006/relationships/slide" Target="/ppt/slides/slide4.xml" Id="R9203fe26cede4845" /><Relationship Type="http://schemas.openxmlformats.org/officeDocument/2006/relationships/slide" Target="/ppt/slides/slide5.xml" Id="R4b5daf0e5a6e4d36" /><Relationship Type="http://schemas.openxmlformats.org/officeDocument/2006/relationships/slide" Target="/ppt/slides/slide6.xml" Id="Ra401d2538c1d4af7" /><Relationship Type="http://schemas.openxmlformats.org/officeDocument/2006/relationships/slide" Target="/ppt/slides/slide7.xml" Id="R5a10f5cb7c0a4294" /><Relationship Type="http://schemas.openxmlformats.org/officeDocument/2006/relationships/slide" Target="/ppt/slides/slide8.xml" Id="R6665d9cbb06a49f9" /><Relationship Type="http://schemas.openxmlformats.org/officeDocument/2006/relationships/slide" Target="/ppt/slides/slide9.xml" Id="Rd564ee4fee704280" /><Relationship Type="http://schemas.openxmlformats.org/officeDocument/2006/relationships/slide" Target="/ppt/slides/slide10.xml" Id="Rc558244ba2834a21" /><Relationship Type="http://schemas.openxmlformats.org/officeDocument/2006/relationships/slide" Target="/ppt/slides/slide11.xml" Id="Rd50dc10df3874894" /><Relationship Type="http://schemas.openxmlformats.org/officeDocument/2006/relationships/slide" Target="/ppt/slides/slide12.xml" Id="R2c7f877543794fa3" /><Relationship Type="http://schemas.openxmlformats.org/officeDocument/2006/relationships/slide" Target="/ppt/slides/slide13.xml" Id="R47d11525f92a4a59" /><Relationship Type="http://schemas.openxmlformats.org/officeDocument/2006/relationships/slide" Target="/ppt/slides/slide14.xml" Id="R39047fd368d24334" /><Relationship Type="http://schemas.openxmlformats.org/officeDocument/2006/relationships/slide" Target="/ppt/slides/slide15.xml" Id="Rff654d6a74fb4196" /><Relationship Type="http://schemas.openxmlformats.org/officeDocument/2006/relationships/slide" Target="/ppt/slides/slide16.xml" Id="Rccf9d594c7c946c0" /><Relationship Type="http://schemas.openxmlformats.org/officeDocument/2006/relationships/slide" Target="/ppt/slides/slide17.xml" Id="R81bf78a3a9c9482e" /><Relationship Type="http://schemas.openxmlformats.org/officeDocument/2006/relationships/slide" Target="/ppt/slides/slide18.xml" Id="R7611c69f77104cc3" /><Relationship Type="http://schemas.openxmlformats.org/officeDocument/2006/relationships/slide" Target="/ppt/slides/slide19.xml" Id="Rde065305bcee4ec9" /><Relationship Type="http://schemas.openxmlformats.org/officeDocument/2006/relationships/slide" Target="/ppt/slides/slide20.xml" Id="R4b16acd82abf460c" /><Relationship Type="http://schemas.openxmlformats.org/officeDocument/2006/relationships/slide" Target="/ppt/slides/slide21.xml" Id="Rbdd5e8568bb449d8" /><Relationship Type="http://schemas.openxmlformats.org/officeDocument/2006/relationships/slide" Target="/ppt/slides/slide22.xml" Id="Rf1d9a32ad97641f1" /><Relationship Type="http://schemas.openxmlformats.org/officeDocument/2006/relationships/slide" Target="/ppt/slides/slide23.xml" Id="Rbcf80b3d2b8e48d4" /><Relationship Type="http://schemas.openxmlformats.org/officeDocument/2006/relationships/slide" Target="/ppt/slides/slide24.xml" Id="R14f2840b007746f8" /><Relationship Type="http://schemas.openxmlformats.org/officeDocument/2006/relationships/slide" Target="/ppt/slides/slide25.xml" Id="R2f90bb2e06a34019" /><Relationship Type="http://schemas.openxmlformats.org/officeDocument/2006/relationships/slide" Target="/ppt/slides/slide26.xml" Id="R24ad3e636a6c4fdf" /><Relationship Type="http://schemas.openxmlformats.org/officeDocument/2006/relationships/slide" Target="/ppt/slides/slide27.xml" Id="R9c736b8002984614" /><Relationship Type="http://schemas.openxmlformats.org/officeDocument/2006/relationships/slide" Target="/ppt/slides/slide28.xml" Id="R4537f15dc17246bf" /><Relationship Type="http://schemas.openxmlformats.org/officeDocument/2006/relationships/slide" Target="/ppt/slides/slide29.xml" Id="Rc0e7e836e96f4fbc" /><Relationship Type="http://schemas.openxmlformats.org/officeDocument/2006/relationships/slide" Target="/ppt/slides/slide30.xml" Id="Rcd002e8e9a654f98" /><Relationship Type="http://schemas.openxmlformats.org/officeDocument/2006/relationships/slide" Target="/ppt/slides/slide31.xml" Id="Rb53645cfb3e54b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e2c1a020a341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0c3b835a834cc9" /><Relationship Type="http://schemas.openxmlformats.org/officeDocument/2006/relationships/notesMaster" Target="/ppt/notesMasters/notesMaster1.xml" Id="R9d744a15317a46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85818751444d25" /><Relationship Type="http://schemas.openxmlformats.org/officeDocument/2006/relationships/notesMaster" Target="/ppt/notesMasters/notesMaster1.xml" Id="R4a91b10981db4a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7b4b35df7f4eaf" /><Relationship Type="http://schemas.openxmlformats.org/officeDocument/2006/relationships/notesMaster" Target="/ppt/notesMasters/notesMaster1.xml" Id="R0f069606dd5040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e96a63c96a4f56" /><Relationship Type="http://schemas.openxmlformats.org/officeDocument/2006/relationships/notesMaster" Target="/ppt/notesMasters/notesMaster1.xml" Id="Rd184d8c2fb6745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125a72b4964719" /><Relationship Type="http://schemas.openxmlformats.org/officeDocument/2006/relationships/notesMaster" Target="/ppt/notesMasters/notesMaster1.xml" Id="Rfca18d70baee43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1b3d35b7f4781" /><Relationship Type="http://schemas.openxmlformats.org/officeDocument/2006/relationships/notesMaster" Target="/ppt/notesMasters/notesMaster1.xml" Id="R88d06fe194e747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872473125b4fa1" /><Relationship Type="http://schemas.openxmlformats.org/officeDocument/2006/relationships/notesMaster" Target="/ppt/notesMasters/notesMaster1.xml" Id="Rc6e2b106650f41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f29fd7ddeb4561" /><Relationship Type="http://schemas.openxmlformats.org/officeDocument/2006/relationships/notesMaster" Target="/ppt/notesMasters/notesMaster1.xml" Id="R8c6fcde75e974b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ca5185ffd24648" /><Relationship Type="http://schemas.openxmlformats.org/officeDocument/2006/relationships/notesMaster" Target="/ppt/notesMasters/notesMaster1.xml" Id="Rf482b00222394f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767a0835704008" /><Relationship Type="http://schemas.openxmlformats.org/officeDocument/2006/relationships/notesMaster" Target="/ppt/notesMasters/notesMaster1.xml" Id="R1f70780acb5c46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34c39efa89482a" /><Relationship Type="http://schemas.openxmlformats.org/officeDocument/2006/relationships/notesMaster" Target="/ppt/notesMasters/notesMaster1.xml" Id="R630482488b0b4e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d02df2473f4c89" /><Relationship Type="http://schemas.openxmlformats.org/officeDocument/2006/relationships/notesMaster" Target="/ppt/notesMasters/notesMaster1.xml" Id="R03d86f907fd24a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71839180b64275" /><Relationship Type="http://schemas.openxmlformats.org/officeDocument/2006/relationships/notesMaster" Target="/ppt/notesMasters/notesMaster1.xml" Id="R24afcc02ecc84a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0b20663ce442ff" /><Relationship Type="http://schemas.openxmlformats.org/officeDocument/2006/relationships/notesMaster" Target="/ppt/notesMasters/notesMaster1.xml" Id="Rb98a80f038584a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2eb55a22834ff0" /><Relationship Type="http://schemas.openxmlformats.org/officeDocument/2006/relationships/notesMaster" Target="/ppt/notesMasters/notesMaster1.xml" Id="R98eb46ba725d4b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ae50dadc6b445a" /><Relationship Type="http://schemas.openxmlformats.org/officeDocument/2006/relationships/notesMaster" Target="/ppt/notesMasters/notesMaster1.xml" Id="R51ca9d94e0b04cb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376f42481d49c4" /><Relationship Type="http://schemas.openxmlformats.org/officeDocument/2006/relationships/notesMaster" Target="/ppt/notesMasters/notesMaster1.xml" Id="R9f0c9b6f8ad44b2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415a7284024260" /><Relationship Type="http://schemas.openxmlformats.org/officeDocument/2006/relationships/notesMaster" Target="/ppt/notesMasters/notesMaster1.xml" Id="Re3a6c7d8fa7349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358150658d4988" /><Relationship Type="http://schemas.openxmlformats.org/officeDocument/2006/relationships/notesMaster" Target="/ppt/notesMasters/notesMaster1.xml" Id="Rcc6584b2ff9a48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08bd2c517e4b5f" /><Relationship Type="http://schemas.openxmlformats.org/officeDocument/2006/relationships/notesMaster" Target="/ppt/notesMasters/notesMaster1.xml" Id="Rd3ce911af7fd4e4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1c874a572244938" /><Relationship Type="http://schemas.openxmlformats.org/officeDocument/2006/relationships/notesMaster" Target="/ppt/notesMasters/notesMaster1.xml" Id="Re4f0f9c1f6224e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3a822b8c334e26" /><Relationship Type="http://schemas.openxmlformats.org/officeDocument/2006/relationships/notesMaster" Target="/ppt/notesMasters/notesMaster1.xml" Id="Ra604406c286e4ce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9262b35367c4608" /><Relationship Type="http://schemas.openxmlformats.org/officeDocument/2006/relationships/notesMaster" Target="/ppt/notesMasters/notesMaster1.xml" Id="R15344844e6624e2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802bfc16401442e" /><Relationship Type="http://schemas.openxmlformats.org/officeDocument/2006/relationships/notesMaster" Target="/ppt/notesMasters/notesMaster1.xml" Id="Rf8baba1f5bee4d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abb9ab2bdf4f28" /><Relationship Type="http://schemas.openxmlformats.org/officeDocument/2006/relationships/notesMaster" Target="/ppt/notesMasters/notesMaster1.xml" Id="R1ae44ae3aa7841f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644d99f0c346d5" /><Relationship Type="http://schemas.openxmlformats.org/officeDocument/2006/relationships/notesMaster" Target="/ppt/notesMasters/notesMaster1.xml" Id="Rd6acff6c3c954f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f07ef3563134322" /><Relationship Type="http://schemas.openxmlformats.org/officeDocument/2006/relationships/notesMaster" Target="/ppt/notesMasters/notesMaster1.xml" Id="R4cc1cf049d86431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cd89cda167a4167" /><Relationship Type="http://schemas.openxmlformats.org/officeDocument/2006/relationships/notesMaster" Target="/ppt/notesMasters/notesMaster1.xml" Id="R81e9816a11144e7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451eb08d7264db2" /><Relationship Type="http://schemas.openxmlformats.org/officeDocument/2006/relationships/notesMaster" Target="/ppt/notesMasters/notesMaster1.xml" Id="Re0a2e217f6114f0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5355cd39b464b34" /><Relationship Type="http://schemas.openxmlformats.org/officeDocument/2006/relationships/notesMaster" Target="/ppt/notesMasters/notesMaster1.xml" Id="Rab26c18d57854ef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eff70835531419e" /><Relationship Type="http://schemas.openxmlformats.org/officeDocument/2006/relationships/notesMaster" Target="/ppt/notesMasters/notesMaster1.xml" Id="Rf51baad004a145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pitch. Cover is a generated product illustration, not a photograph of a deployed service. Current repository and business rules reviewed on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Adapted from the supplied waste-identification problem statement and the founder’s expanded collection-service model. Product problem framing, not a measured survey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hypotheses from the supplied requirements and existing workflows. No interviews, market-size figures or field observations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prototype features in camera, confirmation, booking, receipt, helper and Operations components. No time-saving percentage or service guarantee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End-to-end operating model. Product workflows exist in the prototype; downstream contracts, government awards and public pilot outcomes are not asserted secured.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flow in dashboard.tsx, quick-pickup.tsx, confirmation-checklist.tsx and service API. Users can reuse details from their last pickup. Camera/device permissions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downstream operating model, not a claim of signed processing agreements. App supports household-material review and ordinary bookings, while special-handling waste cannot use ordinary instant booking. No compost output ratio, material selling price, processor capacity or emissions saving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web-app/src/lib/catalog.ts and pickup-pricing.ts. Recovery share means positive accepted material-sale proceeds after agreed direct costs. Basic and reward credits have 2kg limits for all materials. No historical ₹599/₹699 pricing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pickup-time.ts and pickup-pricing.ts. Membership waives segregation-related evening component, while time/weight fees remain. Example assumes measured 2 kg and no other charge.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component preview with explicitly synthetic jobs. Demonstrates layout only, not customer traction or live service activity. Helpers require Operations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helper-pay.ts pilot policy. Included membership sorting uses the recorded ₹5/kg comparison value, so the company must fund that service. Net recovery must deduct agreed direct costs once. A pay record does not initiate a bank transfer. Fair hourly pay still requires measured route-time and expense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OperationsWorkspace replaces the simultaneous forms. Includes existing helper approval, dispute resolution, special collection review, handover weighing and activity history. No bank transfer service is represented as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dashboard screenshot using synthetic QA activity. Points are per confirmed India calendar day, not per repeated scan. Credits do not waive applicable sorting or evening charges. Local leaderboard uses opt-in aliases and confirmed scan days, not more waste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PDF render is a synthetic layout-verification sample. Real downloads authenticate the account owner and require completed accepted measured organic activity. Identity comes from the account profile. No government issuance, DigiLocker identity verification, Aadhaar linkage or cryptographic government signature.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Revenue model, not booked sales or traction. Passes do not automatically renew. No processor agreement, material price or guaranteed compost yield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₹10 minus ₹8 = ₹2. This is not net profit. Gold full-use base helper pay is 14×₹8=₹112; Platinum is 24×₹8=₹192. Included sorting, recovery shares and other costs are additional. Unit economics require field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 checked 24 Oct 2026: https://www.pib.gov.in/PressReleaseIframePage.aspx?PRID=2317937&amp;lang=2&amp;reg=48 . MoPNG launch on 1 Oct 2026. Scheme participation opportunities include feedstock collection and aggregation. Plant support is not an automatic collection-app subsidy.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https://www.pib.gov.in/PressReleasePage.aspx?PRID=2220345&amp;lang=1&amp;reg=1 (SBM-U overview, original five-year mission from Oct 2021); https://www.pib.gov.in/Pressreleaseshare.aspx?PRID=1860635&amp;lang=2&amp;reg=48 (2022 challenge, applications closed 15 Apr 2022); https://www.pppinindia.gov.in/faqs (PPP contractual framework). Confirm continuation/local procurement after the published mission period. No grant included in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 https://www.pib.gov.in/PressReleasePage.aspx?PRID=2237444&amp;lang=2&amp;reg=48 (10 Mar 2026). FOM/LFOM/PROM are the eligible products described. Rate is not per kg of household input. Current applicable terms and continuation require confirmation. Operations records support and credit references; no automatic transfer or government approval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https://socialjustice.gov.in/schemes/37-0 and https://www.pib.gov.in/PressReleasePage.aspx?PRID=2134303&amp;lang=2&amp;reg=48, reviewed 24 Oct 2026. Waste pickers joined NAMASTE component in 2024. Benefits depend on enumeration/validation and applicable rules. No automatic benefit award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classify/route.ts, live-camera.tsx, confirmation-checklist.tsx. Configurable provider; avoid naming an unverified model version. This slide describes application architecture, not accuracy benchmarks or disposal-rule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model/training/HOUSEHOLD_V2.md and household-v2-results.json. Dataset: Wolling and Pal https://doi.org/10.48436/27k90-dvw73, CC BY 4.0. DeepLabV3 MobileNetV3 Large, Colab Tesla T4. Split 315 train / 68 validation / 67 test, grouped by capture day and duplicate clusters. Organic IoU70.30%, contaminants61.97%, foreground mean66.13%. Capture-group-held-out within one household, not cross-household. Separate local inference API and image tester exist; model does not replace app identification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Razorpay integration is implemented but live checkout/payment configuration and actual bank transfers are not asserted verified. Local inference uses FastAPI/PyTorch on localhost and processes images in memory. Production authentication, hosting and operations require deployment hardening.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docs/edge-case-audit.md, 24 Oct 2026. Isolated integration tests cover auth/role isolation, competing claims, reward redemption, booking idempotency, receipt acceptance, settlement and signed webhook replay/tamper checks. No live provider charge. Browser control was disabled during final landing visual pass. Tests do not establish security certification or production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pilot targets, not current users, staff, partners or results. Profit/earnings thresholds must be agreed after measuring local wage/travel realities. No invented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ask. No named organisation is presented as a confirmed partner. No funding amount or contract is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streak.ts, service.ts, benefits.ts, certificate.ts and docs/digilocker-identity-setup.md. Points survive a broken streak. Reward credit covers only Basic collection fee, up to 2kg; applicable sorting/evening charges remain. Opt-in locality leaderboard measures scan days, not waste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follows pickup-pricing.ts, helper-pay.ts, catalog.ts and government-benefits API. Net pool is buyer proceeds minus agreed direct costs. Helper base/sorting compensation must be handled once in direct costs to avoid claiming the same money as free margin. Figures are examples, not real transactions. Gold/Platinum subscription costs and route overhead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https://www.pib.gov.in/PressReleaseIframePage.aspx?PRID=2317937&amp;lang=2&amp;reg=48 ; https://www.pib.gov.in/PressReleasePage.aspx?PRID=2220345&amp;lang=1&amp;reg=1 ; https://www.pib.gov.in/Pressreleaseshare.aspx?PRID=1860635&amp;lang=2&amp;reg=48 ; https://www.pib.gov.in/PressReleasePage.aspx?PRID=2237444&amp;lang=2&amp;reg=48 ; https://socialjustice.gov.in/schemes/37-0 ; https://api.apisetu.gov.in/ ; https://doi.org/10.48436/27k90-dvw73 . Internal: web-app/src/lib/catalog.ts, pickup-pricing.ts, helper-pay.ts, benefits.ts, certificate.ts; docs/helper-pay-government-support.md; docs/edge-case-audit.md; model/training/HOUSEHOLD_V2.md and household-v2-results.json. All product screenshots show synthetic QA records. Cover is a generated illustration. No customer traction, government approval, bank payment or independent-household model accuracy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ed198479ef4c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242cf984214b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c34126f7594d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eceba6f7bf4b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08c4fd943447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55c31fb7de43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DF19D6-5B43-4078-B747-DDAB88D43D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80BED1-4EC2-4D28-B3F3-D1FE89DF71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4E2FF1-F816-48F9-8E5B-CE1C71113F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D2FCF2-2EB8-40A1-A4CC-D71554BB26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82AEFE-2EA1-415C-9041-52066F2EFE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2F9A24-B286-492A-8FEA-754D3AFD49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B3C333-2F27-4744-9507-D0266A563D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475233-ACFA-425B-B48D-9D94E36915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8A2798-03FE-43F3-9C9F-9D36DAAEC4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D62320-1122-4725-891F-C6B471D03C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16f5e14b3e4aea" /><Relationship Type="http://schemas.openxmlformats.org/officeDocument/2006/relationships/slideLayout" Target="/ppt/slideLayouts/slideLayout1.xml" Id="Re952243e2f89483a" /><Relationship Type="http://schemas.openxmlformats.org/officeDocument/2006/relationships/slideLayout" Target="/ppt/slideLayouts/slideLayout2.xml" Id="R798514fd288c415b" /><Relationship Type="http://schemas.openxmlformats.org/officeDocument/2006/relationships/slideLayout" Target="/ppt/slideLayouts/slideLayout3.xml" Id="Rf6fd48f7ba0342c2" /><Relationship Type="http://schemas.openxmlformats.org/officeDocument/2006/relationships/slideLayout" Target="/ppt/slideLayouts/slideLayout4.xml" Id="Rb00ae6adb3904499" /><Relationship Type="http://schemas.openxmlformats.org/officeDocument/2006/relationships/slideLayout" Target="/ppt/slideLayouts/slideLayout5.xml" Id="Rb97a2859aef24dc1" /><Relationship Type="http://schemas.openxmlformats.org/officeDocument/2006/relationships/slideLayout" Target="/ppt/slideLayouts/slideLayout6.xml" Id="Ra5ec29c5007c48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52243e2f89483a"/>
    <p:sldLayoutId xmlns:r="http://schemas.openxmlformats.org/officeDocument/2006/relationships" id="2147483650" r:id="R798514fd288c415b"/>
    <p:sldLayoutId xmlns:r="http://schemas.openxmlformats.org/officeDocument/2006/relationships" id="2147483651" r:id="Rf6fd48f7ba0342c2"/>
    <p:sldLayoutId xmlns:r="http://schemas.openxmlformats.org/officeDocument/2006/relationships" id="2147483652" r:id="Rb00ae6adb3904499"/>
    <p:sldLayoutId xmlns:r="http://schemas.openxmlformats.org/officeDocument/2006/relationships" id="2147483653" r:id="Rb97a2859aef24dc1"/>
    <p:sldLayoutId xmlns:r="http://schemas.openxmlformats.org/officeDocument/2006/relationships" id="2147483654" r:id="Ra5ec29c5007c48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f523db59fd4126" /><Relationship Type="http://schemas.openxmlformats.org/officeDocument/2006/relationships/image" Target="/ppt/media/image.png" Id="R6f28a16f3b7c4a1f" /><Relationship Type="http://schemas.openxmlformats.org/officeDocument/2006/relationships/notesSlide" Target="/ppt/notesSlides/notesSlide1.xml" Id="R50b80a7e246d49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ff6148765944f1" /><Relationship Type="http://schemas.openxmlformats.org/officeDocument/2006/relationships/notesSlide" Target="/ppt/notesSlides/notesSlide2.xml" Id="Rbc17226053934f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1032fc116a4b11" /><Relationship Type="http://schemas.openxmlformats.org/officeDocument/2006/relationships/notesSlide" Target="/ppt/notesSlides/notesSlide3.xml" Id="R3d8e1a34e05748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5fe6907e714ba7" /><Relationship Type="http://schemas.openxmlformats.org/officeDocument/2006/relationships/notesSlide" Target="/ppt/notesSlides/notesSlide4.xml" Id="Rc403b0a40fae48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2df56b835940b0" /><Relationship Type="http://schemas.openxmlformats.org/officeDocument/2006/relationships/notesSlide" Target="/ppt/notesSlides/notesSlide5.xml" Id="R99641c3217094a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599d73dc1d4758" /><Relationship Type="http://schemas.openxmlformats.org/officeDocument/2006/relationships/notesSlide" Target="/ppt/notesSlides/notesSlide6.xml" Id="R4b75c23ed9494f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ae73f1ef254462" /><Relationship Type="http://schemas.openxmlformats.org/officeDocument/2006/relationships/notesSlide" Target="/ppt/notesSlides/notesSlide7.xml" Id="R4747f72617d948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bafea4e774b7a" /><Relationship Type="http://schemas.openxmlformats.org/officeDocument/2006/relationships/notesSlide" Target="/ppt/notesSlides/notesSlide8.xml" Id="Ra022fe3382ce4f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bf665e98874f95" /><Relationship Type="http://schemas.openxmlformats.org/officeDocument/2006/relationships/notesSlide" Target="/ppt/notesSlides/notesSlide9.xml" Id="Rb0f8c246a73e46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29b8026b3946e6" /><Relationship Type="http://schemas.openxmlformats.org/officeDocument/2006/relationships/notesSlide" Target="/ppt/notesSlides/notesSlide10.xml" Id="R3dc0349f7cd244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25a6331361f4cd5" /><Relationship Type="http://schemas.openxmlformats.org/officeDocument/2006/relationships/notesSlide" Target="/ppt/notesSlides/notesSlide11.xml" Id="Rc89d05b238fd41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0e831ffbf714940" /><Relationship Type="http://schemas.openxmlformats.org/officeDocument/2006/relationships/image" Target="/ppt/media/image.jpeg" Id="Rfd2e0410e6f045fe" /><Relationship Type="http://schemas.openxmlformats.org/officeDocument/2006/relationships/notesSlide" Target="/ppt/notesSlides/notesSlide12.xml" Id="Rd9db14867b5c4d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578d6d5bdae48e2" /><Relationship Type="http://schemas.openxmlformats.org/officeDocument/2006/relationships/notesSlide" Target="/ppt/notesSlides/notesSlide13.xml" Id="R4346379258144c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98e63baff4f477a" /><Relationship Type="http://schemas.openxmlformats.org/officeDocument/2006/relationships/notesSlide" Target="/ppt/notesSlides/notesSlide14.xml" Id="R17bce63756914c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a9e24a909a44a41" /><Relationship Type="http://schemas.openxmlformats.org/officeDocument/2006/relationships/image" Target="/ppt/media/image2.jpeg" Id="Ra5a79ddc2c4247f5" /><Relationship Type="http://schemas.openxmlformats.org/officeDocument/2006/relationships/notesSlide" Target="/ppt/notesSlides/notesSlide15.xml" Id="R40f678d3ff494c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e34d0452b774776" /><Relationship Type="http://schemas.openxmlformats.org/officeDocument/2006/relationships/image" Target="/ppt/media/image2.png" Id="Rf1068a3ed95743bf" /><Relationship Type="http://schemas.openxmlformats.org/officeDocument/2006/relationships/notesSlide" Target="/ppt/notesSlides/notesSlide16.xml" Id="Rd8333579837047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0495cebe51947f3" /><Relationship Type="http://schemas.openxmlformats.org/officeDocument/2006/relationships/notesSlide" Target="/ppt/notesSlides/notesSlide17.xml" Id="Rd1d326a92a3d43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ffe01de52854aa6" /><Relationship Type="http://schemas.openxmlformats.org/officeDocument/2006/relationships/notesSlide" Target="/ppt/notesSlides/notesSlide18.xml" Id="R77efc9ba0adc46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9a879d338d54562" /><Relationship Type="http://schemas.openxmlformats.org/officeDocument/2006/relationships/notesSlide" Target="/ppt/notesSlides/notesSlide19.xml" Id="R19c22c69447e4f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3dd9b990b9a46e0" /><Relationship Type="http://schemas.openxmlformats.org/officeDocument/2006/relationships/notesSlide" Target="/ppt/notesSlides/notesSlide20.xml" Id="Rd9490aeff60d4b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c1e0c71659f4b02" /><Relationship Type="http://schemas.openxmlformats.org/officeDocument/2006/relationships/notesSlide" Target="/ppt/notesSlides/notesSlide21.xml" Id="R603e041ee35f42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a95b76d80e046cd" /><Relationship Type="http://schemas.openxmlformats.org/officeDocument/2006/relationships/notesSlide" Target="/ppt/notesSlides/notesSlide22.xml" Id="R6de3e9fd9ff7421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ca710adec964416" /><Relationship Type="http://schemas.openxmlformats.org/officeDocument/2006/relationships/notesSlide" Target="/ppt/notesSlides/notesSlide23.xml" Id="R440ad2d8e17f4e6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3bed81d645c44ae" /><Relationship Type="http://schemas.openxmlformats.org/officeDocument/2006/relationships/notesSlide" Target="/ppt/notesSlides/notesSlide24.xml" Id="R03068e67df2746c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2620d2ff70b48fc" /><Relationship Type="http://schemas.openxmlformats.org/officeDocument/2006/relationships/notesSlide" Target="/ppt/notesSlides/notesSlide25.xml" Id="Ra68694ea91bf43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90f9df2128846ea" /><Relationship Type="http://schemas.openxmlformats.org/officeDocument/2006/relationships/notesSlide" Target="/ppt/notesSlides/notesSlide26.xml" Id="Refa701154b6640e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9f824f0e65248c8" /><Relationship Type="http://schemas.openxmlformats.org/officeDocument/2006/relationships/notesSlide" Target="/ppt/notesSlides/notesSlide27.xml" Id="Rdbec5883604744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7ea5f8b582a446f" /><Relationship Type="http://schemas.openxmlformats.org/officeDocument/2006/relationships/notesSlide" Target="/ppt/notesSlides/notesSlide28.xml" Id="R28360d71e428463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1c903766133465f" /><Relationship Type="http://schemas.openxmlformats.org/officeDocument/2006/relationships/notesSlide" Target="/ppt/notesSlides/notesSlide29.xml" Id="Rf3727cdc329a4e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6ec7f002f134797" /><Relationship Type="http://schemas.openxmlformats.org/officeDocument/2006/relationships/notesSlide" Target="/ppt/notesSlides/notesSlide30.xml" Id="Rb7317c46d359465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e6b6917b0264f51" /><Relationship Type="http://schemas.openxmlformats.org/officeDocument/2006/relationships/notesSlide" Target="/ppt/notesSlides/notesSlide31.xml" Id="Rb8c0c7acce7a4ba7" /></Relationships>
</file>

<file path=ppt/slides/slide1.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6922205-CEDB-476F-8366-D4AD8C0F0496}"/>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Waste Right</a:t>
            </a:r>
          </a:p>
        </p:txBody>
      </p:sp>
      <p:sp>
        <p:nvSpPr>
          <p:cNvPr id="3" name="">
            <a:extLst xmlns:a="http://schemas.openxmlformats.org/drawingml/2006/main">
              <a:ext uri="{FF2B5EF4-FFF2-40B4-BE49-F238E27FC236}">
                <a16:creationId xmlns:a16="http://schemas.microsoft.com/office/drawing/2014/main" id="{159594B8-9BBD-49BA-A258-3312FAAA12BA}"/>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Household waste collection, starting at ₹10</a:t>
            </a:r>
          </a:p>
        </p:txBody>
      </p:sp>
      <p:sp>
        <p:nvSpPr>
          <p:cNvPr id="4" name="">
            <a:extLst xmlns:a="http://schemas.openxmlformats.org/drawingml/2006/main">
              <a:ext uri="{FF2B5EF4-FFF2-40B4-BE49-F238E27FC236}">
                <a16:creationId xmlns:a16="http://schemas.microsoft.com/office/drawing/2014/main" id="{9003E582-443E-4AF6-A1DD-42E8F22E6512}"/>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01</a:t>
            </a:r>
          </a:p>
        </p:txBody>
      </p:sp>
      <p:sp>
        <p:nvSpPr>
          <p:cNvPr id="5" name="">
            <a:extLst xmlns:a="http://schemas.openxmlformats.org/drawingml/2006/main">
              <a:ext uri="{FF2B5EF4-FFF2-40B4-BE49-F238E27FC236}">
                <a16:creationId xmlns:a16="http://schemas.microsoft.com/office/drawing/2014/main" id="{642F4E92-ABD6-4639-A8A1-BFED310AE08B}"/>
              </a:ext>
            </a:extLst>
          </p:cNvPr>
          <p:cNvSpPr>
            <a:spLocks xmlns:a="http://schemas.openxmlformats.org/drawingml/2006/main" noGrp="1"/>
          </p:cNvSpPr>
          <p:nvPr/>
        </p:nvSpPr>
        <p:spPr>
          <a:xfrm xmlns:a="http://schemas.openxmlformats.org/drawingml/2006/main">
            <a:off x="628650" y="2647950"/>
            <a:ext cx="5715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F30"/>
                </a:solidFill>
              </a:defRPr>
            </a:defPPr>
            <a:lvl1pPr>
              <a:defRPr sz="3375" b="1">
                <a:solidFill>
                  <a:srgbClr val="173F30"/>
                </a:solidFill>
              </a:defRPr>
            </a:lvl1pPr>
            <a:lvl2pPr>
              <a:defRPr sz="3375" b="1">
                <a:solidFill>
                  <a:srgbClr val="173F30"/>
                </a:solidFill>
              </a:defRPr>
            </a:lvl2pPr>
            <a:lvl3pPr>
              <a:defRPr sz="3375" b="1">
                <a:solidFill>
                  <a:srgbClr val="173F30"/>
                </a:solidFill>
              </a:defRPr>
            </a:lvl3pPr>
            <a:lvl4pPr>
              <a:defRPr sz="3375" b="1">
                <a:solidFill>
                  <a:srgbClr val="173F30"/>
                </a:solidFill>
              </a:defRPr>
            </a:lvl4pPr>
            <a:lvl5pPr>
              <a:defRPr sz="3375" b="1">
                <a:solidFill>
                  <a:srgbClr val="173F30"/>
                </a:solidFill>
              </a:defRPr>
            </a:lvl5pPr>
            <a:lvl6pPr>
              <a:defRPr sz="3375" b="1">
                <a:solidFill>
                  <a:srgbClr val="173F30"/>
                </a:solidFill>
              </a:defRPr>
            </a:lvl6pPr>
            <a:lvl7pPr>
              <a:defRPr sz="3375" b="1">
                <a:solidFill>
                  <a:srgbClr val="173F30"/>
                </a:solidFill>
              </a:defRPr>
            </a:lvl7pPr>
            <a:lvl8pPr>
              <a:defRPr sz="3375" b="1">
                <a:solidFill>
                  <a:srgbClr val="173F30"/>
                </a:solidFill>
              </a:defRPr>
            </a:lvl8pPr>
            <a:lvl9pPr>
              <a:defRPr sz="3375" b="1">
                <a:solidFill>
                  <a:srgbClr val="173F30"/>
                </a:solidFill>
              </a:defRPr>
            </a:lvl9pPr>
          </a:lstStyle>
          <a:p xmlns:a="http://schemas.openxmlformats.org/drawingml/2006/main">
            <a:pPr>
              <a:defRPr sz="3375" b="1">
                <a:solidFill>
                  <a:srgbClr val="173F30"/>
                </a:solidFill>
              </a:defRPr>
            </a:pPr>
            <a:r>
              <a:rPr sz="3375" b="1">
                <a:solidFill>
                  <a:srgbClr val="173F30"/>
                </a:solidFill>
              </a:rPr>
              <a:t>Scan your waste.</a:t>
            </a:r>
          </a:p>
          <a:p xmlns:a="http://schemas.openxmlformats.org/drawingml/2006/main">
            <a:pPr>
              <a:defRPr sz="3375" b="1">
                <a:solidFill>
                  <a:srgbClr val="173F30"/>
                </a:solidFill>
              </a:defRPr>
            </a:pPr>
            <a:r>
              <a:rPr sz="3375" b="1">
                <a:solidFill>
                  <a:srgbClr val="173F30"/>
                </a:solidFill>
              </a:rPr>
              <a:t>Book a pickup.</a:t>
            </a:r>
          </a:p>
          <a:p xmlns:a="http://schemas.openxmlformats.org/drawingml/2006/main">
            <a:pPr>
              <a:defRPr sz="3375" b="1">
                <a:solidFill>
                  <a:srgbClr val="173F30"/>
                </a:solidFill>
              </a:defRPr>
            </a:pPr>
            <a:r>
              <a:rPr sz="3375" b="1">
                <a:solidFill>
                  <a:srgbClr val="173F30"/>
                </a:solidFill>
              </a:rPr>
              <a:t>Know what happens next.</a:t>
            </a:r>
          </a:p>
        </p:txBody>
      </p:sp>
      <p:pic>
        <p:nvPicPr>
          <p:cNvPr id="6" name="">
            <a:extLst xmlns:a="http://schemas.openxmlformats.org/drawingml/2006/main">
              <a:ext uri="{FF2B5EF4-FFF2-40B4-BE49-F238E27FC236}">
                <a16:creationId xmlns:a16="http://schemas.microsoft.com/office/drawing/2014/main" id="{62B539CE-574E-486B-9E42-BD4A308C49C1}"/>
              </a:ext>
            </a:extLst>
          </p:cNvPr>
          <p:cNvPicPr>
            <a:picLocks xmlns:a="http://schemas.openxmlformats.org/drawingml/2006/main" noChangeAspect="1"/>
          </p:cNvPicPr>
          <p:nvPr/>
        </p:nvPicPr>
        <p:blipFill>
          <a:blip xmlns:r="http://schemas.openxmlformats.org/officeDocument/2006/relationships" xmlns:a="http://schemas.openxmlformats.org/drawingml/2006/main" r:embed="R6f28a16f3b7c4a1f"/>
          <a:stretch xmlns:a="http://schemas.openxmlformats.org/drawingml/2006/main"/>
        </p:blipFill>
        <p:spPr>
          <a:xfrm xmlns:a="http://schemas.openxmlformats.org/drawingml/2006/main">
            <a:off x="6953250" y="1714500"/>
            <a:ext cx="4476750"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D5BB357-BB67-46A8-BC93-AC92BBC6E371}"/>
              </a:ext>
            </a:extLst>
          </p:cNvPr>
          <p:cNvSpPr>
            <a:spLocks xmlns:a="http://schemas.openxmlformats.org/drawingml/2006/main" noGrp="1"/>
          </p:cNvSpPr>
          <p:nvPr/>
        </p:nvSpPr>
        <p:spPr>
          <a:xfrm xmlns:a="http://schemas.openxmlformats.org/drawingml/2006/main">
            <a:off x="628650" y="565785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6766D"/>
                </a:solidFill>
              </a:defRPr>
            </a:defPPr>
            <a:lvl1pPr>
              <a:defRPr sz="1425" b="0">
                <a:solidFill>
                  <a:srgbClr val="66766D"/>
                </a:solidFill>
              </a:defRPr>
            </a:lvl1pPr>
            <a:lvl2pPr>
              <a:defRPr sz="1425" b="0">
                <a:solidFill>
                  <a:srgbClr val="66766D"/>
                </a:solidFill>
              </a:defRPr>
            </a:lvl2pPr>
            <a:lvl3pPr>
              <a:defRPr sz="1425" b="0">
                <a:solidFill>
                  <a:srgbClr val="66766D"/>
                </a:solidFill>
              </a:defRPr>
            </a:lvl3pPr>
            <a:lvl4pPr>
              <a:defRPr sz="1425" b="0">
                <a:solidFill>
                  <a:srgbClr val="66766D"/>
                </a:solidFill>
              </a:defRPr>
            </a:lvl4pPr>
            <a:lvl5pPr>
              <a:defRPr sz="1425" b="0">
                <a:solidFill>
                  <a:srgbClr val="66766D"/>
                </a:solidFill>
              </a:defRPr>
            </a:lvl5pPr>
            <a:lvl6pPr>
              <a:defRPr sz="1425" b="0">
                <a:solidFill>
                  <a:srgbClr val="66766D"/>
                </a:solidFill>
              </a:defRPr>
            </a:lvl6pPr>
            <a:lvl7pPr>
              <a:defRPr sz="1425" b="0">
                <a:solidFill>
                  <a:srgbClr val="66766D"/>
                </a:solidFill>
              </a:defRPr>
            </a:lvl7pPr>
            <a:lvl8pPr>
              <a:defRPr sz="1425" b="0">
                <a:solidFill>
                  <a:srgbClr val="66766D"/>
                </a:solidFill>
              </a:defRPr>
            </a:lvl8pPr>
            <a:lvl9pPr>
              <a:defRPr sz="1425" b="0">
                <a:solidFill>
                  <a:srgbClr val="66766D"/>
                </a:solidFill>
              </a:defRPr>
            </a:lvl9pPr>
          </a:lstStyle>
          <a:p xmlns:a="http://schemas.openxmlformats.org/drawingml/2006/main">
            <a:pPr>
              <a:defRPr sz="1425" b="0">
                <a:solidFill>
                  <a:srgbClr val="66766D"/>
                </a:solidFill>
              </a:defRPr>
            </a:pPr>
            <a:r>
              <a:rPr sz="1425" b="0">
                <a:solidFill>
                  <a:srgbClr val="66766D"/>
                </a:solidFill>
              </a:rPr>
              <a:t>Zenith Hackathon   /   24 October 2026</a:t>
            </a:r>
          </a:p>
        </p:txBody>
      </p:sp>
    </p:spTree>
    <p:extLst>
      <p:ext uri="{BB962C8B-B14F-4D97-AF65-F5344CB8AC3E}">
        <p14:creationId xmlns:p14="http://schemas.microsoft.com/office/powerpoint/2010/main" val="1554639450"/>
      </p:ext>
    </p:extLst>
  </p:cSld>
</p:sld>
</file>

<file path=ppt/slides/slide2.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919B324-534F-4D2D-91DE-AF1858F88EF6}"/>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Problem statement</a:t>
            </a:r>
          </a:p>
        </p:txBody>
      </p:sp>
      <p:sp>
        <p:nvSpPr>
          <p:cNvPr id="3" name="">
            <a:extLst xmlns:a="http://schemas.openxmlformats.org/drawingml/2006/main">
              <a:ext uri="{FF2B5EF4-FFF2-40B4-BE49-F238E27FC236}">
                <a16:creationId xmlns:a16="http://schemas.microsoft.com/office/drawing/2014/main" id="{9482C2D1-0E6C-4ACB-BDDC-DE6D88DE98CE}"/>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Everyday waste needs a simpler path from the home to the right processor.</a:t>
            </a:r>
          </a:p>
        </p:txBody>
      </p:sp>
      <p:sp>
        <p:nvSpPr>
          <p:cNvPr id="4" name="">
            <a:extLst xmlns:a="http://schemas.openxmlformats.org/drawingml/2006/main">
              <a:ext uri="{FF2B5EF4-FFF2-40B4-BE49-F238E27FC236}">
                <a16:creationId xmlns:a16="http://schemas.microsoft.com/office/drawing/2014/main" id="{E5B71DF9-E128-4C1E-AFFE-A9707A6BE2F7}"/>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02</a:t>
            </a:r>
          </a:p>
        </p:txBody>
      </p:sp>
      <p:sp>
        <p:nvSpPr>
          <p:cNvPr id="5" name="">
            <a:extLst xmlns:a="http://schemas.openxmlformats.org/drawingml/2006/main">
              <a:ext uri="{FF2B5EF4-FFF2-40B4-BE49-F238E27FC236}">
                <a16:creationId xmlns:a16="http://schemas.microsoft.com/office/drawing/2014/main" id="{36580E08-D18C-4ADB-BDB4-AAE0C63BE325}"/>
              </a:ext>
            </a:extLst>
          </p:cNvPr>
          <p:cNvSpPr>
            <a:spLocks xmlns:a="http://schemas.openxmlformats.org/drawingml/2006/main" noGrp="1"/>
          </p:cNvSpPr>
          <p:nvPr/>
        </p:nvSpPr>
        <p:spPr>
          <a:xfrm xmlns:a="http://schemas.openxmlformats.org/drawingml/2006/main">
            <a:off x="628650" y="2619375"/>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F30"/>
                </a:solidFill>
              </a:defRPr>
            </a:defPPr>
            <a:lvl1pPr>
              <a:defRPr sz="2925" b="1">
                <a:solidFill>
                  <a:srgbClr val="173F30"/>
                </a:solidFill>
              </a:defRPr>
            </a:lvl1pPr>
            <a:lvl2pPr>
              <a:defRPr sz="2925" b="1">
                <a:solidFill>
                  <a:srgbClr val="173F30"/>
                </a:solidFill>
              </a:defRPr>
            </a:lvl2pPr>
            <a:lvl3pPr>
              <a:defRPr sz="2925" b="1">
                <a:solidFill>
                  <a:srgbClr val="173F30"/>
                </a:solidFill>
              </a:defRPr>
            </a:lvl3pPr>
            <a:lvl4pPr>
              <a:defRPr sz="2925" b="1">
                <a:solidFill>
                  <a:srgbClr val="173F30"/>
                </a:solidFill>
              </a:defRPr>
            </a:lvl4pPr>
            <a:lvl5pPr>
              <a:defRPr sz="2925" b="1">
                <a:solidFill>
                  <a:srgbClr val="173F30"/>
                </a:solidFill>
              </a:defRPr>
            </a:lvl5pPr>
            <a:lvl6pPr>
              <a:defRPr sz="2925" b="1">
                <a:solidFill>
                  <a:srgbClr val="173F30"/>
                </a:solidFill>
              </a:defRPr>
            </a:lvl6pPr>
            <a:lvl7pPr>
              <a:defRPr sz="2925" b="1">
                <a:solidFill>
                  <a:srgbClr val="173F30"/>
                </a:solidFill>
              </a:defRPr>
            </a:lvl7pPr>
            <a:lvl8pPr>
              <a:defRPr sz="2925" b="1">
                <a:solidFill>
                  <a:srgbClr val="173F30"/>
                </a:solidFill>
              </a:defRPr>
            </a:lvl8pPr>
            <a:lvl9pPr>
              <a:defRPr sz="2925" b="1">
                <a:solidFill>
                  <a:srgbClr val="173F30"/>
                </a:solidFill>
              </a:defRPr>
            </a:lvl9pPr>
          </a:lstStyle>
          <a:p xmlns:a="http://schemas.openxmlformats.org/drawingml/2006/main">
            <a:pPr>
              <a:defRPr sz="2925" b="1">
                <a:solidFill>
                  <a:srgbClr val="173F30"/>
                </a:solidFill>
              </a:defRPr>
            </a:pPr>
            <a:r>
              <a:rPr sz="2925" b="1">
                <a:solidFill>
                  <a:srgbClr val="173F30"/>
                </a:solidFill>
              </a:rPr>
              <a:t>How can a household identify mixed waste, arrange an affordable pickup and know what was actually collected?</a:t>
            </a:r>
          </a:p>
        </p:txBody>
      </p:sp>
      <p:sp>
        <p:nvSpPr>
          <p:cNvPr id="6" name="">
            <a:extLst xmlns:a="http://schemas.openxmlformats.org/drawingml/2006/main">
              <a:ext uri="{FF2B5EF4-FFF2-40B4-BE49-F238E27FC236}">
                <a16:creationId xmlns:a16="http://schemas.microsoft.com/office/drawing/2014/main" id="{976E582E-41ED-491C-AC37-A8F76B546898}"/>
              </a:ext>
            </a:extLst>
          </p:cNvPr>
          <p:cNvSpPr>
            <a:spLocks xmlns:a="http://schemas.openxmlformats.org/drawingml/2006/main" noGrp="1"/>
          </p:cNvSpPr>
          <p:nvPr/>
        </p:nvSpPr>
        <p:spPr>
          <a:xfrm xmlns:a="http://schemas.openxmlformats.org/drawingml/2006/main">
            <a:off x="628650" y="5057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6766D"/>
                </a:solidFill>
              </a:defRPr>
            </a:defPPr>
            <a:lvl1pPr>
              <a:defRPr sz="2175" b="0">
                <a:solidFill>
                  <a:srgbClr val="66766D"/>
                </a:solidFill>
              </a:defRPr>
            </a:lvl1pPr>
            <a:lvl2pPr>
              <a:defRPr sz="2175" b="0">
                <a:solidFill>
                  <a:srgbClr val="66766D"/>
                </a:solidFill>
              </a:defRPr>
            </a:lvl2pPr>
            <a:lvl3pPr>
              <a:defRPr sz="2175" b="0">
                <a:solidFill>
                  <a:srgbClr val="66766D"/>
                </a:solidFill>
              </a:defRPr>
            </a:lvl3pPr>
            <a:lvl4pPr>
              <a:defRPr sz="2175" b="0">
                <a:solidFill>
                  <a:srgbClr val="66766D"/>
                </a:solidFill>
              </a:defRPr>
            </a:lvl4pPr>
            <a:lvl5pPr>
              <a:defRPr sz="2175" b="0">
                <a:solidFill>
                  <a:srgbClr val="66766D"/>
                </a:solidFill>
              </a:defRPr>
            </a:lvl5pPr>
            <a:lvl6pPr>
              <a:defRPr sz="2175" b="0">
                <a:solidFill>
                  <a:srgbClr val="66766D"/>
                </a:solidFill>
              </a:defRPr>
            </a:lvl6pPr>
            <a:lvl7pPr>
              <a:defRPr sz="2175" b="0">
                <a:solidFill>
                  <a:srgbClr val="66766D"/>
                </a:solidFill>
              </a:defRPr>
            </a:lvl7pPr>
            <a:lvl8pPr>
              <a:defRPr sz="2175" b="0">
                <a:solidFill>
                  <a:srgbClr val="66766D"/>
                </a:solidFill>
              </a:defRPr>
            </a:lvl8pPr>
            <a:lvl9pPr>
              <a:defRPr sz="2175" b="0">
                <a:solidFill>
                  <a:srgbClr val="66766D"/>
                </a:solidFill>
              </a:defRPr>
            </a:lvl9pPr>
          </a:lstStyle>
          <a:p xmlns:a="http://schemas.openxmlformats.org/drawingml/2006/main">
            <a:pPr>
              <a:defRPr sz="2175" b="0">
                <a:solidFill>
                  <a:srgbClr val="66766D"/>
                </a:solidFill>
              </a:defRPr>
            </a:pPr>
            <a:r>
              <a:rPr sz="2175" b="0">
                <a:solidFill>
                  <a:srgbClr val="66766D"/>
                </a:solidFill>
              </a:rPr>
              <a:t>Waste Right combines phone-camera assistance with a human-verified collection service.</a:t>
            </a:r>
          </a:p>
        </p:txBody>
      </p:sp>
    </p:spTree>
    <p:extLst>
      <p:ext uri="{BB962C8B-B14F-4D97-AF65-F5344CB8AC3E}">
        <p14:creationId xmlns:p14="http://schemas.microsoft.com/office/powerpoint/2010/main" val="1662701790"/>
      </p:ext>
    </p:extLst>
  </p:cSld>
</p:sld>
</file>

<file path=ppt/slides/slide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348FA0-A729-4B27-8C2D-913C326CEFE0}"/>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Pain points for residents and helpers</a:t>
            </a:r>
          </a:p>
        </p:txBody>
      </p:sp>
      <p:sp>
        <p:nvSpPr>
          <p:cNvPr id="3" name="">
            <a:extLst xmlns:a="http://schemas.openxmlformats.org/drawingml/2006/main">
              <a:ext uri="{FF2B5EF4-FFF2-40B4-BE49-F238E27FC236}">
                <a16:creationId xmlns:a16="http://schemas.microsoft.com/office/drawing/2014/main" id="{B6AC5FF2-3B28-4979-A56D-B0B7A6F629F0}"/>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The difficulty continues after someone identifies the waste.</a:t>
            </a:r>
          </a:p>
        </p:txBody>
      </p:sp>
      <p:sp>
        <p:nvSpPr>
          <p:cNvPr id="4" name="">
            <a:extLst xmlns:a="http://schemas.openxmlformats.org/drawingml/2006/main">
              <a:ext uri="{FF2B5EF4-FFF2-40B4-BE49-F238E27FC236}">
                <a16:creationId xmlns:a16="http://schemas.microsoft.com/office/drawing/2014/main" id="{5134701C-05D0-4BF1-A80F-CEB849996789}"/>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03</a:t>
            </a:r>
          </a:p>
        </p:txBody>
      </p:sp>
      <p:sp>
        <p:nvSpPr>
          <p:cNvPr id="5" name="">
            <a:extLst xmlns:a="http://schemas.openxmlformats.org/drawingml/2006/main">
              <a:ext uri="{FF2B5EF4-FFF2-40B4-BE49-F238E27FC236}">
                <a16:creationId xmlns:a16="http://schemas.microsoft.com/office/drawing/2014/main" id="{EFF24AED-E9CC-4BFD-B550-E52CA19CFBE1}"/>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For residents</a:t>
            </a:r>
          </a:p>
        </p:txBody>
      </p:sp>
      <p:sp>
        <p:nvSpPr>
          <p:cNvPr id="6" name="">
            <a:extLst xmlns:a="http://schemas.openxmlformats.org/drawingml/2006/main">
              <a:ext uri="{FF2B5EF4-FFF2-40B4-BE49-F238E27FC236}">
                <a16:creationId xmlns:a16="http://schemas.microsoft.com/office/drawing/2014/main" id="{F5E58F24-1E8D-453A-8296-34E0141DFF03}"/>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Mixed packaging is confusing.</a:t>
            </a:r>
          </a:p>
          <a:p xmlns:a="http://schemas.openxmlformats.org/drawingml/2006/main">
            <a:pPr>
              <a:defRPr sz="1875" b="0">
                <a:solidFill>
                  <a:srgbClr val="66766D"/>
                </a:solidFill>
              </a:defRPr>
            </a:pPr>
            <a:r>
              <a:rPr sz="1875" b="0">
                <a:solidFill>
                  <a:srgbClr val="66766D"/>
                </a:solidFill>
              </a:rPr>
              <a:t>Collection takes too many steps.</a:t>
            </a:r>
          </a:p>
          <a:p xmlns:a="http://schemas.openxmlformats.org/drawingml/2006/main">
            <a:pPr>
              <a:defRPr sz="1875" b="0">
                <a:solidFill>
                  <a:srgbClr val="66766D"/>
                </a:solidFill>
              </a:defRPr>
            </a:pPr>
            <a:r>
              <a:rPr sz="1875" b="0">
                <a:solidFill>
                  <a:srgbClr val="66766D"/>
                </a:solidFill>
              </a:rPr>
              <a:t>Weight and final fees are unclear.</a:t>
            </a:r>
          </a:p>
          <a:p xmlns:a="http://schemas.openxmlformats.org/drawingml/2006/main">
            <a:pPr>
              <a:defRPr sz="1875" b="0">
                <a:solidFill>
                  <a:srgbClr val="66766D"/>
                </a:solidFill>
              </a:defRPr>
            </a:pPr>
            <a:r>
              <a:rPr sz="1875" b="0">
                <a:solidFill>
                  <a:srgbClr val="66766D"/>
                </a:solidFill>
              </a:rPr>
              <a:t>The outcome is hard to track.</a:t>
            </a:r>
          </a:p>
        </p:txBody>
      </p:sp>
      <p:sp>
        <p:nvSpPr>
          <p:cNvPr id="7" name="">
            <a:extLst xmlns:a="http://schemas.openxmlformats.org/drawingml/2006/main">
              <a:ext uri="{FF2B5EF4-FFF2-40B4-BE49-F238E27FC236}">
                <a16:creationId xmlns:a16="http://schemas.microsoft.com/office/drawing/2014/main" id="{43E130AE-2AE1-412C-945F-ECB0D5D88B51}"/>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For collection partners</a:t>
            </a:r>
          </a:p>
        </p:txBody>
      </p:sp>
      <p:sp>
        <p:nvSpPr>
          <p:cNvPr id="8" name="">
            <a:extLst xmlns:a="http://schemas.openxmlformats.org/drawingml/2006/main">
              <a:ext uri="{FF2B5EF4-FFF2-40B4-BE49-F238E27FC236}">
                <a16:creationId xmlns:a16="http://schemas.microsoft.com/office/drawing/2014/main" id="{B0D96A15-218A-4879-BD47-9F5421078A48}"/>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Jobs and addresses are scattered.</a:t>
            </a:r>
          </a:p>
          <a:p xmlns:a="http://schemas.openxmlformats.org/drawingml/2006/main">
            <a:pPr>
              <a:defRPr sz="1875" b="0">
                <a:solidFill>
                  <a:srgbClr val="66766D"/>
                </a:solidFill>
              </a:defRPr>
            </a:pPr>
            <a:r>
              <a:rPr sz="1875" b="0">
                <a:solidFill>
                  <a:srgbClr val="66766D"/>
                </a:solidFill>
              </a:rPr>
              <a:t>Material and weight need checking.</a:t>
            </a:r>
          </a:p>
          <a:p xmlns:a="http://schemas.openxmlformats.org/drawingml/2006/main">
            <a:pPr>
              <a:defRPr sz="1875" b="0">
                <a:solidFill>
                  <a:srgbClr val="66766D"/>
                </a:solidFill>
              </a:defRPr>
            </a:pPr>
            <a:r>
              <a:rPr sz="1875" b="0">
                <a:solidFill>
                  <a:srgbClr val="66766D"/>
                </a:solidFill>
              </a:rPr>
              <a:t>Earnings and dues need clear records.</a:t>
            </a:r>
          </a:p>
          <a:p xmlns:a="http://schemas.openxmlformats.org/drawingml/2006/main">
            <a:pPr>
              <a:defRPr sz="1875" b="0">
                <a:solidFill>
                  <a:srgbClr val="66766D"/>
                </a:solidFill>
              </a:defRPr>
            </a:pPr>
            <a:r>
              <a:rPr sz="1875" b="0">
                <a:solidFill>
                  <a:srgbClr val="66766D"/>
                </a:solidFill>
              </a:rPr>
              <a:t>Disputes need a simple process.</a:t>
            </a:r>
          </a:p>
        </p:txBody>
      </p:sp>
    </p:spTree>
    <p:extLst>
      <p:ext uri="{BB962C8B-B14F-4D97-AF65-F5344CB8AC3E}">
        <p14:creationId xmlns:p14="http://schemas.microsoft.com/office/powerpoint/2010/main" val="978115339"/>
      </p:ext>
    </p:extLst>
  </p:cSld>
</p:sld>
</file>

<file path=ppt/slides/slide4.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F9A724-0996-4FD4-A350-8E2CC94C825E}"/>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The solutions we provide</a:t>
            </a:r>
          </a:p>
        </p:txBody>
      </p:sp>
      <p:sp>
        <p:nvSpPr>
          <p:cNvPr id="3" name="">
            <a:extLst xmlns:a="http://schemas.openxmlformats.org/drawingml/2006/main">
              <a:ext uri="{FF2B5EF4-FFF2-40B4-BE49-F238E27FC236}">
                <a16:creationId xmlns:a16="http://schemas.microsoft.com/office/drawing/2014/main" id="{8E34328A-7FF5-4C19-8F59-D39BCD7B08C5}"/>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Each feature removes a specific step or uncertainty.</a:t>
            </a:r>
          </a:p>
        </p:txBody>
      </p:sp>
      <p:sp>
        <p:nvSpPr>
          <p:cNvPr id="4" name="">
            <a:extLst xmlns:a="http://schemas.openxmlformats.org/drawingml/2006/main">
              <a:ext uri="{FF2B5EF4-FFF2-40B4-BE49-F238E27FC236}">
                <a16:creationId xmlns:a16="http://schemas.microsoft.com/office/drawing/2014/main" id="{1A0A18A8-F4FA-4A5F-9F6B-1AF30703B82A}"/>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04</a:t>
            </a:r>
          </a:p>
        </p:txBody>
      </p:sp>
      <p:sp>
        <p:nvSpPr>
          <p:cNvPr id="5" name="">
            <a:extLst xmlns:a="http://schemas.openxmlformats.org/drawingml/2006/main">
              <a:ext uri="{FF2B5EF4-FFF2-40B4-BE49-F238E27FC236}">
                <a16:creationId xmlns:a16="http://schemas.microsoft.com/office/drawing/2014/main" id="{3A1C648A-36E3-4A89-B088-9B36E6946E98}"/>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Less effort to start</a:t>
            </a:r>
          </a:p>
        </p:txBody>
      </p:sp>
      <p:sp>
        <p:nvSpPr>
          <p:cNvPr id="6" name="">
            <a:extLst xmlns:a="http://schemas.openxmlformats.org/drawingml/2006/main">
              <a:ext uri="{FF2B5EF4-FFF2-40B4-BE49-F238E27FC236}">
                <a16:creationId xmlns:a16="http://schemas.microsoft.com/office/drawing/2014/main" id="{CDCFB237-B435-493B-9B09-DBBB2E4BA0C7}"/>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Scan with a phone or describe the waste. Confirm the suggestions.</a:t>
            </a:r>
          </a:p>
        </p:txBody>
      </p:sp>
      <p:sp>
        <p:nvSpPr>
          <p:cNvPr id="7" name="">
            <a:extLst xmlns:a="http://schemas.openxmlformats.org/drawingml/2006/main">
              <a:ext uri="{FF2B5EF4-FFF2-40B4-BE49-F238E27FC236}">
                <a16:creationId xmlns:a16="http://schemas.microsoft.com/office/drawing/2014/main" id="{7078203B-990A-48F2-9ED4-C26194F43423}"/>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A clear collection flow</a:t>
            </a:r>
          </a:p>
        </p:txBody>
      </p:sp>
      <p:sp>
        <p:nvSpPr>
          <p:cNvPr id="8" name="">
            <a:extLst xmlns:a="http://schemas.openxmlformats.org/drawingml/2006/main">
              <a:ext uri="{FF2B5EF4-FFF2-40B4-BE49-F238E27FC236}">
                <a16:creationId xmlns:a16="http://schemas.microsoft.com/office/drawing/2014/main" id="{CA689152-3886-4C5C-85CA-16243D439294}"/>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Reuse an address, choose a time and see automatic charges. The helper records weight.</a:t>
            </a:r>
          </a:p>
        </p:txBody>
      </p:sp>
      <p:sp>
        <p:nvSpPr>
          <p:cNvPr id="9" name="">
            <a:extLst xmlns:a="http://schemas.openxmlformats.org/drawingml/2006/main">
              <a:ext uri="{FF2B5EF4-FFF2-40B4-BE49-F238E27FC236}">
                <a16:creationId xmlns:a16="http://schemas.microsoft.com/office/drawing/2014/main" id="{0B0DEC7E-B717-4DEC-A000-D99744CE6815}"/>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A shared record</a:t>
            </a:r>
          </a:p>
        </p:txBody>
      </p:sp>
      <p:sp>
        <p:nvSpPr>
          <p:cNvPr id="10" name="">
            <a:extLst xmlns:a="http://schemas.openxmlformats.org/drawingml/2006/main">
              <a:ext uri="{FF2B5EF4-FFF2-40B4-BE49-F238E27FC236}">
                <a16:creationId xmlns:a16="http://schemas.microsoft.com/office/drawing/2014/main" id="{7E02FDE3-F149-49B4-844A-BF2CC4504CD6}"/>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Residents review receipts. Helpers see earnings. Operations handles payments and issues.</a:t>
            </a:r>
          </a:p>
        </p:txBody>
      </p:sp>
    </p:spTree>
    <p:extLst>
      <p:ext uri="{BB962C8B-B14F-4D97-AF65-F5344CB8AC3E}">
        <p14:creationId xmlns:p14="http://schemas.microsoft.com/office/powerpoint/2010/main" val="1767927152"/>
      </p:ext>
    </p:extLst>
  </p:cSld>
</p:sld>
</file>

<file path=ppt/slides/slide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ADE6FEE-40BF-40A5-8F2A-DB10427DA95A}"/>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Complete Waste Right overview</a:t>
            </a:r>
          </a:p>
        </p:txBody>
      </p:sp>
      <p:sp>
        <p:nvSpPr>
          <p:cNvPr id="3" name="">
            <a:extLst xmlns:a="http://schemas.openxmlformats.org/drawingml/2006/main">
              <a:ext uri="{FF2B5EF4-FFF2-40B4-BE49-F238E27FC236}">
                <a16:creationId xmlns:a16="http://schemas.microsoft.com/office/drawing/2014/main" id="{62FA4091-4501-4CD9-8242-F22058CB9D15}"/>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One service connects residents, helpers, Operations and processing partners.</a:t>
            </a:r>
          </a:p>
        </p:txBody>
      </p:sp>
      <p:sp>
        <p:nvSpPr>
          <p:cNvPr id="4" name="">
            <a:extLst xmlns:a="http://schemas.openxmlformats.org/drawingml/2006/main">
              <a:ext uri="{FF2B5EF4-FFF2-40B4-BE49-F238E27FC236}">
                <a16:creationId xmlns:a16="http://schemas.microsoft.com/office/drawing/2014/main" id="{85CA27A3-C670-4D9A-BCC7-BD70CCC45F4B}"/>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05</a:t>
            </a:r>
          </a:p>
        </p:txBody>
      </p:sp>
      <p:sp>
        <p:nvSpPr>
          <p:cNvPr id="5" name="">
            <a:extLst xmlns:a="http://schemas.openxmlformats.org/drawingml/2006/main">
              <a:ext uri="{FF2B5EF4-FFF2-40B4-BE49-F238E27FC236}">
                <a16:creationId xmlns:a16="http://schemas.microsoft.com/office/drawing/2014/main" id="{9B5B8159-35F6-42CA-997D-7DFB184D2EC4}"/>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Resident</a:t>
            </a:r>
          </a:p>
        </p:txBody>
      </p:sp>
      <p:sp>
        <p:nvSpPr>
          <p:cNvPr id="6" name="">
            <a:extLst xmlns:a="http://schemas.openxmlformats.org/drawingml/2006/main">
              <a:ext uri="{FF2B5EF4-FFF2-40B4-BE49-F238E27FC236}">
                <a16:creationId xmlns:a16="http://schemas.microsoft.com/office/drawing/2014/main" id="{A476F5AF-D626-422C-81DF-6781D2DC8CFE}"/>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Scan → confirm items → schedule → accept the collection receipt.</a:t>
            </a:r>
          </a:p>
        </p:txBody>
      </p:sp>
      <p:sp>
        <p:nvSpPr>
          <p:cNvPr id="7" name="">
            <a:extLst xmlns:a="http://schemas.openxmlformats.org/drawingml/2006/main">
              <a:ext uri="{FF2B5EF4-FFF2-40B4-BE49-F238E27FC236}">
                <a16:creationId xmlns:a16="http://schemas.microsoft.com/office/drawing/2014/main" id="{11D76E1B-31A9-4C20-B595-47587A2E1522}"/>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Helper and Operations</a:t>
            </a:r>
          </a:p>
        </p:txBody>
      </p:sp>
      <p:sp>
        <p:nvSpPr>
          <p:cNvPr id="8" name="">
            <a:extLst xmlns:a="http://schemas.openxmlformats.org/drawingml/2006/main">
              <a:ext uri="{FF2B5EF4-FFF2-40B4-BE49-F238E27FC236}">
                <a16:creationId xmlns:a16="http://schemas.microsoft.com/office/drawing/2014/main" id="{AE54A076-CAB1-47D4-A6BF-30C99A1A6F82}"/>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Collect → weigh → verify → record earnings, payments and disputes.</a:t>
            </a:r>
          </a:p>
        </p:txBody>
      </p:sp>
      <p:sp>
        <p:nvSpPr>
          <p:cNvPr id="9" name="">
            <a:extLst xmlns:a="http://schemas.openxmlformats.org/drawingml/2006/main">
              <a:ext uri="{FF2B5EF4-FFF2-40B4-BE49-F238E27FC236}">
                <a16:creationId xmlns:a16="http://schemas.microsoft.com/office/drawing/2014/main" id="{1169BB36-7986-4BF3-B036-7E8A5196169F}"/>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Processing and benefits</a:t>
            </a:r>
          </a:p>
        </p:txBody>
      </p:sp>
      <p:sp>
        <p:nvSpPr>
          <p:cNvPr id="10" name="">
            <a:extLst xmlns:a="http://schemas.openxmlformats.org/drawingml/2006/main">
              <a:ext uri="{FF2B5EF4-FFF2-40B4-BE49-F238E27FC236}">
                <a16:creationId xmlns:a16="http://schemas.microsoft.com/office/drawing/2014/main" id="{8E326CA2-B3DF-4B18-80BB-1ECB46BFCB6C}"/>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Hand over accepted material → record actual recovery → apply earned credits and rewards.</a:t>
            </a:r>
          </a:p>
        </p:txBody>
      </p:sp>
      <p:sp>
        <p:nvSpPr>
          <p:cNvPr id="11" name="">
            <a:extLst xmlns:a="http://schemas.openxmlformats.org/drawingml/2006/main">
              <a:ext uri="{FF2B5EF4-FFF2-40B4-BE49-F238E27FC236}">
                <a16:creationId xmlns:a16="http://schemas.microsoft.com/office/drawing/2014/main" id="{39D2D5E1-5383-4F68-AF88-DD3E8A7B1A3E}"/>
              </a:ext>
            </a:extLst>
          </p:cNvPr>
          <p:cNvSpPr>
            <a:spLocks xmlns:a="http://schemas.openxmlformats.org/drawingml/2006/main" noGrp="1"/>
          </p:cNvSpPr>
          <p:nvPr/>
        </p:nvSpPr>
        <p:spPr>
          <a:xfrm xmlns:a="http://schemas.openxmlformats.org/drawingml/2006/main">
            <a:off x="628650" y="5762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7770AA"/>
                </a:solidFill>
              </a:defRPr>
            </a:defPPr>
            <a:lvl1pPr>
              <a:defRPr sz="1800" b="1">
                <a:solidFill>
                  <a:srgbClr val="7770AA"/>
                </a:solidFill>
              </a:defRPr>
            </a:lvl1pPr>
            <a:lvl2pPr>
              <a:defRPr sz="1800" b="1">
                <a:solidFill>
                  <a:srgbClr val="7770AA"/>
                </a:solidFill>
              </a:defRPr>
            </a:lvl2pPr>
            <a:lvl3pPr>
              <a:defRPr sz="1800" b="1">
                <a:solidFill>
                  <a:srgbClr val="7770AA"/>
                </a:solidFill>
              </a:defRPr>
            </a:lvl3pPr>
            <a:lvl4pPr>
              <a:defRPr sz="1800" b="1">
                <a:solidFill>
                  <a:srgbClr val="7770AA"/>
                </a:solidFill>
              </a:defRPr>
            </a:lvl4pPr>
            <a:lvl5pPr>
              <a:defRPr sz="1800" b="1">
                <a:solidFill>
                  <a:srgbClr val="7770AA"/>
                </a:solidFill>
              </a:defRPr>
            </a:lvl5pPr>
            <a:lvl6pPr>
              <a:defRPr sz="1800" b="1">
                <a:solidFill>
                  <a:srgbClr val="7770AA"/>
                </a:solidFill>
              </a:defRPr>
            </a:lvl6pPr>
            <a:lvl7pPr>
              <a:defRPr sz="1800" b="1">
                <a:solidFill>
                  <a:srgbClr val="7770AA"/>
                </a:solidFill>
              </a:defRPr>
            </a:lvl7pPr>
            <a:lvl8pPr>
              <a:defRPr sz="1800" b="1">
                <a:solidFill>
                  <a:srgbClr val="7770AA"/>
                </a:solidFill>
              </a:defRPr>
            </a:lvl8pPr>
            <a:lvl9pPr>
              <a:defRPr sz="1800" b="1">
                <a:solidFill>
                  <a:srgbClr val="7770AA"/>
                </a:solidFill>
              </a:defRPr>
            </a:lvl9pPr>
          </a:lstStyle>
          <a:p xmlns:a="http://schemas.openxmlformats.org/drawingml/2006/main">
            <a:pPr>
              <a:defRPr sz="1800" b="1">
                <a:solidFill>
                  <a:srgbClr val="7770AA"/>
                </a:solidFill>
              </a:defRPr>
            </a:pPr>
            <a:r>
              <a:rPr sz="1800" b="1">
                <a:solidFill>
                  <a:srgbClr val="7770AA"/>
                </a:solidFill>
              </a:rPr>
              <a:t>AI suggests. People confirm. Every financial benefit needs a record.</a:t>
            </a:r>
          </a:p>
        </p:txBody>
      </p:sp>
    </p:spTree>
    <p:extLst>
      <p:ext uri="{BB962C8B-B14F-4D97-AF65-F5344CB8AC3E}">
        <p14:creationId xmlns:p14="http://schemas.microsoft.com/office/powerpoint/2010/main" val="272980078"/>
      </p:ext>
    </p:extLst>
  </p:cSld>
</p:sld>
</file>

<file path=ppt/slides/slide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5E4CAC-60BB-4DBD-9F53-2B0F663A17FF}"/>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The resident journey</a:t>
            </a:r>
          </a:p>
        </p:txBody>
      </p:sp>
      <p:sp>
        <p:nvSpPr>
          <p:cNvPr id="3" name="">
            <a:extLst xmlns:a="http://schemas.openxmlformats.org/drawingml/2006/main">
              <a:ext uri="{FF2B5EF4-FFF2-40B4-BE49-F238E27FC236}">
                <a16:creationId xmlns:a16="http://schemas.microsoft.com/office/drawing/2014/main" id="{9A562EF7-8E13-45B4-BF33-9CA352C41CDE}"/>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A short flow, from the camera to the collection receipt.</a:t>
            </a:r>
          </a:p>
        </p:txBody>
      </p:sp>
      <p:sp>
        <p:nvSpPr>
          <p:cNvPr id="4" name="">
            <a:extLst xmlns:a="http://schemas.openxmlformats.org/drawingml/2006/main">
              <a:ext uri="{FF2B5EF4-FFF2-40B4-BE49-F238E27FC236}">
                <a16:creationId xmlns:a16="http://schemas.microsoft.com/office/drawing/2014/main" id="{C7BC979D-E824-4891-91EB-3CB2EF9D1D35}"/>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06</a:t>
            </a:r>
          </a:p>
        </p:txBody>
      </p:sp>
      <p:sp>
        <p:nvSpPr>
          <p:cNvPr id="5" name="">
            <a:extLst xmlns:a="http://schemas.openxmlformats.org/drawingml/2006/main">
              <a:ext uri="{FF2B5EF4-FFF2-40B4-BE49-F238E27FC236}">
                <a16:creationId xmlns:a16="http://schemas.microsoft.com/office/drawing/2014/main" id="{C168445F-8FFA-49CD-85BB-6E5866778D0A}"/>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01  Scan and confirm</a:t>
            </a:r>
          </a:p>
        </p:txBody>
      </p:sp>
      <p:sp>
        <p:nvSpPr>
          <p:cNvPr id="6" name="">
            <a:extLst xmlns:a="http://schemas.openxmlformats.org/drawingml/2006/main">
              <a:ext uri="{FF2B5EF4-FFF2-40B4-BE49-F238E27FC236}">
                <a16:creationId xmlns:a16="http://schemas.microsoft.com/office/drawing/2014/main" id="{BF554150-088D-4D01-B0F7-F75D07B3A3D0}"/>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Use the phone camera or a description. Correct the suggested items.</a:t>
            </a:r>
          </a:p>
        </p:txBody>
      </p:sp>
      <p:sp>
        <p:nvSpPr>
          <p:cNvPr id="7" name="">
            <a:extLst xmlns:a="http://schemas.openxmlformats.org/drawingml/2006/main">
              <a:ext uri="{FF2B5EF4-FFF2-40B4-BE49-F238E27FC236}">
                <a16:creationId xmlns:a16="http://schemas.microsoft.com/office/drawing/2014/main" id="{7B3C4E80-8C7D-4D1F-A7EA-561E761B70BF}"/>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02  Schedule</a:t>
            </a:r>
          </a:p>
        </p:txBody>
      </p:sp>
      <p:sp>
        <p:nvSpPr>
          <p:cNvPr id="8" name="">
            <a:extLst xmlns:a="http://schemas.openxmlformats.org/drawingml/2006/main">
              <a:ext uri="{FF2B5EF4-FFF2-40B4-BE49-F238E27FC236}">
                <a16:creationId xmlns:a16="http://schemas.microsoft.com/office/drawing/2014/main" id="{EF97666D-070A-49C5-AB2B-D7232143C7C4}"/>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Choose the address, date and time. Check the automatic fee.</a:t>
            </a:r>
          </a:p>
        </p:txBody>
      </p:sp>
      <p:sp>
        <p:nvSpPr>
          <p:cNvPr id="9" name="">
            <a:extLst xmlns:a="http://schemas.openxmlformats.org/drawingml/2006/main">
              <a:ext uri="{FF2B5EF4-FFF2-40B4-BE49-F238E27FC236}">
                <a16:creationId xmlns:a16="http://schemas.microsoft.com/office/drawing/2014/main" id="{02416CA1-E93F-4184-9D11-CE86346B7B0C}"/>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03  Review the receipt</a:t>
            </a:r>
          </a:p>
        </p:txBody>
      </p:sp>
      <p:sp>
        <p:nvSpPr>
          <p:cNvPr id="10" name="">
            <a:extLst xmlns:a="http://schemas.openxmlformats.org/drawingml/2006/main">
              <a:ext uri="{FF2B5EF4-FFF2-40B4-BE49-F238E27FC236}">
                <a16:creationId xmlns:a16="http://schemas.microsoft.com/office/drawing/2014/main" id="{FE21A286-96DE-4267-8BBB-7260455ACFF4}"/>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The helper weighs the waste. Accept the receipt or report a problem.</a:t>
            </a:r>
          </a:p>
        </p:txBody>
      </p:sp>
    </p:spTree>
    <p:extLst>
      <p:ext uri="{BB962C8B-B14F-4D97-AF65-F5344CB8AC3E}">
        <p14:creationId xmlns:p14="http://schemas.microsoft.com/office/powerpoint/2010/main" val="1723017534"/>
      </p:ext>
    </p:extLst>
  </p:cSld>
</p:sld>
</file>

<file path=ppt/slides/slide7.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4815A5-AA0B-40C8-908B-B9946558B760}"/>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The user keeps the final say</a:t>
            </a:r>
          </a:p>
        </p:txBody>
      </p:sp>
      <p:sp>
        <p:nvSpPr>
          <p:cNvPr id="3" name="">
            <a:extLst xmlns:a="http://schemas.openxmlformats.org/drawingml/2006/main">
              <a:ext uri="{FF2B5EF4-FFF2-40B4-BE49-F238E27FC236}">
                <a16:creationId xmlns:a16="http://schemas.microsoft.com/office/drawing/2014/main" id="{4FB78125-7DDA-4A14-AA2C-04E784DB9D18}"/>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A camera makes starting easier. Confirmation makes the record trustworthy.</a:t>
            </a:r>
          </a:p>
        </p:txBody>
      </p:sp>
      <p:sp>
        <p:nvSpPr>
          <p:cNvPr id="4" name="">
            <a:extLst xmlns:a="http://schemas.openxmlformats.org/drawingml/2006/main">
              <a:ext uri="{FF2B5EF4-FFF2-40B4-BE49-F238E27FC236}">
                <a16:creationId xmlns:a16="http://schemas.microsoft.com/office/drawing/2014/main" id="{4D95B856-2BFF-41EB-9725-E4ACEAE96E5B}"/>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07</a:t>
            </a:r>
          </a:p>
        </p:txBody>
      </p:sp>
      <p:sp>
        <p:nvSpPr>
          <p:cNvPr id="5" name="">
            <a:extLst xmlns:a="http://schemas.openxmlformats.org/drawingml/2006/main">
              <a:ext uri="{FF2B5EF4-FFF2-40B4-BE49-F238E27FC236}">
                <a16:creationId xmlns:a16="http://schemas.microsoft.com/office/drawing/2014/main" id="{FAB64830-B124-43D6-A92D-E828A5AA193B}"/>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What the app does</a:t>
            </a:r>
          </a:p>
        </p:txBody>
      </p:sp>
      <p:sp>
        <p:nvSpPr>
          <p:cNvPr id="6" name="">
            <a:extLst xmlns:a="http://schemas.openxmlformats.org/drawingml/2006/main">
              <a:ext uri="{FF2B5EF4-FFF2-40B4-BE49-F238E27FC236}">
                <a16:creationId xmlns:a16="http://schemas.microsoft.com/office/drawing/2014/main" id="{73835FFE-1784-4681-8399-500D706E717C}"/>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Suggests items and materials.</a:t>
            </a:r>
          </a:p>
          <a:p xmlns:a="http://schemas.openxmlformats.org/drawingml/2006/main">
            <a:pPr>
              <a:defRPr sz="1875" b="0">
                <a:solidFill>
                  <a:srgbClr val="66766D"/>
                </a:solidFill>
              </a:defRPr>
            </a:pPr>
            <a:r>
              <a:rPr sz="1875" b="0">
                <a:solidFill>
                  <a:srgbClr val="66766D"/>
                </a:solidFill>
              </a:rPr>
              <a:t>Reads visible labels with OCR.</a:t>
            </a:r>
          </a:p>
          <a:p xmlns:a="http://schemas.openxmlformats.org/drawingml/2006/main">
            <a:pPr>
              <a:defRPr sz="1875" b="0">
                <a:solidFill>
                  <a:srgbClr val="66766D"/>
                </a:solidFill>
              </a:defRPr>
            </a:pPr>
            <a:r>
              <a:rPr sz="1875" b="0">
                <a:solidFill>
                  <a:srgbClr val="66766D"/>
                </a:solidFill>
              </a:rPr>
              <a:t>Asks for clarification when needed.</a:t>
            </a:r>
          </a:p>
        </p:txBody>
      </p:sp>
      <p:sp>
        <p:nvSpPr>
          <p:cNvPr id="7" name="">
            <a:extLst xmlns:a="http://schemas.openxmlformats.org/drawingml/2006/main">
              <a:ext uri="{FF2B5EF4-FFF2-40B4-BE49-F238E27FC236}">
                <a16:creationId xmlns:a16="http://schemas.microsoft.com/office/drawing/2014/main" id="{48AF7718-8DE0-42BC-9315-0E87E3C451B5}"/>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What the resident controls</a:t>
            </a:r>
          </a:p>
        </p:txBody>
      </p:sp>
      <p:sp>
        <p:nvSpPr>
          <p:cNvPr id="8" name="">
            <a:extLst xmlns:a="http://schemas.openxmlformats.org/drawingml/2006/main">
              <a:ext uri="{FF2B5EF4-FFF2-40B4-BE49-F238E27FC236}">
                <a16:creationId xmlns:a16="http://schemas.microsoft.com/office/drawing/2014/main" id="{35A311F6-40B7-427B-A2CC-4BF44FEC1F1D}"/>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Removes a mistaken item.</a:t>
            </a:r>
          </a:p>
          <a:p xmlns:a="http://schemas.openxmlformats.org/drawingml/2006/main">
            <a:pPr>
              <a:defRPr sz="1875" b="0">
                <a:solidFill>
                  <a:srgbClr val="66766D"/>
                </a:solidFill>
              </a:defRPr>
            </a:pPr>
            <a:r>
              <a:rPr sz="1875" b="0">
                <a:solidFill>
                  <a:srgbClr val="66766D"/>
                </a:solidFill>
              </a:rPr>
              <a:t>Corrects mixed materials.</a:t>
            </a:r>
          </a:p>
          <a:p xmlns:a="http://schemas.openxmlformats.org/drawingml/2006/main">
            <a:pPr>
              <a:defRPr sz="1875" b="0">
                <a:solidFill>
                  <a:srgbClr val="66766D"/>
                </a:solidFill>
              </a:defRPr>
            </a:pPr>
            <a:r>
              <a:rPr sz="1875" b="0">
                <a:solidFill>
                  <a:srgbClr val="66766D"/>
                </a:solidFill>
              </a:rPr>
              <a:t>Confirms what will be collected.</a:t>
            </a:r>
          </a:p>
        </p:txBody>
      </p:sp>
      <p:sp>
        <p:nvSpPr>
          <p:cNvPr id="9" name="">
            <a:extLst xmlns:a="http://schemas.openxmlformats.org/drawingml/2006/main">
              <a:ext uri="{FF2B5EF4-FFF2-40B4-BE49-F238E27FC236}">
                <a16:creationId xmlns:a16="http://schemas.microsoft.com/office/drawing/2014/main" id="{BBB2B0A0-396B-4B35-9739-B90B6AB2C174}"/>
              </a:ext>
            </a:extLst>
          </p:cNvPr>
          <p:cNvSpPr>
            <a:spLocks xmlns:a="http://schemas.openxmlformats.org/drawingml/2006/main" noGrp="1"/>
          </p:cNvSpPr>
          <p:nvPr/>
        </p:nvSpPr>
        <p:spPr>
          <a:xfrm xmlns:a="http://schemas.openxmlformats.org/drawingml/2006/main">
            <a:off x="628650" y="55530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7770AA"/>
                </a:solidFill>
              </a:defRPr>
            </a:defPPr>
            <a:lvl1pPr>
              <a:defRPr sz="1800" b="1">
                <a:solidFill>
                  <a:srgbClr val="7770AA"/>
                </a:solidFill>
              </a:defRPr>
            </a:lvl1pPr>
            <a:lvl2pPr>
              <a:defRPr sz="1800" b="1">
                <a:solidFill>
                  <a:srgbClr val="7770AA"/>
                </a:solidFill>
              </a:defRPr>
            </a:lvl2pPr>
            <a:lvl3pPr>
              <a:defRPr sz="1800" b="1">
                <a:solidFill>
                  <a:srgbClr val="7770AA"/>
                </a:solidFill>
              </a:defRPr>
            </a:lvl3pPr>
            <a:lvl4pPr>
              <a:defRPr sz="1800" b="1">
                <a:solidFill>
                  <a:srgbClr val="7770AA"/>
                </a:solidFill>
              </a:defRPr>
            </a:lvl4pPr>
            <a:lvl5pPr>
              <a:defRPr sz="1800" b="1">
                <a:solidFill>
                  <a:srgbClr val="7770AA"/>
                </a:solidFill>
              </a:defRPr>
            </a:lvl5pPr>
            <a:lvl6pPr>
              <a:defRPr sz="1800" b="1">
                <a:solidFill>
                  <a:srgbClr val="7770AA"/>
                </a:solidFill>
              </a:defRPr>
            </a:lvl6pPr>
            <a:lvl7pPr>
              <a:defRPr sz="1800" b="1">
                <a:solidFill>
                  <a:srgbClr val="7770AA"/>
                </a:solidFill>
              </a:defRPr>
            </a:lvl7pPr>
            <a:lvl8pPr>
              <a:defRPr sz="1800" b="1">
                <a:solidFill>
                  <a:srgbClr val="7770AA"/>
                </a:solidFill>
              </a:defRPr>
            </a:lvl8pPr>
            <a:lvl9pPr>
              <a:defRPr sz="1800" b="1">
                <a:solidFill>
                  <a:srgbClr val="7770AA"/>
                </a:solidFill>
              </a:defRPr>
            </a:lvl9pPr>
          </a:lstStyle>
          <a:p xmlns:a="http://schemas.openxmlformats.org/drawingml/2006/main">
            <a:pPr>
              <a:defRPr sz="1800" b="1">
                <a:solidFill>
                  <a:srgbClr val="7770AA"/>
                </a:solidFill>
              </a:defRPr>
            </a:pPr>
            <a:r>
              <a:rPr sz="1800" b="1">
                <a:solidFill>
                  <a:srgbClr val="7770AA"/>
                </a:solidFill>
              </a:rPr>
              <a:t>Photographs do not establish weight or safe handling.</a:t>
            </a:r>
          </a:p>
        </p:txBody>
      </p:sp>
    </p:spTree>
    <p:extLst>
      <p:ext uri="{BB962C8B-B14F-4D97-AF65-F5344CB8AC3E}">
        <p14:creationId xmlns:p14="http://schemas.microsoft.com/office/powerpoint/2010/main" val="1156551267"/>
      </p:ext>
    </p:extLst>
  </p:cSld>
</p:sld>
</file>

<file path=ppt/slides/slide8.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223D92B-1FDF-41D7-AF06-BD1E825D3A6A}"/>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One mixed-waste example</a:t>
            </a:r>
          </a:p>
        </p:txBody>
      </p:sp>
      <p:sp>
        <p:nvSpPr>
          <p:cNvPr id="3" name="">
            <a:extLst xmlns:a="http://schemas.openxmlformats.org/drawingml/2006/main">
              <a:ext uri="{FF2B5EF4-FFF2-40B4-BE49-F238E27FC236}">
                <a16:creationId xmlns:a16="http://schemas.microsoft.com/office/drawing/2014/main" id="{23D9F222-B0C2-4B66-9727-2AFEA4A1E72C}"/>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Illustrative journey, not a recorded customer collection.</a:t>
            </a:r>
          </a:p>
        </p:txBody>
      </p:sp>
      <p:sp>
        <p:nvSpPr>
          <p:cNvPr id="4" name="">
            <a:extLst xmlns:a="http://schemas.openxmlformats.org/drawingml/2006/main">
              <a:ext uri="{FF2B5EF4-FFF2-40B4-BE49-F238E27FC236}">
                <a16:creationId xmlns:a16="http://schemas.microsoft.com/office/drawing/2014/main" id="{890FDDF5-0DF6-4544-BBF9-37C22AFBF2CA}"/>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08</a:t>
            </a:r>
          </a:p>
        </p:txBody>
      </p:sp>
      <p:sp>
        <p:nvSpPr>
          <p:cNvPr id="5" name="">
            <a:extLst xmlns:a="http://schemas.openxmlformats.org/drawingml/2006/main">
              <a:ext uri="{FF2B5EF4-FFF2-40B4-BE49-F238E27FC236}">
                <a16:creationId xmlns:a16="http://schemas.microsoft.com/office/drawing/2014/main" id="{CB23EBB0-116D-4EF4-BECA-0B50C1963778}"/>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Camera view</a:t>
            </a:r>
          </a:p>
        </p:txBody>
      </p:sp>
      <p:sp>
        <p:nvSpPr>
          <p:cNvPr id="6" name="">
            <a:extLst xmlns:a="http://schemas.openxmlformats.org/drawingml/2006/main">
              <a:ext uri="{FF2B5EF4-FFF2-40B4-BE49-F238E27FC236}">
                <a16:creationId xmlns:a16="http://schemas.microsoft.com/office/drawing/2014/main" id="{7F3B1DF6-4B86-43A0-ADA7-4417CE8CF528}"/>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Fruit scraps and a plastic food container appear together.</a:t>
            </a:r>
          </a:p>
        </p:txBody>
      </p:sp>
      <p:sp>
        <p:nvSpPr>
          <p:cNvPr id="7" name="">
            <a:extLst xmlns:a="http://schemas.openxmlformats.org/drawingml/2006/main">
              <a:ext uri="{FF2B5EF4-FFF2-40B4-BE49-F238E27FC236}">
                <a16:creationId xmlns:a16="http://schemas.microsoft.com/office/drawing/2014/main" id="{31C03C7F-8E63-463A-B87C-15119455F462}"/>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Resident review</a:t>
            </a:r>
          </a:p>
        </p:txBody>
      </p:sp>
      <p:sp>
        <p:nvSpPr>
          <p:cNvPr id="8" name="">
            <a:extLst xmlns:a="http://schemas.openxmlformats.org/drawingml/2006/main">
              <a:ext uri="{FF2B5EF4-FFF2-40B4-BE49-F238E27FC236}">
                <a16:creationId xmlns:a16="http://schemas.microsoft.com/office/drawing/2014/main" id="{702340A2-AF97-4102-AC81-1DBDABCB79B7}"/>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The resident confirms both and keeps the materials separate if possible.</a:t>
            </a:r>
          </a:p>
        </p:txBody>
      </p:sp>
      <p:sp>
        <p:nvSpPr>
          <p:cNvPr id="9" name="">
            <a:extLst xmlns:a="http://schemas.openxmlformats.org/drawingml/2006/main">
              <a:ext uri="{FF2B5EF4-FFF2-40B4-BE49-F238E27FC236}">
                <a16:creationId xmlns:a16="http://schemas.microsoft.com/office/drawing/2014/main" id="{CE1EA3F1-2C35-411A-A924-500132511983}"/>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Helper handover</a:t>
            </a:r>
          </a:p>
        </p:txBody>
      </p:sp>
      <p:sp>
        <p:nvSpPr>
          <p:cNvPr id="10" name="">
            <a:extLst xmlns:a="http://schemas.openxmlformats.org/drawingml/2006/main">
              <a:ext uri="{FF2B5EF4-FFF2-40B4-BE49-F238E27FC236}">
                <a16:creationId xmlns:a16="http://schemas.microsoft.com/office/drawing/2014/main" id="{10C0B542-C192-48BC-9FFF-9C0BEC6785D0}"/>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The helper checks the material, records scale readings and sends the receipt.</a:t>
            </a:r>
          </a:p>
        </p:txBody>
      </p:sp>
      <p:sp>
        <p:nvSpPr>
          <p:cNvPr id="11" name="">
            <a:extLst xmlns:a="http://schemas.openxmlformats.org/drawingml/2006/main">
              <a:ext uri="{FF2B5EF4-FFF2-40B4-BE49-F238E27FC236}">
                <a16:creationId xmlns:a16="http://schemas.microsoft.com/office/drawing/2014/main" id="{56343576-1B53-4CE8-9C54-191AECFDDCB4}"/>
              </a:ext>
            </a:extLst>
          </p:cNvPr>
          <p:cNvSpPr>
            <a:spLocks xmlns:a="http://schemas.openxmlformats.org/drawingml/2006/main" noGrp="1"/>
          </p:cNvSpPr>
          <p:nvPr/>
        </p:nvSpPr>
        <p:spPr>
          <a:xfrm xmlns:a="http://schemas.openxmlformats.org/drawingml/2006/main">
            <a:off x="628650" y="57435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7770AA"/>
                </a:solidFill>
              </a:defRPr>
            </a:defPPr>
            <a:lvl1pPr>
              <a:defRPr sz="1725" b="1">
                <a:solidFill>
                  <a:srgbClr val="7770AA"/>
                </a:solidFill>
              </a:defRPr>
            </a:lvl1pPr>
            <a:lvl2pPr>
              <a:defRPr sz="1725" b="1">
                <a:solidFill>
                  <a:srgbClr val="7770AA"/>
                </a:solidFill>
              </a:defRPr>
            </a:lvl2pPr>
            <a:lvl3pPr>
              <a:defRPr sz="1725" b="1">
                <a:solidFill>
                  <a:srgbClr val="7770AA"/>
                </a:solidFill>
              </a:defRPr>
            </a:lvl3pPr>
            <a:lvl4pPr>
              <a:defRPr sz="1725" b="1">
                <a:solidFill>
                  <a:srgbClr val="7770AA"/>
                </a:solidFill>
              </a:defRPr>
            </a:lvl4pPr>
            <a:lvl5pPr>
              <a:defRPr sz="1725" b="1">
                <a:solidFill>
                  <a:srgbClr val="7770AA"/>
                </a:solidFill>
              </a:defRPr>
            </a:lvl5pPr>
            <a:lvl6pPr>
              <a:defRPr sz="1725" b="1">
                <a:solidFill>
                  <a:srgbClr val="7770AA"/>
                </a:solidFill>
              </a:defRPr>
            </a:lvl6pPr>
            <a:lvl7pPr>
              <a:defRPr sz="1725" b="1">
                <a:solidFill>
                  <a:srgbClr val="7770AA"/>
                </a:solidFill>
              </a:defRPr>
            </a:lvl7pPr>
            <a:lvl8pPr>
              <a:defRPr sz="1725" b="1">
                <a:solidFill>
                  <a:srgbClr val="7770AA"/>
                </a:solidFill>
              </a:defRPr>
            </a:lvl8pPr>
            <a:lvl9pPr>
              <a:defRPr sz="1725" b="1">
                <a:solidFill>
                  <a:srgbClr val="7770AA"/>
                </a:solidFill>
              </a:defRPr>
            </a:lvl9pPr>
          </a:lstStyle>
          <a:p xmlns:a="http://schemas.openxmlformats.org/drawingml/2006/main">
            <a:pPr>
              <a:defRPr sz="1725" b="1">
                <a:solidFill>
                  <a:srgbClr val="7770AA"/>
                </a:solidFill>
              </a:defRPr>
            </a:pPr>
            <a:r>
              <a:rPr sz="1725" b="1">
                <a:solidFill>
                  <a:srgbClr val="7770AA"/>
                </a:solidFill>
              </a:rPr>
              <a:t>The app does not automatically treat the whole load as organic.</a:t>
            </a:r>
          </a:p>
        </p:txBody>
      </p:sp>
    </p:spTree>
    <p:extLst>
      <p:ext uri="{BB962C8B-B14F-4D97-AF65-F5344CB8AC3E}">
        <p14:creationId xmlns:p14="http://schemas.microsoft.com/office/powerpoint/2010/main" val="1214716371"/>
      </p:ext>
    </p:extLst>
  </p:cSld>
</p:sld>
</file>

<file path=ppt/slides/slide9.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9CF367F-F3AC-4798-A486-C5EF1E70872B}"/>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Where the collected waste goes</a:t>
            </a:r>
          </a:p>
        </p:txBody>
      </p:sp>
      <p:sp>
        <p:nvSpPr>
          <p:cNvPr id="3" name="">
            <a:extLst xmlns:a="http://schemas.openxmlformats.org/drawingml/2006/main">
              <a:ext uri="{FF2B5EF4-FFF2-40B4-BE49-F238E27FC236}">
                <a16:creationId xmlns:a16="http://schemas.microsoft.com/office/drawing/2014/main" id="{FE3CCCE4-5527-43F3-84EA-19D6B54A7EC0}"/>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The pilot needs agreed handovers with local processing partners.</a:t>
            </a:r>
          </a:p>
        </p:txBody>
      </p:sp>
      <p:sp>
        <p:nvSpPr>
          <p:cNvPr id="4" name="">
            <a:extLst xmlns:a="http://schemas.openxmlformats.org/drawingml/2006/main">
              <a:ext uri="{FF2B5EF4-FFF2-40B4-BE49-F238E27FC236}">
                <a16:creationId xmlns:a16="http://schemas.microsoft.com/office/drawing/2014/main" id="{1BD25A9E-FCBD-477E-B74A-7F2A8E9DA551}"/>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09</a:t>
            </a:r>
          </a:p>
        </p:txBody>
      </p:sp>
      <p:sp>
        <p:nvSpPr>
          <p:cNvPr id="5" name="">
            <a:extLst xmlns:a="http://schemas.openxmlformats.org/drawingml/2006/main">
              <a:ext uri="{FF2B5EF4-FFF2-40B4-BE49-F238E27FC236}">
                <a16:creationId xmlns:a16="http://schemas.microsoft.com/office/drawing/2014/main" id="{03AC90DC-1362-4BC1-8D93-8CC58A5DC768}"/>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Organic waste</a:t>
            </a:r>
          </a:p>
        </p:txBody>
      </p:sp>
      <p:sp>
        <p:nvSpPr>
          <p:cNvPr id="6" name="">
            <a:extLst xmlns:a="http://schemas.openxmlformats.org/drawingml/2006/main">
              <a:ext uri="{FF2B5EF4-FFF2-40B4-BE49-F238E27FC236}">
                <a16:creationId xmlns:a16="http://schemas.microsoft.com/office/drawing/2014/main" id="{F176E50E-612A-4B0F-AAFE-C73B48E123E4}"/>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Suitable clean organics go to an approved composting or biogas partner. The processor confirms what it accepts.</a:t>
            </a:r>
          </a:p>
        </p:txBody>
      </p:sp>
      <p:sp>
        <p:nvSpPr>
          <p:cNvPr id="7" name="">
            <a:extLst xmlns:a="http://schemas.openxmlformats.org/drawingml/2006/main">
              <a:ext uri="{FF2B5EF4-FFF2-40B4-BE49-F238E27FC236}">
                <a16:creationId xmlns:a16="http://schemas.microsoft.com/office/drawing/2014/main" id="{B0B46475-9BE3-41BA-B505-01A89E7A50CD}"/>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Dry materials</a:t>
            </a:r>
          </a:p>
        </p:txBody>
      </p:sp>
      <p:sp>
        <p:nvSpPr>
          <p:cNvPr id="8" name="">
            <a:extLst xmlns:a="http://schemas.openxmlformats.org/drawingml/2006/main">
              <a:ext uri="{FF2B5EF4-FFF2-40B4-BE49-F238E27FC236}">
                <a16:creationId xmlns:a16="http://schemas.microsoft.com/office/drawing/2014/main" id="{003888E5-781D-4F97-BA83-9AB7DC699FF6}"/>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Paper, plastic, glass and metal go to suitable recyclers after material checks.</a:t>
            </a:r>
          </a:p>
        </p:txBody>
      </p:sp>
      <p:sp>
        <p:nvSpPr>
          <p:cNvPr id="9" name="">
            <a:extLst xmlns:a="http://schemas.openxmlformats.org/drawingml/2006/main">
              <a:ext uri="{FF2B5EF4-FFF2-40B4-BE49-F238E27FC236}">
                <a16:creationId xmlns:a16="http://schemas.microsoft.com/office/drawing/2014/main" id="{E714ED67-D815-495D-8529-45BE4A801C6F}"/>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Special waste</a:t>
            </a:r>
          </a:p>
        </p:txBody>
      </p:sp>
      <p:sp>
        <p:nvSpPr>
          <p:cNvPr id="10" name="">
            <a:extLst xmlns:a="http://schemas.openxmlformats.org/drawingml/2006/main">
              <a:ext uri="{FF2B5EF4-FFF2-40B4-BE49-F238E27FC236}">
                <a16:creationId xmlns:a16="http://schemas.microsoft.com/office/drawing/2014/main" id="{8E94AA13-C37D-423C-B2DB-112F70A57E13}"/>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Batteries, hazardous items and unsuitable loads need a separate specialist arrangement.</a:t>
            </a:r>
          </a:p>
        </p:txBody>
      </p:sp>
      <p:sp>
        <p:nvSpPr>
          <p:cNvPr id="11" name="">
            <a:extLst xmlns:a="http://schemas.openxmlformats.org/drawingml/2006/main">
              <a:ext uri="{FF2B5EF4-FFF2-40B4-BE49-F238E27FC236}">
                <a16:creationId xmlns:a16="http://schemas.microsoft.com/office/drawing/2014/main" id="{185A6905-80EA-43E9-99FB-7E63A50AF4E2}"/>
              </a:ext>
            </a:extLst>
          </p:cNvPr>
          <p:cNvSpPr>
            <a:spLocks xmlns:a="http://schemas.openxmlformats.org/drawingml/2006/main" noGrp="1"/>
          </p:cNvSpPr>
          <p:nvPr/>
        </p:nvSpPr>
        <p:spPr>
          <a:xfrm xmlns:a="http://schemas.openxmlformats.org/drawingml/2006/main">
            <a:off x="628650" y="57626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770AA"/>
                </a:solidFill>
              </a:defRPr>
            </a:defPPr>
            <a:lvl1pPr>
              <a:defRPr sz="1650" b="1">
                <a:solidFill>
                  <a:srgbClr val="7770AA"/>
                </a:solidFill>
              </a:defRPr>
            </a:lvl1pPr>
            <a:lvl2pPr>
              <a:defRPr sz="1650" b="1">
                <a:solidFill>
                  <a:srgbClr val="7770AA"/>
                </a:solidFill>
              </a:defRPr>
            </a:lvl2pPr>
            <a:lvl3pPr>
              <a:defRPr sz="1650" b="1">
                <a:solidFill>
                  <a:srgbClr val="7770AA"/>
                </a:solidFill>
              </a:defRPr>
            </a:lvl3pPr>
            <a:lvl4pPr>
              <a:defRPr sz="1650" b="1">
                <a:solidFill>
                  <a:srgbClr val="7770AA"/>
                </a:solidFill>
              </a:defRPr>
            </a:lvl4pPr>
            <a:lvl5pPr>
              <a:defRPr sz="1650" b="1">
                <a:solidFill>
                  <a:srgbClr val="7770AA"/>
                </a:solidFill>
              </a:defRPr>
            </a:lvl5pPr>
            <a:lvl6pPr>
              <a:defRPr sz="1650" b="1">
                <a:solidFill>
                  <a:srgbClr val="7770AA"/>
                </a:solidFill>
              </a:defRPr>
            </a:lvl6pPr>
            <a:lvl7pPr>
              <a:defRPr sz="1650" b="1">
                <a:solidFill>
                  <a:srgbClr val="7770AA"/>
                </a:solidFill>
              </a:defRPr>
            </a:lvl7pPr>
            <a:lvl8pPr>
              <a:defRPr sz="1650" b="1">
                <a:solidFill>
                  <a:srgbClr val="7770AA"/>
                </a:solidFill>
              </a:defRPr>
            </a:lvl8pPr>
            <a:lvl9pPr>
              <a:defRPr sz="1650" b="1">
                <a:solidFill>
                  <a:srgbClr val="7770AA"/>
                </a:solidFill>
              </a:defRPr>
            </a:lvl9pPr>
          </a:lstStyle>
          <a:p xmlns:a="http://schemas.openxmlformats.org/drawingml/2006/main">
            <a:pPr>
              <a:defRPr sz="1650" b="1">
                <a:solidFill>
                  <a:srgbClr val="7770AA"/>
                </a:solidFill>
              </a:defRPr>
            </a:pPr>
            <a:r>
              <a:rPr sz="1650" b="1">
                <a:solidFill>
                  <a:srgbClr val="7770AA"/>
                </a:solidFill>
              </a:rPr>
              <a:t>Recovery income and programme benefits require actual acceptance and payment records.</a:t>
            </a:r>
          </a:p>
        </p:txBody>
      </p:sp>
    </p:spTree>
    <p:extLst>
      <p:ext uri="{BB962C8B-B14F-4D97-AF65-F5344CB8AC3E}">
        <p14:creationId xmlns:p14="http://schemas.microsoft.com/office/powerpoint/2010/main" val="1382546621"/>
      </p:ext>
    </p:extLst>
  </p:cSld>
</p:sld>
</file>

<file path=ppt/slides/slide10.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6D8BB8D-A19E-4F1D-8B57-7AB6510F70A4}"/>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Plans for different collection needs</a:t>
            </a:r>
          </a:p>
        </p:txBody>
      </p:sp>
      <p:sp>
        <p:nvSpPr>
          <p:cNvPr id="3" name="">
            <a:extLst xmlns:a="http://schemas.openxmlformats.org/drawingml/2006/main">
              <a:ext uri="{FF2B5EF4-FFF2-40B4-BE49-F238E27FC236}">
                <a16:creationId xmlns:a16="http://schemas.microsoft.com/office/drawing/2014/main" id="{87585024-7BBB-4D8B-8306-A848958553E5}"/>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Current pilot prices. One-month passes have no automatic renewal.</a:t>
            </a:r>
          </a:p>
        </p:txBody>
      </p:sp>
      <p:sp>
        <p:nvSpPr>
          <p:cNvPr id="4" name="">
            <a:extLst xmlns:a="http://schemas.openxmlformats.org/drawingml/2006/main">
              <a:ext uri="{FF2B5EF4-FFF2-40B4-BE49-F238E27FC236}">
                <a16:creationId xmlns:a16="http://schemas.microsoft.com/office/drawing/2014/main" id="{9D89AC77-2613-4B3B-8BA2-BEF14EA91257}"/>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10</a:t>
            </a:r>
          </a:p>
        </p:txBody>
      </p:sp>
      <p:graphicFrame>
        <p:nvGraphicFramePr>
          <p:cNvPr id="5" name="">
            <a:extLst xmlns:a="http://schemas.openxmlformats.org/drawingml/2006/main">
              <a:ext uri="{FF2B5EF4-FFF2-40B4-BE49-F238E27FC236}">
                <a16:creationId xmlns:a16="http://schemas.microsoft.com/office/drawing/2014/main" id="{17463369-7C48-46D7-B8A3-F3756D729240}"/>
              </a:ext>
            </a:extLst>
          </p:cNvPr>
          <p:cNvGraphicFramePr/>
          <p:nvPr/>
        </p:nvGraphicFramePr>
        <p:xfrm>
          <a:off xmlns:a="http://schemas.openxmlformats.org/drawingml/2006/main" x="628650" y="2362200"/>
          <a:ext xmlns:a="http://schemas.openxmlformats.org/drawingml/2006/main" cx="10934700" cy="3333750"/>
        </p:xfrm>
        <a:graphic xmlns:a="http://schemas.openxmlformats.org/drawingml/2006/main">
          <a:graphicData uri="http://schemas.openxmlformats.org/drawingml/2006/table">
            <a:tbl>
              <a:tblPr/>
              <a:tblGrid>
                <a:gridCol w="2952750"/>
                <a:gridCol w="2571750"/>
                <a:gridCol w="2705100"/>
                <a:gridCol w="2705100"/>
              </a:tblGrid>
              <a:tr h="476250">
                <a:tc>
                  <a:txBody>
                    <a:bodyPr/>
                    <a:lstStyle/>
                    <a:p>
                      <a:r>
                        <a:rPr sz="1575" b="1">
                          <a:solidFill>
                            <a:srgbClr val="FFFFFF"/>
                          </a:solidFill>
                          <a:latin typeface="Arial"/>
                          <a:ea typeface="Arial"/>
                          <a:cs typeface="Arial"/>
                        </a:rPr>
                        <a:t/>
                      </a:r>
                    </a:p>
                  </a:txBody>
                  <a:tcPr marL="91440" marR="91440" marT="45720" marB="45720">
                    <a:solidFill>
                      <a:srgbClr val="173F30"/>
                    </a:solidFill>
                  </a:tcPr>
                </a:tc>
                <a:tc>
                  <a:txBody>
                    <a:bodyPr/>
                    <a:lstStyle/>
                    <a:p>
                      <a:r>
                        <a:rPr sz="1575" b="1">
                          <a:solidFill>
                            <a:srgbClr val="FFFFFF"/>
                          </a:solidFill>
                          <a:latin typeface="Arial"/>
                          <a:ea typeface="Arial"/>
                          <a:cs typeface="Arial"/>
                        </a:rPr>
                        <a:t>Basic</a:t>
                      </a:r>
                    </a:p>
                  </a:txBody>
                  <a:tcPr marL="91440" marR="91440" marT="45720" marB="45720">
                    <a:solidFill>
                      <a:srgbClr val="173F30"/>
                    </a:solidFill>
                  </a:tcPr>
                </a:tc>
                <a:tc>
                  <a:txBody>
                    <a:bodyPr/>
                    <a:lstStyle/>
                    <a:p>
                      <a:r>
                        <a:rPr sz="1575" b="1">
                          <a:solidFill>
                            <a:srgbClr val="FFFFFF"/>
                          </a:solidFill>
                          <a:latin typeface="Arial"/>
                          <a:ea typeface="Arial"/>
                          <a:cs typeface="Arial"/>
                        </a:rPr>
                        <a:t>Gold</a:t>
                      </a:r>
                    </a:p>
                  </a:txBody>
                  <a:tcPr marL="91440" marR="91440" marT="45720" marB="45720">
                    <a:solidFill>
                      <a:srgbClr val="173F30"/>
                    </a:solidFill>
                  </a:tcPr>
                </a:tc>
                <a:tc>
                  <a:txBody>
                    <a:bodyPr/>
                    <a:lstStyle/>
                    <a:p>
                      <a:r>
                        <a:rPr sz="1575" b="1">
                          <a:solidFill>
                            <a:srgbClr val="FFFFFF"/>
                          </a:solidFill>
                          <a:latin typeface="Arial"/>
                          <a:ea typeface="Arial"/>
                          <a:cs typeface="Arial"/>
                        </a:rPr>
                        <a:t>Platinum</a:t>
                      </a:r>
                    </a:p>
                  </a:txBody>
                  <a:tcPr marL="91440" marR="91440" marT="45720" marB="45720">
                    <a:solidFill>
                      <a:srgbClr val="173F30"/>
                    </a:solidFill>
                  </a:tcPr>
                </a:tc>
              </a:tr>
              <a:tr h="476250">
                <a:tc>
                  <a:txBody>
                    <a:bodyPr/>
                    <a:lstStyle/>
                    <a:p>
                      <a:r>
                        <a:rPr sz="1575" b="1">
                          <a:solidFill>
                            <a:srgbClr val="173F30"/>
                          </a:solidFill>
                          <a:latin typeface="Arial"/>
                          <a:ea typeface="Arial"/>
                          <a:cs typeface="Arial"/>
                        </a:rPr>
                        <a:t>Price</a:t>
                      </a:r>
                    </a:p>
                  </a:txBody>
                  <a:tcPr marL="91440" marR="91440" marT="45720" marB="45720">
                    <a:solidFill>
                      <a:srgbClr val="FFFFFF"/>
                    </a:solidFill>
                  </a:tcPr>
                </a:tc>
                <a:tc>
                  <a:txBody>
                    <a:bodyPr/>
                    <a:lstStyle/>
                    <a:p>
                      <a:r>
                        <a:rPr sz="1575" b="0">
                          <a:solidFill>
                            <a:srgbClr val="173F30"/>
                          </a:solidFill>
                          <a:latin typeface="Arial"/>
                          <a:ea typeface="Arial"/>
                          <a:cs typeface="Arial"/>
                        </a:rPr>
                        <a:t>₹10 / pickup</a:t>
                      </a:r>
                    </a:p>
                  </a:txBody>
                  <a:tcPr marL="91440" marR="91440" marT="45720" marB="45720">
                    <a:solidFill>
                      <a:srgbClr val="FFFFFF"/>
                    </a:solidFill>
                  </a:tcPr>
                </a:tc>
                <a:tc>
                  <a:txBody>
                    <a:bodyPr/>
                    <a:lstStyle/>
                    <a:p>
                      <a:r>
                        <a:rPr sz="1575" b="0">
                          <a:solidFill>
                            <a:srgbClr val="173F30"/>
                          </a:solidFill>
                          <a:latin typeface="Arial"/>
                          <a:ea typeface="Arial"/>
                          <a:cs typeface="Arial"/>
                        </a:rPr>
                        <a:t>₹399 / month</a:t>
                      </a:r>
                    </a:p>
                  </a:txBody>
                  <a:tcPr marL="91440" marR="91440" marT="45720" marB="45720">
                    <a:solidFill>
                      <a:srgbClr val="FFFFFF"/>
                    </a:solidFill>
                  </a:tcPr>
                </a:tc>
                <a:tc>
                  <a:txBody>
                    <a:bodyPr/>
                    <a:lstStyle/>
                    <a:p>
                      <a:r>
                        <a:rPr sz="1575" b="0">
                          <a:solidFill>
                            <a:srgbClr val="173F30"/>
                          </a:solidFill>
                          <a:latin typeface="Arial"/>
                          <a:ea typeface="Arial"/>
                          <a:cs typeface="Arial"/>
                        </a:rPr>
                        <a:t>₹469 / month</a:t>
                      </a:r>
                    </a:p>
                  </a:txBody>
                  <a:tcPr marL="91440" marR="91440" marT="45720" marB="45720">
                    <a:solidFill>
                      <a:srgbClr val="FFFFFF"/>
                    </a:solidFill>
                  </a:tcPr>
                </a:tc>
              </a:tr>
              <a:tr h="476250">
                <a:tc>
                  <a:txBody>
                    <a:bodyPr/>
                    <a:lstStyle/>
                    <a:p>
                      <a:r>
                        <a:rPr sz="1575" b="1">
                          <a:solidFill>
                            <a:srgbClr val="173F30"/>
                          </a:solidFill>
                          <a:latin typeface="Arial"/>
                          <a:ea typeface="Arial"/>
                          <a:cs typeface="Arial"/>
                        </a:rPr>
                        <a:t>Included pickups</a:t>
                      </a:r>
                    </a:p>
                  </a:txBody>
                  <a:tcPr marL="91440" marR="91440" marT="45720" marB="45720">
                    <a:solidFill>
                      <a:srgbClr val="DFE9D5"/>
                    </a:solidFill>
                  </a:tcPr>
                </a:tc>
                <a:tc>
                  <a:txBody>
                    <a:bodyPr/>
                    <a:lstStyle/>
                    <a:p>
                      <a:r>
                        <a:rPr sz="1575" b="0">
                          <a:solidFill>
                            <a:srgbClr val="173F30"/>
                          </a:solidFill>
                          <a:latin typeface="Arial"/>
                          <a:ea typeface="Arial"/>
                          <a:cs typeface="Arial"/>
                        </a:rPr>
                        <a:t>1</a:t>
                      </a:r>
                    </a:p>
                  </a:txBody>
                  <a:tcPr marL="91440" marR="91440" marT="45720" marB="45720">
                    <a:solidFill>
                      <a:srgbClr val="DFE9D5"/>
                    </a:solidFill>
                  </a:tcPr>
                </a:tc>
                <a:tc>
                  <a:txBody>
                    <a:bodyPr/>
                    <a:lstStyle/>
                    <a:p>
                      <a:r>
                        <a:rPr sz="1575" b="0">
                          <a:solidFill>
                            <a:srgbClr val="173F30"/>
                          </a:solidFill>
                          <a:latin typeface="Arial"/>
                          <a:ea typeface="Arial"/>
                          <a:cs typeface="Arial"/>
                        </a:rPr>
                        <a:t>14</a:t>
                      </a:r>
                    </a:p>
                  </a:txBody>
                  <a:tcPr marL="91440" marR="91440" marT="45720" marB="45720">
                    <a:solidFill>
                      <a:srgbClr val="DFE9D5"/>
                    </a:solidFill>
                  </a:tcPr>
                </a:tc>
                <a:tc>
                  <a:txBody>
                    <a:bodyPr/>
                    <a:lstStyle/>
                    <a:p>
                      <a:r>
                        <a:rPr sz="1575" b="0">
                          <a:solidFill>
                            <a:srgbClr val="173F30"/>
                          </a:solidFill>
                          <a:latin typeface="Arial"/>
                          <a:ea typeface="Arial"/>
                          <a:cs typeface="Arial"/>
                        </a:rPr>
                        <a:t>24</a:t>
                      </a:r>
                    </a:p>
                  </a:txBody>
                  <a:tcPr marL="91440" marR="91440" marT="45720" marB="45720">
                    <a:solidFill>
                      <a:srgbClr val="DFE9D5"/>
                    </a:solidFill>
                  </a:tcPr>
                </a:tc>
              </a:tr>
              <a:tr h="476250">
                <a:tc>
                  <a:txBody>
                    <a:bodyPr/>
                    <a:lstStyle/>
                    <a:p>
                      <a:r>
                        <a:rPr sz="1575" b="1">
                          <a:solidFill>
                            <a:srgbClr val="173F30"/>
                          </a:solidFill>
                          <a:latin typeface="Arial"/>
                          <a:ea typeface="Arial"/>
                          <a:cs typeface="Arial"/>
                        </a:rPr>
                        <a:t>Per pickup limit</a:t>
                      </a:r>
                    </a:p>
                  </a:txBody>
                  <a:tcPr marL="91440" marR="91440" marT="45720" marB="45720">
                    <a:solidFill>
                      <a:srgbClr val="FFFFFF"/>
                    </a:solidFill>
                  </a:tcPr>
                </a:tc>
                <a:tc>
                  <a:txBody>
                    <a:bodyPr/>
                    <a:lstStyle/>
                    <a:p>
                      <a:r>
                        <a:rPr sz="1575" b="0">
                          <a:solidFill>
                            <a:srgbClr val="173F30"/>
                          </a:solidFill>
                          <a:latin typeface="Arial"/>
                          <a:ea typeface="Arial"/>
                          <a:cs typeface="Arial"/>
                        </a:rPr>
                        <a:t>2 kg</a:t>
                      </a:r>
                    </a:p>
                  </a:txBody>
                  <a:tcPr marL="91440" marR="91440" marT="45720" marB="45720">
                    <a:solidFill>
                      <a:srgbClr val="FFFFFF"/>
                    </a:solidFill>
                  </a:tcPr>
                </a:tc>
                <a:tc>
                  <a:txBody>
                    <a:bodyPr/>
                    <a:lstStyle/>
                    <a:p>
                      <a:r>
                        <a:rPr sz="1575" b="0">
                          <a:solidFill>
                            <a:srgbClr val="173F30"/>
                          </a:solidFill>
                          <a:latin typeface="Arial"/>
                          <a:ea typeface="Arial"/>
                          <a:cs typeface="Arial"/>
                        </a:rPr>
                        <a:t>8 kg</a:t>
                      </a:r>
                    </a:p>
                  </a:txBody>
                  <a:tcPr marL="91440" marR="91440" marT="45720" marB="45720">
                    <a:solidFill>
                      <a:srgbClr val="FFFFFF"/>
                    </a:solidFill>
                  </a:tcPr>
                </a:tc>
                <a:tc>
                  <a:txBody>
                    <a:bodyPr/>
                    <a:lstStyle/>
                    <a:p>
                      <a:r>
                        <a:rPr sz="1575" b="0">
                          <a:solidFill>
                            <a:srgbClr val="173F30"/>
                          </a:solidFill>
                          <a:latin typeface="Arial"/>
                          <a:ea typeface="Arial"/>
                          <a:cs typeface="Arial"/>
                        </a:rPr>
                        <a:t>10 kg</a:t>
                      </a:r>
                    </a:p>
                  </a:txBody>
                  <a:tcPr marL="91440" marR="91440" marT="45720" marB="45720">
                    <a:solidFill>
                      <a:srgbClr val="FFFFFF"/>
                    </a:solidFill>
                  </a:tcPr>
                </a:tc>
              </a:tr>
              <a:tr h="476250">
                <a:tc>
                  <a:txBody>
                    <a:bodyPr/>
                    <a:lstStyle/>
                    <a:p>
                      <a:r>
                        <a:rPr sz="1575" b="1">
                          <a:solidFill>
                            <a:srgbClr val="173F30"/>
                          </a:solidFill>
                          <a:latin typeface="Arial"/>
                          <a:ea typeface="Arial"/>
                          <a:cs typeface="Arial"/>
                        </a:rPr>
                        <a:t>Monthly allowance</a:t>
                      </a:r>
                    </a:p>
                  </a:txBody>
                  <a:tcPr marL="91440" marR="91440" marT="45720" marB="45720">
                    <a:solidFill>
                      <a:srgbClr val="DFE9D5"/>
                    </a:solidFill>
                  </a:tcPr>
                </a:tc>
                <a:tc>
                  <a:txBody>
                    <a:bodyPr/>
                    <a:lstStyle/>
                    <a:p>
                      <a:r>
                        <a:rPr sz="1575" b="0">
                          <a:solidFill>
                            <a:srgbClr val="173F30"/>
                          </a:solidFill>
                          <a:latin typeface="Arial"/>
                          <a:ea typeface="Arial"/>
                          <a:cs typeface="Arial"/>
                        </a:rPr>
                        <a:t>Pay per pickup</a:t>
                      </a:r>
                    </a:p>
                  </a:txBody>
                  <a:tcPr marL="91440" marR="91440" marT="45720" marB="45720">
                    <a:solidFill>
                      <a:srgbClr val="DFE9D5"/>
                    </a:solidFill>
                  </a:tcPr>
                </a:tc>
                <a:tc>
                  <a:txBody>
                    <a:bodyPr/>
                    <a:lstStyle/>
                    <a:p>
                      <a:r>
                        <a:rPr sz="1575" b="0">
                          <a:solidFill>
                            <a:srgbClr val="173F30"/>
                          </a:solidFill>
                          <a:latin typeface="Arial"/>
                          <a:ea typeface="Arial"/>
                          <a:cs typeface="Arial"/>
                        </a:rPr>
                        <a:t>112 kg</a:t>
                      </a:r>
                    </a:p>
                  </a:txBody>
                  <a:tcPr marL="91440" marR="91440" marT="45720" marB="45720">
                    <a:solidFill>
                      <a:srgbClr val="DFE9D5"/>
                    </a:solidFill>
                  </a:tcPr>
                </a:tc>
                <a:tc>
                  <a:txBody>
                    <a:bodyPr/>
                    <a:lstStyle/>
                    <a:p>
                      <a:r>
                        <a:rPr sz="1575" b="0">
                          <a:solidFill>
                            <a:srgbClr val="173F30"/>
                          </a:solidFill>
                          <a:latin typeface="Arial"/>
                          <a:ea typeface="Arial"/>
                          <a:cs typeface="Arial"/>
                        </a:rPr>
                        <a:t>240 kg</a:t>
                      </a:r>
                    </a:p>
                  </a:txBody>
                  <a:tcPr marL="91440" marR="91440" marT="45720" marB="45720">
                    <a:solidFill>
                      <a:srgbClr val="DFE9D5"/>
                    </a:solidFill>
                  </a:tcPr>
                </a:tc>
              </a:tr>
              <a:tr h="476250">
                <a:tc>
                  <a:txBody>
                    <a:bodyPr/>
                    <a:lstStyle/>
                    <a:p>
                      <a:r>
                        <a:rPr sz="1575" b="1">
                          <a:solidFill>
                            <a:srgbClr val="173F30"/>
                          </a:solidFill>
                          <a:latin typeface="Arial"/>
                          <a:ea typeface="Arial"/>
                          <a:cs typeface="Arial"/>
                        </a:rPr>
                        <a:t>Segregation</a:t>
                      </a:r>
                    </a:p>
                  </a:txBody>
                  <a:tcPr marL="91440" marR="91440" marT="45720" marB="45720">
                    <a:solidFill>
                      <a:srgbClr val="FFFFFF"/>
                    </a:solidFill>
                  </a:tcPr>
                </a:tc>
                <a:tc>
                  <a:txBody>
                    <a:bodyPr/>
                    <a:lstStyle/>
                    <a:p>
                      <a:r>
                        <a:rPr sz="1575" b="0">
                          <a:solidFill>
                            <a:srgbClr val="173F30"/>
                          </a:solidFill>
                          <a:latin typeface="Arial"/>
                          <a:ea typeface="Arial"/>
                          <a:cs typeface="Arial"/>
                        </a:rPr>
                        <a:t>₹5/kg if mixed</a:t>
                      </a:r>
                    </a:p>
                  </a:txBody>
                  <a:tcPr marL="91440" marR="91440" marT="45720" marB="45720">
                    <a:solidFill>
                      <a:srgbClr val="FFFFFF"/>
                    </a:solidFill>
                  </a:tcPr>
                </a:tc>
                <a:tc>
                  <a:txBody>
                    <a:bodyPr/>
                    <a:lstStyle/>
                    <a:p>
                      <a:r>
                        <a:rPr sz="1575" b="0">
                          <a:solidFill>
                            <a:srgbClr val="173F30"/>
                          </a:solidFill>
                          <a:latin typeface="Arial"/>
                          <a:ea typeface="Arial"/>
                          <a:cs typeface="Arial"/>
                        </a:rPr>
                        <a:t>Included</a:t>
                      </a:r>
                    </a:p>
                  </a:txBody>
                  <a:tcPr marL="91440" marR="91440" marT="45720" marB="45720">
                    <a:solidFill>
                      <a:srgbClr val="FFFFFF"/>
                    </a:solidFill>
                  </a:tcPr>
                </a:tc>
                <a:tc>
                  <a:txBody>
                    <a:bodyPr/>
                    <a:lstStyle/>
                    <a:p>
                      <a:r>
                        <a:rPr sz="1575" b="0">
                          <a:solidFill>
                            <a:srgbClr val="173F30"/>
                          </a:solidFill>
                          <a:latin typeface="Arial"/>
                          <a:ea typeface="Arial"/>
                          <a:cs typeface="Arial"/>
                        </a:rPr>
                        <a:t>Included</a:t>
                      </a:r>
                    </a:p>
                  </a:txBody>
                  <a:tcPr marL="91440" marR="91440" marT="45720" marB="45720">
                    <a:solidFill>
                      <a:srgbClr val="FFFFFF"/>
                    </a:solidFill>
                  </a:tcPr>
                </a:tc>
              </a:tr>
              <a:tr h="476250">
                <a:tc>
                  <a:txBody>
                    <a:bodyPr/>
                    <a:lstStyle/>
                    <a:p>
                      <a:r>
                        <a:rPr sz="1575" b="1">
                          <a:solidFill>
                            <a:srgbClr val="173F30"/>
                          </a:solidFill>
                          <a:latin typeface="Arial"/>
                          <a:ea typeface="Arial"/>
                          <a:cs typeface="Arial"/>
                        </a:rPr>
                        <a:t>Resident recovery share</a:t>
                      </a:r>
                    </a:p>
                  </a:txBody>
                  <a:tcPr marL="91440" marR="91440" marT="45720" marB="45720">
                    <a:solidFill>
                      <a:srgbClr val="DFE9D5"/>
                    </a:solidFill>
                  </a:tcPr>
                </a:tc>
                <a:tc>
                  <a:txBody>
                    <a:bodyPr/>
                    <a:lstStyle/>
                    <a:p>
                      <a:r>
                        <a:rPr sz="1575" b="0">
                          <a:solidFill>
                            <a:srgbClr val="173F30"/>
                          </a:solidFill>
                          <a:latin typeface="Arial"/>
                          <a:ea typeface="Arial"/>
                          <a:cs typeface="Arial"/>
                        </a:rPr>
                        <a:t>0%</a:t>
                      </a:r>
                    </a:p>
                  </a:txBody>
                  <a:tcPr marL="91440" marR="91440" marT="45720" marB="45720">
                    <a:solidFill>
                      <a:srgbClr val="DFE9D5"/>
                    </a:solidFill>
                  </a:tcPr>
                </a:tc>
                <a:tc>
                  <a:txBody>
                    <a:bodyPr/>
                    <a:lstStyle/>
                    <a:p>
                      <a:r>
                        <a:rPr sz="1575" b="0">
                          <a:solidFill>
                            <a:srgbClr val="173F30"/>
                          </a:solidFill>
                          <a:latin typeface="Arial"/>
                          <a:ea typeface="Arial"/>
                          <a:cs typeface="Arial"/>
                        </a:rPr>
                        <a:t>10% of net</a:t>
                      </a:r>
                    </a:p>
                  </a:txBody>
                  <a:tcPr marL="91440" marR="91440" marT="45720" marB="45720">
                    <a:solidFill>
                      <a:srgbClr val="DFE9D5"/>
                    </a:solidFill>
                  </a:tcPr>
                </a:tc>
                <a:tc>
                  <a:txBody>
                    <a:bodyPr/>
                    <a:lstStyle/>
                    <a:p>
                      <a:r>
                        <a:rPr sz="1575" b="0">
                          <a:solidFill>
                            <a:srgbClr val="173F30"/>
                          </a:solidFill>
                          <a:latin typeface="Arial"/>
                          <a:ea typeface="Arial"/>
                          <a:cs typeface="Arial"/>
                        </a:rPr>
                        <a:t>15% of net</a:t>
                      </a:r>
                    </a:p>
                  </a:txBody>
                  <a:tcPr marL="91440" marR="91440" marT="45720" marB="45720">
                    <a:solidFill>
                      <a:srgbClr val="DFE9D5"/>
                    </a:solidFill>
                  </a:tcPr>
                </a:tc>
              </a:tr>
            </a:tbl>
          </a:graphicData>
        </a:graphic>
      </p:graphicFrame>
      <p:sp>
        <p:nvSpPr>
          <p:cNvPr id="6" name="">
            <a:extLst xmlns:a="http://schemas.openxmlformats.org/drawingml/2006/main">
              <a:ext uri="{FF2B5EF4-FFF2-40B4-BE49-F238E27FC236}">
                <a16:creationId xmlns:a16="http://schemas.microsoft.com/office/drawing/2014/main" id="{7B3A9C85-3196-4628-B7A3-0198D41CE6A9}"/>
              </a:ext>
            </a:extLst>
          </p:cNvPr>
          <p:cNvSpPr>
            <a:spLocks xmlns:a="http://schemas.openxmlformats.org/drawingml/2006/main" noGrp="1"/>
          </p:cNvSpPr>
          <p:nvPr/>
        </p:nvSpPr>
        <p:spPr>
          <a:xfrm xmlns:a="http://schemas.openxmlformats.org/drawingml/2006/main">
            <a:off x="628650" y="59055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6766D"/>
                </a:solidFill>
              </a:defRPr>
            </a:defPPr>
            <a:lvl1pPr>
              <a:defRPr sz="1425" b="0">
                <a:solidFill>
                  <a:srgbClr val="66766D"/>
                </a:solidFill>
              </a:defRPr>
            </a:lvl1pPr>
            <a:lvl2pPr>
              <a:defRPr sz="1425" b="0">
                <a:solidFill>
                  <a:srgbClr val="66766D"/>
                </a:solidFill>
              </a:defRPr>
            </a:lvl2pPr>
            <a:lvl3pPr>
              <a:defRPr sz="1425" b="0">
                <a:solidFill>
                  <a:srgbClr val="66766D"/>
                </a:solidFill>
              </a:defRPr>
            </a:lvl3pPr>
            <a:lvl4pPr>
              <a:defRPr sz="1425" b="0">
                <a:solidFill>
                  <a:srgbClr val="66766D"/>
                </a:solidFill>
              </a:defRPr>
            </a:lvl4pPr>
            <a:lvl5pPr>
              <a:defRPr sz="1425" b="0">
                <a:solidFill>
                  <a:srgbClr val="66766D"/>
                </a:solidFill>
              </a:defRPr>
            </a:lvl5pPr>
            <a:lvl6pPr>
              <a:defRPr sz="1425" b="0">
                <a:solidFill>
                  <a:srgbClr val="66766D"/>
                </a:solidFill>
              </a:defRPr>
            </a:lvl6pPr>
            <a:lvl7pPr>
              <a:defRPr sz="1425" b="0">
                <a:solidFill>
                  <a:srgbClr val="66766D"/>
                </a:solidFill>
              </a:defRPr>
            </a:lvl7pPr>
            <a:lvl8pPr>
              <a:defRPr sz="1425" b="0">
                <a:solidFill>
                  <a:srgbClr val="66766D"/>
                </a:solidFill>
              </a:defRPr>
            </a:lvl8pPr>
            <a:lvl9pPr>
              <a:defRPr sz="1425" b="0">
                <a:solidFill>
                  <a:srgbClr val="66766D"/>
                </a:solidFill>
              </a:defRPr>
            </a:lvl9pPr>
          </a:lstStyle>
          <a:p xmlns:a="http://schemas.openxmlformats.org/drawingml/2006/main">
            <a:pPr>
              <a:defRPr sz="1425" b="0">
                <a:solidFill>
                  <a:srgbClr val="66766D"/>
                </a:solidFill>
              </a:defRPr>
            </a:pPr>
            <a:r>
              <a:rPr sz="1425" b="0">
                <a:solidFill>
                  <a:srgbClr val="66766D"/>
                </a:solidFill>
              </a:rPr>
              <a:t>Metal counts toward limits. Specialist or hazardous waste needs separate handling.</a:t>
            </a:r>
          </a:p>
        </p:txBody>
      </p:sp>
    </p:spTree>
    <p:extLst>
      <p:ext uri="{BB962C8B-B14F-4D97-AF65-F5344CB8AC3E}">
        <p14:creationId xmlns:p14="http://schemas.microsoft.com/office/powerpoint/2010/main" val="840305231"/>
      </p:ext>
    </p:extLst>
  </p:cSld>
</p:sld>
</file>

<file path=ppt/slides/slide11.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A48C839-EBB3-45A5-85A5-9C533D38D0D8}"/>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Clear charges before and after weighing</a:t>
            </a:r>
          </a:p>
        </p:txBody>
      </p:sp>
      <p:sp>
        <p:nvSpPr>
          <p:cNvPr id="3" name="">
            <a:extLst xmlns:a="http://schemas.openxmlformats.org/drawingml/2006/main">
              <a:ext uri="{FF2B5EF4-FFF2-40B4-BE49-F238E27FC236}">
                <a16:creationId xmlns:a16="http://schemas.microsoft.com/office/drawing/2014/main" id="{C2FFA02D-F8DD-4D61-9A98-6096D1759EC8}"/>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Residents never have to guess the weight.</a:t>
            </a:r>
          </a:p>
        </p:txBody>
      </p:sp>
      <p:sp>
        <p:nvSpPr>
          <p:cNvPr id="4" name="">
            <a:extLst xmlns:a="http://schemas.openxmlformats.org/drawingml/2006/main">
              <a:ext uri="{FF2B5EF4-FFF2-40B4-BE49-F238E27FC236}">
                <a16:creationId xmlns:a16="http://schemas.microsoft.com/office/drawing/2014/main" id="{3B625FF9-823D-4DD6-B04B-5E450ABA81A4}"/>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11</a:t>
            </a:r>
          </a:p>
        </p:txBody>
      </p:sp>
      <p:sp>
        <p:nvSpPr>
          <p:cNvPr id="5" name="">
            <a:extLst xmlns:a="http://schemas.openxmlformats.org/drawingml/2006/main">
              <a:ext uri="{FF2B5EF4-FFF2-40B4-BE49-F238E27FC236}">
                <a16:creationId xmlns:a16="http://schemas.microsoft.com/office/drawing/2014/main" id="{28BDACFA-C611-47E5-9D47-AACE2FB1C0D5}"/>
              </a:ext>
            </a:extLst>
          </p:cNvPr>
          <p:cNvSpPr>
            <a:spLocks xmlns:a="http://schemas.openxmlformats.org/drawingml/2006/main" noGrp="1"/>
          </p:cNvSpPr>
          <p:nvPr/>
        </p:nvSpPr>
        <p:spPr>
          <a:xfrm xmlns:a="http://schemas.openxmlformats.org/drawingml/2006/main">
            <a:off x="628650" y="234315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Standard hours</a:t>
            </a:r>
          </a:p>
        </p:txBody>
      </p:sp>
      <p:sp>
        <p:nvSpPr>
          <p:cNvPr id="6" name="">
            <a:extLst xmlns:a="http://schemas.openxmlformats.org/drawingml/2006/main">
              <a:ext uri="{FF2B5EF4-FFF2-40B4-BE49-F238E27FC236}">
                <a16:creationId xmlns:a16="http://schemas.microsoft.com/office/drawing/2014/main" id="{B3DE69E4-DA4F-4FFC-91F1-62F8AEA7357E}"/>
              </a:ext>
            </a:extLst>
          </p:cNvPr>
          <p:cNvSpPr>
            <a:spLocks xmlns:a="http://schemas.openxmlformats.org/drawingml/2006/main" noGrp="1"/>
          </p:cNvSpPr>
          <p:nvPr/>
        </p:nvSpPr>
        <p:spPr>
          <a:xfrm xmlns:a="http://schemas.openxmlformats.org/drawingml/2006/main">
            <a:off x="3714750" y="234315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7 am to before 2 pm. No collection from 2 pm to 5 pm.</a:t>
            </a:r>
          </a:p>
        </p:txBody>
      </p:sp>
      <p:sp>
        <p:nvSpPr>
          <p:cNvPr id="7" name="">
            <a:extLst xmlns:a="http://schemas.openxmlformats.org/drawingml/2006/main">
              <a:ext uri="{FF2B5EF4-FFF2-40B4-BE49-F238E27FC236}">
                <a16:creationId xmlns:a16="http://schemas.microsoft.com/office/drawing/2014/main" id="{5A856358-026E-445A-9EEC-FA7AB0B58DC4}"/>
              </a:ext>
            </a:extLst>
          </p:cNvPr>
          <p:cNvSpPr>
            <a:spLocks xmlns:a="http://schemas.openxmlformats.org/drawingml/2006/main" noGrp="1"/>
          </p:cNvSpPr>
          <p:nvPr/>
        </p:nvSpPr>
        <p:spPr>
          <a:xfrm xmlns:a="http://schemas.openxmlformats.org/drawingml/2006/main">
            <a:off x="628650" y="33528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Evening hours</a:t>
            </a:r>
          </a:p>
        </p:txBody>
      </p:sp>
      <p:sp>
        <p:nvSpPr>
          <p:cNvPr id="8" name="">
            <a:extLst xmlns:a="http://schemas.openxmlformats.org/drawingml/2006/main">
              <a:ext uri="{FF2B5EF4-FFF2-40B4-BE49-F238E27FC236}">
                <a16:creationId xmlns:a16="http://schemas.microsoft.com/office/drawing/2014/main" id="{2BCB7CA6-2E7B-495E-8E1C-AA8B44976E49}"/>
              </a:ext>
            </a:extLst>
          </p:cNvPr>
          <p:cNvSpPr>
            <a:spLocks xmlns:a="http://schemas.openxmlformats.org/drawingml/2006/main" noGrp="1"/>
          </p:cNvSpPr>
          <p:nvPr/>
        </p:nvSpPr>
        <p:spPr>
          <a:xfrm xmlns:a="http://schemas.openxmlformats.org/drawingml/2006/main">
            <a:off x="3714750" y="33528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5 pm to 7 pm. A ₹5–₹7 surcharge depends on time, weight and sorting.</a:t>
            </a:r>
          </a:p>
        </p:txBody>
      </p:sp>
      <p:sp>
        <p:nvSpPr>
          <p:cNvPr id="9" name="">
            <a:extLst xmlns:a="http://schemas.openxmlformats.org/drawingml/2006/main">
              <a:ext uri="{FF2B5EF4-FFF2-40B4-BE49-F238E27FC236}">
                <a16:creationId xmlns:a16="http://schemas.microsoft.com/office/drawing/2014/main" id="{A6B0BF2E-18B2-481A-B92E-5713A0C65AD1}"/>
              </a:ext>
            </a:extLst>
          </p:cNvPr>
          <p:cNvSpPr>
            <a:spLocks xmlns:a="http://schemas.openxmlformats.org/drawingml/2006/main" noGrp="1"/>
          </p:cNvSpPr>
          <p:nvPr/>
        </p:nvSpPr>
        <p:spPr>
          <a:xfrm xmlns:a="http://schemas.openxmlformats.org/drawingml/2006/main">
            <a:off x="628650" y="436245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Mixed Basic waste</a:t>
            </a:r>
          </a:p>
        </p:txBody>
      </p:sp>
      <p:sp>
        <p:nvSpPr>
          <p:cNvPr id="10" name="">
            <a:extLst xmlns:a="http://schemas.openxmlformats.org/drawingml/2006/main">
              <a:ext uri="{FF2B5EF4-FFF2-40B4-BE49-F238E27FC236}">
                <a16:creationId xmlns:a16="http://schemas.microsoft.com/office/drawing/2014/main" id="{AAE0C4E4-C1D2-430E-979B-B2F429F19270}"/>
              </a:ext>
            </a:extLst>
          </p:cNvPr>
          <p:cNvSpPr>
            <a:spLocks xmlns:a="http://schemas.openxmlformats.org/drawingml/2006/main" noGrp="1"/>
          </p:cNvSpPr>
          <p:nvPr/>
        </p:nvSpPr>
        <p:spPr>
          <a:xfrm xmlns:a="http://schemas.openxmlformats.org/drawingml/2006/main">
            <a:off x="3714750" y="436245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₹5 per measured kg for segregation. Gold and Platinum include segregation.</a:t>
            </a:r>
          </a:p>
        </p:txBody>
      </p:sp>
      <p:sp>
        <p:nvSpPr>
          <p:cNvPr id="11" name="">
            <a:extLst xmlns:a="http://schemas.openxmlformats.org/drawingml/2006/main">
              <a:ext uri="{FF2B5EF4-FFF2-40B4-BE49-F238E27FC236}">
                <a16:creationId xmlns:a16="http://schemas.microsoft.com/office/drawing/2014/main" id="{765AB245-A686-4AED-868E-AEABD3D64A0F}"/>
              </a:ext>
            </a:extLst>
          </p:cNvPr>
          <p:cNvSpPr>
            <a:spLocks xmlns:a="http://schemas.openxmlformats.org/drawingml/2006/main" noGrp="1"/>
          </p:cNvSpPr>
          <p:nvPr/>
        </p:nvSpPr>
        <p:spPr>
          <a:xfrm xmlns:a="http://schemas.openxmlformats.org/drawingml/2006/main">
            <a:off x="628650" y="56864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7770AA"/>
                </a:solidFill>
              </a:defRPr>
            </a:defPPr>
            <a:lvl1pPr>
              <a:defRPr sz="1725" b="1">
                <a:solidFill>
                  <a:srgbClr val="7770AA"/>
                </a:solidFill>
              </a:defRPr>
            </a:lvl1pPr>
            <a:lvl2pPr>
              <a:defRPr sz="1725" b="1">
                <a:solidFill>
                  <a:srgbClr val="7770AA"/>
                </a:solidFill>
              </a:defRPr>
            </a:lvl2pPr>
            <a:lvl3pPr>
              <a:defRPr sz="1725" b="1">
                <a:solidFill>
                  <a:srgbClr val="7770AA"/>
                </a:solidFill>
              </a:defRPr>
            </a:lvl3pPr>
            <a:lvl4pPr>
              <a:defRPr sz="1725" b="1">
                <a:solidFill>
                  <a:srgbClr val="7770AA"/>
                </a:solidFill>
              </a:defRPr>
            </a:lvl4pPr>
            <a:lvl5pPr>
              <a:defRPr sz="1725" b="1">
                <a:solidFill>
                  <a:srgbClr val="7770AA"/>
                </a:solidFill>
              </a:defRPr>
            </a:lvl5pPr>
            <a:lvl6pPr>
              <a:defRPr sz="1725" b="1">
                <a:solidFill>
                  <a:srgbClr val="7770AA"/>
                </a:solidFill>
              </a:defRPr>
            </a:lvl6pPr>
            <a:lvl7pPr>
              <a:defRPr sz="1725" b="1">
                <a:solidFill>
                  <a:srgbClr val="7770AA"/>
                </a:solidFill>
              </a:defRPr>
            </a:lvl7pPr>
            <a:lvl8pPr>
              <a:defRPr sz="1725" b="1">
                <a:solidFill>
                  <a:srgbClr val="7770AA"/>
                </a:solidFill>
              </a:defRPr>
            </a:lvl8pPr>
            <a:lvl9pPr>
              <a:defRPr sz="1725" b="1">
                <a:solidFill>
                  <a:srgbClr val="7770AA"/>
                </a:solidFill>
              </a:defRPr>
            </a:lvl9pPr>
          </a:lstStyle>
          <a:p xmlns:a="http://schemas.openxmlformats.org/drawingml/2006/main">
            <a:pPr>
              <a:defRPr sz="1725" b="1">
                <a:solidFill>
                  <a:srgbClr val="7770AA"/>
                </a:solidFill>
              </a:defRPr>
            </a:pPr>
            <a:r>
              <a:rPr sz="1725" b="1">
                <a:solidFill>
                  <a:srgbClr val="7770AA"/>
                </a:solidFill>
              </a:rPr>
              <a:t>Example: 2 kg of mixed Basic waste at 10 am = ₹10 pickup + ₹10 sorting = ₹20.</a:t>
            </a:r>
          </a:p>
        </p:txBody>
      </p:sp>
    </p:spTree>
    <p:extLst>
      <p:ext uri="{BB962C8B-B14F-4D97-AF65-F5344CB8AC3E}">
        <p14:creationId xmlns:p14="http://schemas.microsoft.com/office/powerpoint/2010/main" val="542548608"/>
      </p:ext>
    </p:extLst>
  </p:cSld>
</p:sld>
</file>

<file path=ppt/slides/slide12.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0C7D1EA-E0A0-402A-88BB-0C6D28EEB88B}"/>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Helpers get a dedicated workspace</a:t>
            </a:r>
          </a:p>
        </p:txBody>
      </p:sp>
      <p:sp>
        <p:nvSpPr>
          <p:cNvPr id="3" name="">
            <a:extLst xmlns:a="http://schemas.openxmlformats.org/drawingml/2006/main">
              <a:ext uri="{FF2B5EF4-FFF2-40B4-BE49-F238E27FC236}">
                <a16:creationId xmlns:a16="http://schemas.microsoft.com/office/drawing/2014/main" id="{40A3585D-D3C5-4DE7-9DDE-56429BB6F70F}"/>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English and Hindi support the collection workflow.</a:t>
            </a:r>
          </a:p>
        </p:txBody>
      </p:sp>
      <p:sp>
        <p:nvSpPr>
          <p:cNvPr id="4" name="">
            <a:extLst xmlns:a="http://schemas.openxmlformats.org/drawingml/2006/main">
              <a:ext uri="{FF2B5EF4-FFF2-40B4-BE49-F238E27FC236}">
                <a16:creationId xmlns:a16="http://schemas.microsoft.com/office/drawing/2014/main" id="{C26C955B-03F3-4E30-8258-409C283D30E8}"/>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12</a:t>
            </a:r>
          </a:p>
        </p:txBody>
      </p:sp>
      <p:pic>
        <p:nvPicPr>
          <p:cNvPr id="5" name="">
            <a:extLst xmlns:a="http://schemas.openxmlformats.org/drawingml/2006/main">
              <a:ext uri="{FF2B5EF4-FFF2-40B4-BE49-F238E27FC236}">
                <a16:creationId xmlns:a16="http://schemas.microsoft.com/office/drawing/2014/main" id="{94DDA947-4576-42FC-B15E-9ADB378D446B}"/>
              </a:ext>
            </a:extLst>
          </p:cNvPr>
          <p:cNvPicPr>
            <a:picLocks xmlns:a="http://schemas.openxmlformats.org/drawingml/2006/main" noChangeAspect="1"/>
          </p:cNvPicPr>
          <p:nvPr/>
        </p:nvPicPr>
        <p:blipFill>
          <a:blip xmlns:r="http://schemas.openxmlformats.org/officeDocument/2006/relationships" xmlns:a="http://schemas.openxmlformats.org/drawingml/2006/main" r:embed="Rfd2e0410e6f045fe"/>
          <a:stretch xmlns:a="http://schemas.openxmlformats.org/drawingml/2006/main"/>
        </p:blipFill>
        <p:spPr>
          <a:xfrm xmlns:a="http://schemas.openxmlformats.org/drawingml/2006/main">
            <a:off x="6489123" y="2190750"/>
            <a:ext cx="4738255" cy="3619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D9A973E-B69D-4373-B09B-1A68F765961C}"/>
              </a:ext>
            </a:extLst>
          </p:cNvPr>
          <p:cNvSpPr>
            <a:spLocks xmlns:a="http://schemas.openxmlformats.org/drawingml/2006/main" noGrp="1"/>
          </p:cNvSpPr>
          <p:nvPr/>
        </p:nvSpPr>
        <p:spPr>
          <a:xfrm xmlns:a="http://schemas.openxmlformats.org/drawingml/2006/main">
            <a:off x="628650" y="247650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3F30"/>
                </a:solidFill>
              </a:defRPr>
            </a:defPPr>
            <a:lvl1pPr>
              <a:defRPr sz="2475" b="1">
                <a:solidFill>
                  <a:srgbClr val="173F30"/>
                </a:solidFill>
              </a:defRPr>
            </a:lvl1pPr>
            <a:lvl2pPr>
              <a:defRPr sz="2475" b="1">
                <a:solidFill>
                  <a:srgbClr val="173F30"/>
                </a:solidFill>
              </a:defRPr>
            </a:lvl2pPr>
            <a:lvl3pPr>
              <a:defRPr sz="2475" b="1">
                <a:solidFill>
                  <a:srgbClr val="173F30"/>
                </a:solidFill>
              </a:defRPr>
            </a:lvl3pPr>
            <a:lvl4pPr>
              <a:defRPr sz="2475" b="1">
                <a:solidFill>
                  <a:srgbClr val="173F30"/>
                </a:solidFill>
              </a:defRPr>
            </a:lvl4pPr>
            <a:lvl5pPr>
              <a:defRPr sz="2475" b="1">
                <a:solidFill>
                  <a:srgbClr val="173F30"/>
                </a:solidFill>
              </a:defRPr>
            </a:lvl5pPr>
            <a:lvl6pPr>
              <a:defRPr sz="2475" b="1">
                <a:solidFill>
                  <a:srgbClr val="173F30"/>
                </a:solidFill>
              </a:defRPr>
            </a:lvl6pPr>
            <a:lvl7pPr>
              <a:defRPr sz="2475" b="1">
                <a:solidFill>
                  <a:srgbClr val="173F30"/>
                </a:solidFill>
              </a:defRPr>
            </a:lvl7pPr>
            <a:lvl8pPr>
              <a:defRPr sz="2475" b="1">
                <a:solidFill>
                  <a:srgbClr val="173F30"/>
                </a:solidFill>
              </a:defRPr>
            </a:lvl8pPr>
            <a:lvl9pPr>
              <a:defRPr sz="2475" b="1">
                <a:solidFill>
                  <a:srgbClr val="173F30"/>
                </a:solidFill>
              </a:defRPr>
            </a:lvl9pPr>
          </a:lstStyle>
          <a:p xmlns:a="http://schemas.openxmlformats.org/drawingml/2006/main">
            <a:pPr>
              <a:defRPr sz="2475" b="1">
                <a:solidFill>
                  <a:srgbClr val="173F30"/>
                </a:solidFill>
              </a:defRPr>
            </a:pPr>
            <a:r>
              <a:rPr sz="2475" b="1">
                <a:solidFill>
                  <a:srgbClr val="173F30"/>
                </a:solidFill>
              </a:rPr>
              <a:t>Collections have their own page</a:t>
            </a:r>
          </a:p>
        </p:txBody>
      </p:sp>
      <p:sp>
        <p:nvSpPr>
          <p:cNvPr id="7" name="">
            <a:extLst xmlns:a="http://schemas.openxmlformats.org/drawingml/2006/main">
              <a:ext uri="{FF2B5EF4-FFF2-40B4-BE49-F238E27FC236}">
                <a16:creationId xmlns:a16="http://schemas.microsoft.com/office/drawing/2014/main" id="{9A2842B4-27DA-4501-97C0-3B07EF10E071}"/>
              </a:ext>
            </a:extLst>
          </p:cNvPr>
          <p:cNvSpPr>
            <a:spLocks xmlns:a="http://schemas.openxmlformats.org/drawingml/2006/main" noGrp="1"/>
          </p:cNvSpPr>
          <p:nvPr/>
        </p:nvSpPr>
        <p:spPr>
          <a:xfrm xmlns:a="http://schemas.openxmlformats.org/drawingml/2006/main">
            <a:off x="628650" y="3476625"/>
            <a:ext cx="5095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6766D"/>
                </a:solidFill>
              </a:defRPr>
            </a:defPPr>
            <a:lvl1pPr>
              <a:defRPr sz="2025" b="0">
                <a:solidFill>
                  <a:srgbClr val="66766D"/>
                </a:solidFill>
              </a:defRPr>
            </a:lvl1pPr>
            <a:lvl2pPr>
              <a:defRPr sz="2025" b="0">
                <a:solidFill>
                  <a:srgbClr val="66766D"/>
                </a:solidFill>
              </a:defRPr>
            </a:lvl2pPr>
            <a:lvl3pPr>
              <a:defRPr sz="2025" b="0">
                <a:solidFill>
                  <a:srgbClr val="66766D"/>
                </a:solidFill>
              </a:defRPr>
            </a:lvl3pPr>
            <a:lvl4pPr>
              <a:defRPr sz="2025" b="0">
                <a:solidFill>
                  <a:srgbClr val="66766D"/>
                </a:solidFill>
              </a:defRPr>
            </a:lvl4pPr>
            <a:lvl5pPr>
              <a:defRPr sz="2025" b="0">
                <a:solidFill>
                  <a:srgbClr val="66766D"/>
                </a:solidFill>
              </a:defRPr>
            </a:lvl5pPr>
            <a:lvl6pPr>
              <a:defRPr sz="2025" b="0">
                <a:solidFill>
                  <a:srgbClr val="66766D"/>
                </a:solidFill>
              </a:defRPr>
            </a:lvl6pPr>
            <a:lvl7pPr>
              <a:defRPr sz="2025" b="0">
                <a:solidFill>
                  <a:srgbClr val="66766D"/>
                </a:solidFill>
              </a:defRPr>
            </a:lvl7pPr>
            <a:lvl8pPr>
              <a:defRPr sz="2025" b="0">
                <a:solidFill>
                  <a:srgbClr val="66766D"/>
                </a:solidFill>
              </a:defRPr>
            </a:lvl8pPr>
            <a:lvl9pPr>
              <a:defRPr sz="2025" b="0">
                <a:solidFill>
                  <a:srgbClr val="66766D"/>
                </a:solidFill>
              </a:defRPr>
            </a:lvl9pPr>
          </a:lstStyle>
          <a:p xmlns:a="http://schemas.openxmlformats.org/drawingml/2006/main">
            <a:pPr>
              <a:defRPr sz="2025" b="0">
                <a:solidFill>
                  <a:srgbClr val="66766D"/>
                </a:solidFill>
              </a:defRPr>
            </a:pPr>
            <a:r>
              <a:rPr sz="2025" b="0">
                <a:solidFill>
                  <a:srgbClr val="66766D"/>
                </a:solidFill>
              </a:rPr>
              <a:t>Search by item, locality or ID.</a:t>
            </a:r>
          </a:p>
          <a:p xmlns:a="http://schemas.openxmlformats.org/drawingml/2006/main">
            <a:pPr>
              <a:defRPr sz="2025" b="0">
                <a:solidFill>
                  <a:srgbClr val="66766D"/>
                </a:solidFill>
              </a:defRPr>
            </a:pPr>
            <a:r>
              <a:rPr sz="2025" b="0">
                <a:solidFill>
                  <a:srgbClr val="66766D"/>
                </a:solidFill>
              </a:rPr>
              <a:t>Switch between grid and list.</a:t>
            </a:r>
          </a:p>
          <a:p xmlns:a="http://schemas.openxmlformats.org/drawingml/2006/main">
            <a:pPr>
              <a:defRPr sz="2025" b="0">
                <a:solidFill>
                  <a:srgbClr val="66766D"/>
                </a:solidFill>
              </a:defRPr>
            </a:pPr>
            <a:r>
              <a:rPr sz="2025" b="0">
                <a:solidFill>
                  <a:srgbClr val="66766D"/>
                </a:solidFill>
              </a:rPr>
              <a:t>Accept jobs and record weight.</a:t>
            </a:r>
          </a:p>
          <a:p xmlns:a="http://schemas.openxmlformats.org/drawingml/2006/main">
            <a:pPr>
              <a:defRPr sz="2025" b="0">
                <a:solidFill>
                  <a:srgbClr val="66766D"/>
                </a:solidFill>
              </a:defRPr>
            </a:pPr>
            <a:r>
              <a:rPr sz="2025" b="0">
                <a:solidFill>
                  <a:srgbClr val="66766D"/>
                </a:solidFill>
              </a:rPr>
              <a:t>Track receipts and status.</a:t>
            </a:r>
          </a:p>
        </p:txBody>
      </p:sp>
      <p:sp>
        <p:nvSpPr>
          <p:cNvPr id="8" name="">
            <a:extLst xmlns:a="http://schemas.openxmlformats.org/drawingml/2006/main">
              <a:ext uri="{FF2B5EF4-FFF2-40B4-BE49-F238E27FC236}">
                <a16:creationId xmlns:a16="http://schemas.microsoft.com/office/drawing/2014/main" id="{5BC7840F-6AB4-4E16-ACDE-FFBA26B72124}"/>
              </a:ext>
            </a:extLst>
          </p:cNvPr>
          <p:cNvSpPr>
            <a:spLocks xmlns:a="http://schemas.openxmlformats.org/drawingml/2006/main" noGrp="1"/>
          </p:cNvSpPr>
          <p:nvPr/>
        </p:nvSpPr>
        <p:spPr>
          <a:xfrm xmlns:a="http://schemas.openxmlformats.org/drawingml/2006/main">
            <a:off x="6477000" y="58864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66D"/>
                </a:solidFill>
              </a:defRPr>
            </a:defPPr>
            <a:lvl1pPr>
              <a:defRPr sz="1125" b="0">
                <a:solidFill>
                  <a:srgbClr val="66766D"/>
                </a:solidFill>
              </a:defRPr>
            </a:lvl1pPr>
            <a:lvl2pPr>
              <a:defRPr sz="1125" b="0">
                <a:solidFill>
                  <a:srgbClr val="66766D"/>
                </a:solidFill>
              </a:defRPr>
            </a:lvl2pPr>
            <a:lvl3pPr>
              <a:defRPr sz="1125" b="0">
                <a:solidFill>
                  <a:srgbClr val="66766D"/>
                </a:solidFill>
              </a:defRPr>
            </a:lvl3pPr>
            <a:lvl4pPr>
              <a:defRPr sz="1125" b="0">
                <a:solidFill>
                  <a:srgbClr val="66766D"/>
                </a:solidFill>
              </a:defRPr>
            </a:lvl4pPr>
            <a:lvl5pPr>
              <a:defRPr sz="1125" b="0">
                <a:solidFill>
                  <a:srgbClr val="66766D"/>
                </a:solidFill>
              </a:defRPr>
            </a:lvl5pPr>
            <a:lvl6pPr>
              <a:defRPr sz="1125" b="0">
                <a:solidFill>
                  <a:srgbClr val="66766D"/>
                </a:solidFill>
              </a:defRPr>
            </a:lvl6pPr>
            <a:lvl7pPr>
              <a:defRPr sz="1125" b="0">
                <a:solidFill>
                  <a:srgbClr val="66766D"/>
                </a:solidFill>
              </a:defRPr>
            </a:lvl7pPr>
            <a:lvl8pPr>
              <a:defRPr sz="1125" b="0">
                <a:solidFill>
                  <a:srgbClr val="66766D"/>
                </a:solidFill>
              </a:defRPr>
            </a:lvl8pPr>
            <a:lvl9pPr>
              <a:defRPr sz="1125" b="0">
                <a:solidFill>
                  <a:srgbClr val="66766D"/>
                </a:solidFill>
              </a:defRPr>
            </a:lvl9pPr>
          </a:lstStyle>
          <a:p xmlns:a="http://schemas.openxmlformats.org/drawingml/2006/main">
            <a:pPr>
              <a:defRPr sz="1125" b="0">
                <a:solidFill>
                  <a:srgbClr val="66766D"/>
                </a:solidFill>
              </a:defRPr>
            </a:pPr>
            <a:r>
              <a:rPr sz="1125" b="0">
                <a:solidFill>
                  <a:srgbClr val="66766D"/>
                </a:solidFill>
              </a:rPr>
              <a:t>Synthetic layout example</a:t>
            </a:r>
          </a:p>
        </p:txBody>
      </p:sp>
    </p:spTree>
    <p:extLst>
      <p:ext uri="{BB962C8B-B14F-4D97-AF65-F5344CB8AC3E}">
        <p14:creationId xmlns:p14="http://schemas.microsoft.com/office/powerpoint/2010/main" val="2026188244"/>
      </p:ext>
    </p:extLst>
  </p:cSld>
</p:sld>
</file>

<file path=ppt/slides/slide1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5D3F04D-8ED9-464A-926B-C5D17AB54DDA}"/>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Helper earnings are visible</a:t>
            </a:r>
          </a:p>
        </p:txBody>
      </p:sp>
      <p:sp>
        <p:nvSpPr>
          <p:cNvPr id="3" name="">
            <a:extLst xmlns:a="http://schemas.openxmlformats.org/drawingml/2006/main">
              <a:ext uri="{FF2B5EF4-FFF2-40B4-BE49-F238E27FC236}">
                <a16:creationId xmlns:a16="http://schemas.microsoft.com/office/drawing/2014/main" id="{7B868DC5-8B53-475A-81DF-84A6D98071ED}"/>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The pilot separates earned pay, recorded payments and outstanding amounts.</a:t>
            </a:r>
          </a:p>
        </p:txBody>
      </p:sp>
      <p:sp>
        <p:nvSpPr>
          <p:cNvPr id="4" name="">
            <a:extLst xmlns:a="http://schemas.openxmlformats.org/drawingml/2006/main">
              <a:ext uri="{FF2B5EF4-FFF2-40B4-BE49-F238E27FC236}">
                <a16:creationId xmlns:a16="http://schemas.microsoft.com/office/drawing/2014/main" id="{18B5DE7C-7D5E-4FEB-ACC7-AB431BA9BF70}"/>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13</a:t>
            </a:r>
          </a:p>
        </p:txBody>
      </p:sp>
      <p:sp>
        <p:nvSpPr>
          <p:cNvPr id="5" name="">
            <a:extLst xmlns:a="http://schemas.openxmlformats.org/drawingml/2006/main">
              <a:ext uri="{FF2B5EF4-FFF2-40B4-BE49-F238E27FC236}">
                <a16:creationId xmlns:a16="http://schemas.microsoft.com/office/drawing/2014/main" id="{A3ACD9D6-9107-4C35-8FE9-5B47D63989CB}"/>
              </a:ext>
            </a:extLst>
          </p:cNvPr>
          <p:cNvSpPr>
            <a:spLocks xmlns:a="http://schemas.openxmlformats.org/drawingml/2006/main" noGrp="1"/>
          </p:cNvSpPr>
          <p:nvPr/>
        </p:nvSpPr>
        <p:spPr>
          <a:xfrm xmlns:a="http://schemas.openxmlformats.org/drawingml/2006/main">
            <a:off x="628650" y="257175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173F30"/>
                </a:solidFill>
              </a:defRPr>
            </a:defPPr>
            <a:lvl1pPr>
              <a:defRPr sz="6150" b="1">
                <a:solidFill>
                  <a:srgbClr val="173F30"/>
                </a:solidFill>
              </a:defRPr>
            </a:lvl1pPr>
            <a:lvl2pPr>
              <a:defRPr sz="6150" b="1">
                <a:solidFill>
                  <a:srgbClr val="173F30"/>
                </a:solidFill>
              </a:defRPr>
            </a:lvl2pPr>
            <a:lvl3pPr>
              <a:defRPr sz="6150" b="1">
                <a:solidFill>
                  <a:srgbClr val="173F30"/>
                </a:solidFill>
              </a:defRPr>
            </a:lvl3pPr>
            <a:lvl4pPr>
              <a:defRPr sz="6150" b="1">
                <a:solidFill>
                  <a:srgbClr val="173F30"/>
                </a:solidFill>
              </a:defRPr>
            </a:lvl4pPr>
            <a:lvl5pPr>
              <a:defRPr sz="6150" b="1">
                <a:solidFill>
                  <a:srgbClr val="173F30"/>
                </a:solidFill>
              </a:defRPr>
            </a:lvl5pPr>
            <a:lvl6pPr>
              <a:defRPr sz="6150" b="1">
                <a:solidFill>
                  <a:srgbClr val="173F30"/>
                </a:solidFill>
              </a:defRPr>
            </a:lvl6pPr>
            <a:lvl7pPr>
              <a:defRPr sz="6150" b="1">
                <a:solidFill>
                  <a:srgbClr val="173F30"/>
                </a:solidFill>
              </a:defRPr>
            </a:lvl7pPr>
            <a:lvl8pPr>
              <a:defRPr sz="6150" b="1">
                <a:solidFill>
                  <a:srgbClr val="173F30"/>
                </a:solidFill>
              </a:defRPr>
            </a:lvl8pPr>
            <a:lvl9pPr>
              <a:defRPr sz="6150" b="1">
                <a:solidFill>
                  <a:srgbClr val="173F30"/>
                </a:solidFill>
              </a:defRPr>
            </a:lvl9pPr>
          </a:lstStyle>
          <a:p xmlns:a="http://schemas.openxmlformats.org/drawingml/2006/main">
            <a:pPr>
              <a:defRPr sz="6150" b="1">
                <a:solidFill>
                  <a:srgbClr val="173F30"/>
                </a:solidFill>
              </a:defRPr>
            </a:pPr>
            <a:r>
              <a:rPr sz="6150" b="1">
                <a:solidFill>
                  <a:srgbClr val="173F30"/>
                </a:solidFill>
              </a:rPr>
              <a:t>₹8</a:t>
            </a:r>
          </a:p>
        </p:txBody>
      </p:sp>
      <p:sp>
        <p:nvSpPr>
          <p:cNvPr id="6" name="">
            <a:extLst xmlns:a="http://schemas.openxmlformats.org/drawingml/2006/main">
              <a:ext uri="{FF2B5EF4-FFF2-40B4-BE49-F238E27FC236}">
                <a16:creationId xmlns:a16="http://schemas.microsoft.com/office/drawing/2014/main" id="{28C4C44C-0434-4C6B-AD4F-439BA6120E06}"/>
              </a:ext>
            </a:extLst>
          </p:cNvPr>
          <p:cNvSpPr>
            <a:spLocks xmlns:a="http://schemas.openxmlformats.org/drawingml/2006/main" noGrp="1"/>
          </p:cNvSpPr>
          <p:nvPr/>
        </p:nvSpPr>
        <p:spPr>
          <a:xfrm xmlns:a="http://schemas.openxmlformats.org/drawingml/2006/main">
            <a:off x="628650" y="37338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6766D"/>
                </a:solidFill>
              </a:defRPr>
            </a:defPPr>
            <a:lvl1pPr>
              <a:defRPr sz="2100" b="0">
                <a:solidFill>
                  <a:srgbClr val="66766D"/>
                </a:solidFill>
              </a:defRPr>
            </a:lvl1pPr>
            <a:lvl2pPr>
              <a:defRPr sz="2100" b="0">
                <a:solidFill>
                  <a:srgbClr val="66766D"/>
                </a:solidFill>
              </a:defRPr>
            </a:lvl2pPr>
            <a:lvl3pPr>
              <a:defRPr sz="2100" b="0">
                <a:solidFill>
                  <a:srgbClr val="66766D"/>
                </a:solidFill>
              </a:defRPr>
            </a:lvl3pPr>
            <a:lvl4pPr>
              <a:defRPr sz="2100" b="0">
                <a:solidFill>
                  <a:srgbClr val="66766D"/>
                </a:solidFill>
              </a:defRPr>
            </a:lvl4pPr>
            <a:lvl5pPr>
              <a:defRPr sz="2100" b="0">
                <a:solidFill>
                  <a:srgbClr val="66766D"/>
                </a:solidFill>
              </a:defRPr>
            </a:lvl5pPr>
            <a:lvl6pPr>
              <a:defRPr sz="2100" b="0">
                <a:solidFill>
                  <a:srgbClr val="66766D"/>
                </a:solidFill>
              </a:defRPr>
            </a:lvl6pPr>
            <a:lvl7pPr>
              <a:defRPr sz="2100" b="0">
                <a:solidFill>
                  <a:srgbClr val="66766D"/>
                </a:solidFill>
              </a:defRPr>
            </a:lvl7pPr>
            <a:lvl8pPr>
              <a:defRPr sz="2100" b="0">
                <a:solidFill>
                  <a:srgbClr val="66766D"/>
                </a:solidFill>
              </a:defRPr>
            </a:lvl8pPr>
            <a:lvl9pPr>
              <a:defRPr sz="2100" b="0">
                <a:solidFill>
                  <a:srgbClr val="66766D"/>
                </a:solidFill>
              </a:defRPr>
            </a:lvl9pPr>
          </a:lstStyle>
          <a:p xmlns:a="http://schemas.openxmlformats.org/drawingml/2006/main">
            <a:pPr>
              <a:defRPr sz="2100" b="0">
                <a:solidFill>
                  <a:srgbClr val="66766D"/>
                </a:solidFill>
              </a:defRPr>
            </a:pPr>
            <a:r>
              <a:rPr sz="2100" b="0">
                <a:solidFill>
                  <a:srgbClr val="66766D"/>
                </a:solidFill>
              </a:rPr>
              <a:t>per completed pickup</a:t>
            </a:r>
          </a:p>
        </p:txBody>
      </p:sp>
      <p:sp>
        <p:nvSpPr>
          <p:cNvPr id="7" name="">
            <a:extLst xmlns:a="http://schemas.openxmlformats.org/drawingml/2006/main">
              <a:ext uri="{FF2B5EF4-FFF2-40B4-BE49-F238E27FC236}">
                <a16:creationId xmlns:a16="http://schemas.microsoft.com/office/drawing/2014/main" id="{70107B6C-0700-4AFC-A8CB-3E4B849A3C18}"/>
              </a:ext>
            </a:extLst>
          </p:cNvPr>
          <p:cNvSpPr>
            <a:spLocks xmlns:a="http://schemas.openxmlformats.org/drawingml/2006/main" noGrp="1"/>
          </p:cNvSpPr>
          <p:nvPr/>
        </p:nvSpPr>
        <p:spPr>
          <a:xfrm xmlns:a="http://schemas.openxmlformats.org/drawingml/2006/main">
            <a:off x="4095750" y="27241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F30"/>
                </a:solidFill>
              </a:defRPr>
            </a:defPPr>
            <a:lvl1pPr>
              <a:defRPr sz="2550" b="1">
                <a:solidFill>
                  <a:srgbClr val="173F30"/>
                </a:solidFill>
              </a:defRPr>
            </a:lvl1pPr>
            <a:lvl2pPr>
              <a:defRPr sz="2550" b="1">
                <a:solidFill>
                  <a:srgbClr val="173F30"/>
                </a:solidFill>
              </a:defRPr>
            </a:lvl2pPr>
            <a:lvl3pPr>
              <a:defRPr sz="2550" b="1">
                <a:solidFill>
                  <a:srgbClr val="173F30"/>
                </a:solidFill>
              </a:defRPr>
            </a:lvl3pPr>
            <a:lvl4pPr>
              <a:defRPr sz="2550" b="1">
                <a:solidFill>
                  <a:srgbClr val="173F30"/>
                </a:solidFill>
              </a:defRPr>
            </a:lvl4pPr>
            <a:lvl5pPr>
              <a:defRPr sz="2550" b="1">
                <a:solidFill>
                  <a:srgbClr val="173F30"/>
                </a:solidFill>
              </a:defRPr>
            </a:lvl5pPr>
            <a:lvl6pPr>
              <a:defRPr sz="2550" b="1">
                <a:solidFill>
                  <a:srgbClr val="173F30"/>
                </a:solidFill>
              </a:defRPr>
            </a:lvl6pPr>
            <a:lvl7pPr>
              <a:defRPr sz="2550" b="1">
                <a:solidFill>
                  <a:srgbClr val="173F30"/>
                </a:solidFill>
              </a:defRPr>
            </a:lvl7pPr>
            <a:lvl8pPr>
              <a:defRPr sz="2550" b="1">
                <a:solidFill>
                  <a:srgbClr val="173F30"/>
                </a:solidFill>
              </a:defRPr>
            </a:lvl8pPr>
            <a:lvl9pPr>
              <a:defRPr sz="2550" b="1">
                <a:solidFill>
                  <a:srgbClr val="173F30"/>
                </a:solidFill>
              </a:defRPr>
            </a:lvl9pPr>
          </a:lstStyle>
          <a:p xmlns:a="http://schemas.openxmlformats.org/drawingml/2006/main">
            <a:pPr>
              <a:defRPr sz="2550" b="1">
                <a:solidFill>
                  <a:srgbClr val="173F30"/>
                </a:solidFill>
              </a:defRPr>
            </a:pPr>
            <a:r>
              <a:rPr sz="2550" b="1">
                <a:solidFill>
                  <a:srgbClr val="173F30"/>
                </a:solidFill>
              </a:rPr>
              <a:t>+ 50% of sorting service value</a:t>
            </a:r>
          </a:p>
        </p:txBody>
      </p:sp>
      <p:sp>
        <p:nvSpPr>
          <p:cNvPr id="8" name="">
            <a:extLst xmlns:a="http://schemas.openxmlformats.org/drawingml/2006/main">
              <a:ext uri="{FF2B5EF4-FFF2-40B4-BE49-F238E27FC236}">
                <a16:creationId xmlns:a16="http://schemas.microsoft.com/office/drawing/2014/main" id="{A136E3FC-B86D-4B44-8B2D-2C1F4F9A42D7}"/>
              </a:ext>
            </a:extLst>
          </p:cNvPr>
          <p:cNvSpPr>
            <a:spLocks xmlns:a="http://schemas.openxmlformats.org/drawingml/2006/main" noGrp="1"/>
          </p:cNvSpPr>
          <p:nvPr/>
        </p:nvSpPr>
        <p:spPr>
          <a:xfrm xmlns:a="http://schemas.openxmlformats.org/drawingml/2006/main">
            <a:off x="4095750" y="3705225"/>
            <a:ext cx="723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F30"/>
                </a:solidFill>
              </a:defRPr>
            </a:defPPr>
            <a:lvl1pPr>
              <a:defRPr sz="2550" b="1">
                <a:solidFill>
                  <a:srgbClr val="173F30"/>
                </a:solidFill>
              </a:defRPr>
            </a:lvl1pPr>
            <a:lvl2pPr>
              <a:defRPr sz="2550" b="1">
                <a:solidFill>
                  <a:srgbClr val="173F30"/>
                </a:solidFill>
              </a:defRPr>
            </a:lvl2pPr>
            <a:lvl3pPr>
              <a:defRPr sz="2550" b="1">
                <a:solidFill>
                  <a:srgbClr val="173F30"/>
                </a:solidFill>
              </a:defRPr>
            </a:lvl3pPr>
            <a:lvl4pPr>
              <a:defRPr sz="2550" b="1">
                <a:solidFill>
                  <a:srgbClr val="173F30"/>
                </a:solidFill>
              </a:defRPr>
            </a:lvl4pPr>
            <a:lvl5pPr>
              <a:defRPr sz="2550" b="1">
                <a:solidFill>
                  <a:srgbClr val="173F30"/>
                </a:solidFill>
              </a:defRPr>
            </a:lvl5pPr>
            <a:lvl6pPr>
              <a:defRPr sz="2550" b="1">
                <a:solidFill>
                  <a:srgbClr val="173F30"/>
                </a:solidFill>
              </a:defRPr>
            </a:lvl6pPr>
            <a:lvl7pPr>
              <a:defRPr sz="2550" b="1">
                <a:solidFill>
                  <a:srgbClr val="173F30"/>
                </a:solidFill>
              </a:defRPr>
            </a:lvl7pPr>
            <a:lvl8pPr>
              <a:defRPr sz="2550" b="1">
                <a:solidFill>
                  <a:srgbClr val="173F30"/>
                </a:solidFill>
              </a:defRPr>
            </a:lvl8pPr>
            <a:lvl9pPr>
              <a:defRPr sz="2550" b="1">
                <a:solidFill>
                  <a:srgbClr val="173F30"/>
                </a:solidFill>
              </a:defRPr>
            </a:lvl9pPr>
          </a:lstStyle>
          <a:p xmlns:a="http://schemas.openxmlformats.org/drawingml/2006/main">
            <a:pPr>
              <a:defRPr sz="2550" b="1">
                <a:solidFill>
                  <a:srgbClr val="173F30"/>
                </a:solidFill>
              </a:defRPr>
            </a:pPr>
            <a:r>
              <a:rPr sz="2550" b="1">
                <a:solidFill>
                  <a:srgbClr val="173F30"/>
                </a:solidFill>
              </a:rPr>
              <a:t>+ 40% of net recovery</a:t>
            </a:r>
          </a:p>
        </p:txBody>
      </p:sp>
      <p:sp>
        <p:nvSpPr>
          <p:cNvPr id="9" name="">
            <a:extLst xmlns:a="http://schemas.openxmlformats.org/drawingml/2006/main">
              <a:ext uri="{FF2B5EF4-FFF2-40B4-BE49-F238E27FC236}">
                <a16:creationId xmlns:a16="http://schemas.microsoft.com/office/drawing/2014/main" id="{4FB54561-2B19-4C58-8CB9-6D004570F8FB}"/>
              </a:ext>
            </a:extLst>
          </p:cNvPr>
          <p:cNvSpPr>
            <a:spLocks xmlns:a="http://schemas.openxmlformats.org/drawingml/2006/main" noGrp="1"/>
          </p:cNvSpPr>
          <p:nvPr/>
        </p:nvSpPr>
        <p:spPr>
          <a:xfrm xmlns:a="http://schemas.openxmlformats.org/drawingml/2006/main">
            <a:off x="628650" y="53911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66D"/>
                </a:solidFill>
              </a:defRPr>
            </a:defPPr>
            <a:lvl1pPr>
              <a:defRPr sz="1725" b="0">
                <a:solidFill>
                  <a:srgbClr val="66766D"/>
                </a:solidFill>
              </a:defRPr>
            </a:lvl1pPr>
            <a:lvl2pPr>
              <a:defRPr sz="1725" b="0">
                <a:solidFill>
                  <a:srgbClr val="66766D"/>
                </a:solidFill>
              </a:defRPr>
            </a:lvl2pPr>
            <a:lvl3pPr>
              <a:defRPr sz="1725" b="0">
                <a:solidFill>
                  <a:srgbClr val="66766D"/>
                </a:solidFill>
              </a:defRPr>
            </a:lvl3pPr>
            <a:lvl4pPr>
              <a:defRPr sz="1725" b="0">
                <a:solidFill>
                  <a:srgbClr val="66766D"/>
                </a:solidFill>
              </a:defRPr>
            </a:lvl4pPr>
            <a:lvl5pPr>
              <a:defRPr sz="1725" b="0">
                <a:solidFill>
                  <a:srgbClr val="66766D"/>
                </a:solidFill>
              </a:defRPr>
            </a:lvl5pPr>
            <a:lvl6pPr>
              <a:defRPr sz="1725" b="0">
                <a:solidFill>
                  <a:srgbClr val="66766D"/>
                </a:solidFill>
              </a:defRPr>
            </a:lvl6pPr>
            <a:lvl7pPr>
              <a:defRPr sz="1725" b="0">
                <a:solidFill>
                  <a:srgbClr val="66766D"/>
                </a:solidFill>
              </a:defRPr>
            </a:lvl7pPr>
            <a:lvl8pPr>
              <a:defRPr sz="1725" b="0">
                <a:solidFill>
                  <a:srgbClr val="66766D"/>
                </a:solidFill>
              </a:defRPr>
            </a:lvl8pPr>
            <a:lvl9pPr>
              <a:defRPr sz="1725" b="0">
                <a:solidFill>
                  <a:srgbClr val="66766D"/>
                </a:solidFill>
              </a:defRPr>
            </a:lvl9pPr>
          </a:lstStyle>
          <a:p xmlns:a="http://schemas.openxmlformats.org/drawingml/2006/main">
            <a:pPr>
              <a:defRPr sz="1725" b="0">
                <a:solidFill>
                  <a:srgbClr val="66766D"/>
                </a:solidFill>
              </a:defRPr>
            </a:pPr>
            <a:r>
              <a:rPr sz="1725" b="0">
                <a:solidFill>
                  <a:srgbClr val="66766D"/>
                </a:solidFill>
              </a:rPr>
              <a:t>Earnings require a completed, accepted receipt. Operations records actual payments.</a:t>
            </a:r>
          </a:p>
        </p:txBody>
      </p:sp>
    </p:spTree>
    <p:extLst>
      <p:ext uri="{BB962C8B-B14F-4D97-AF65-F5344CB8AC3E}">
        <p14:creationId xmlns:p14="http://schemas.microsoft.com/office/powerpoint/2010/main" val="1783230052"/>
      </p:ext>
    </p:extLst>
  </p:cSld>
</p:sld>
</file>

<file path=ppt/slides/slide14.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71805AC-483C-4A2A-9E45-6C0F7CE049F4}"/>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Operations knows what to do next</a:t>
            </a:r>
          </a:p>
        </p:txBody>
      </p:sp>
      <p:sp>
        <p:nvSpPr>
          <p:cNvPr id="3" name="">
            <a:extLst xmlns:a="http://schemas.openxmlformats.org/drawingml/2006/main">
              <a:ext uri="{FF2B5EF4-FFF2-40B4-BE49-F238E27FC236}">
                <a16:creationId xmlns:a16="http://schemas.microsoft.com/office/drawing/2014/main" id="{126D8BF5-DEB5-4F1A-B816-55D4BFE29780}"/>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A separate workspace for Collections, Payments, Helpers and Issues.</a:t>
            </a:r>
          </a:p>
        </p:txBody>
      </p:sp>
      <p:sp>
        <p:nvSpPr>
          <p:cNvPr id="4" name="">
            <a:extLst xmlns:a="http://schemas.openxmlformats.org/drawingml/2006/main">
              <a:ext uri="{FF2B5EF4-FFF2-40B4-BE49-F238E27FC236}">
                <a16:creationId xmlns:a16="http://schemas.microsoft.com/office/drawing/2014/main" id="{CDF3722A-4415-4CC9-9989-2EFE03EB5633}"/>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14</a:t>
            </a:r>
          </a:p>
        </p:txBody>
      </p:sp>
      <p:sp>
        <p:nvSpPr>
          <p:cNvPr id="5" name="">
            <a:extLst xmlns:a="http://schemas.openxmlformats.org/drawingml/2006/main">
              <a:ext uri="{FF2B5EF4-FFF2-40B4-BE49-F238E27FC236}">
                <a16:creationId xmlns:a16="http://schemas.microsoft.com/office/drawing/2014/main" id="{B2E54157-1406-457C-974D-C9CEF73BAA5A}"/>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A collection queue</a:t>
            </a:r>
          </a:p>
        </p:txBody>
      </p:sp>
      <p:sp>
        <p:nvSpPr>
          <p:cNvPr id="6" name="">
            <a:extLst xmlns:a="http://schemas.openxmlformats.org/drawingml/2006/main">
              <a:ext uri="{FF2B5EF4-FFF2-40B4-BE49-F238E27FC236}">
                <a16:creationId xmlns:a16="http://schemas.microsoft.com/office/drawing/2014/main" id="{55F617C4-D0AA-46D3-9AAB-05844DDA1871}"/>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Search records and open one collection at a time.</a:t>
            </a:r>
          </a:p>
        </p:txBody>
      </p:sp>
      <p:sp>
        <p:nvSpPr>
          <p:cNvPr id="7" name="">
            <a:extLst xmlns:a="http://schemas.openxmlformats.org/drawingml/2006/main">
              <a:ext uri="{FF2B5EF4-FFF2-40B4-BE49-F238E27FC236}">
                <a16:creationId xmlns:a16="http://schemas.microsoft.com/office/drawing/2014/main" id="{C2215CE2-8184-489A-A05D-595C8AF21700}"/>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Clear payment steps</a:t>
            </a:r>
          </a:p>
        </p:txBody>
      </p:sp>
      <p:sp>
        <p:nvSpPr>
          <p:cNvPr id="8" name="">
            <a:extLst xmlns:a="http://schemas.openxmlformats.org/drawingml/2006/main">
              <a:ext uri="{FF2B5EF4-FFF2-40B4-BE49-F238E27FC236}">
                <a16:creationId xmlns:a16="http://schemas.microsoft.com/office/drawing/2014/main" id="{E167CD49-3078-40F0-A105-A0AEEF0D5380}"/>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See earned, paid and outstanding helper amounts. Record a completed transfer.</a:t>
            </a:r>
          </a:p>
        </p:txBody>
      </p:sp>
      <p:sp>
        <p:nvSpPr>
          <p:cNvPr id="9" name="">
            <a:extLst xmlns:a="http://schemas.openxmlformats.org/drawingml/2006/main">
              <a:ext uri="{FF2B5EF4-FFF2-40B4-BE49-F238E27FC236}">
                <a16:creationId xmlns:a16="http://schemas.microsoft.com/office/drawing/2014/main" id="{445B9341-CA31-49C5-8B6F-3604E458BD1E}"/>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Separate sale records</a:t>
            </a:r>
          </a:p>
        </p:txBody>
      </p:sp>
      <p:sp>
        <p:nvSpPr>
          <p:cNvPr id="10" name="">
            <a:extLst xmlns:a="http://schemas.openxmlformats.org/drawingml/2006/main">
              <a:ext uri="{FF2B5EF4-FFF2-40B4-BE49-F238E27FC236}">
                <a16:creationId xmlns:a16="http://schemas.microsoft.com/office/drawing/2014/main" id="{32F1DEB7-2B25-466E-814A-33ECAF40EBAF}"/>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Record actual recycler income and costs, then the resident’s recovery share.</a:t>
            </a:r>
          </a:p>
        </p:txBody>
      </p:sp>
    </p:spTree>
    <p:extLst>
      <p:ext uri="{BB962C8B-B14F-4D97-AF65-F5344CB8AC3E}">
        <p14:creationId xmlns:p14="http://schemas.microsoft.com/office/powerpoint/2010/main" val="788286840"/>
      </p:ext>
    </p:extLst>
  </p:cSld>
</p:sld>
</file>

<file path=ppt/slides/slide1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2F1248D-8A56-4F7B-8EB8-C4912BA78D93}"/>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Rewards make the habit easier to keep</a:t>
            </a:r>
          </a:p>
        </p:txBody>
      </p:sp>
      <p:sp>
        <p:nvSpPr>
          <p:cNvPr id="3" name="">
            <a:extLst xmlns:a="http://schemas.openxmlformats.org/drawingml/2006/main">
              <a:ext uri="{FF2B5EF4-FFF2-40B4-BE49-F238E27FC236}">
                <a16:creationId xmlns:a16="http://schemas.microsoft.com/office/drawing/2014/main" id="{F85126A5-3DB0-44A4-832A-E0E37AD4A01A}"/>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Earn one point on the first confirmed scan day.</a:t>
            </a:r>
          </a:p>
        </p:txBody>
      </p:sp>
      <p:sp>
        <p:nvSpPr>
          <p:cNvPr id="4" name="">
            <a:extLst xmlns:a="http://schemas.openxmlformats.org/drawingml/2006/main">
              <a:ext uri="{FF2B5EF4-FFF2-40B4-BE49-F238E27FC236}">
                <a16:creationId xmlns:a16="http://schemas.microsoft.com/office/drawing/2014/main" id="{33BA2908-7B3C-4C1E-9DB1-0DB2DBFE29E9}"/>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15</a:t>
            </a:r>
          </a:p>
        </p:txBody>
      </p:sp>
      <p:pic>
        <p:nvPicPr>
          <p:cNvPr id="5" name="">
            <a:extLst xmlns:a="http://schemas.openxmlformats.org/drawingml/2006/main">
              <a:ext uri="{FF2B5EF4-FFF2-40B4-BE49-F238E27FC236}">
                <a16:creationId xmlns:a16="http://schemas.microsoft.com/office/drawing/2014/main" id="{C7B6A49E-A065-4C5C-8F63-EF658153773D}"/>
              </a:ext>
            </a:extLst>
          </p:cNvPr>
          <p:cNvPicPr>
            <a:picLocks xmlns:a="http://schemas.openxmlformats.org/drawingml/2006/main" noChangeAspect="1"/>
          </p:cNvPicPr>
          <p:nvPr/>
        </p:nvPicPr>
        <p:blipFill>
          <a:blip xmlns:r="http://schemas.openxmlformats.org/officeDocument/2006/relationships" xmlns:a="http://schemas.openxmlformats.org/drawingml/2006/main" r:embed="Ra5a79ddc2c4247f5"/>
          <a:stretch xmlns:a="http://schemas.openxmlformats.org/drawingml/2006/main"/>
        </p:blipFill>
        <p:spPr>
          <a:xfrm xmlns:a="http://schemas.openxmlformats.org/drawingml/2006/main">
            <a:off x="5969755" y="2190750"/>
            <a:ext cx="5014991" cy="3810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4DE8FE-B317-44CB-A8F2-ECDA5605ECC0}"/>
              </a:ext>
            </a:extLst>
          </p:cNvPr>
          <p:cNvSpPr>
            <a:spLocks xmlns:a="http://schemas.openxmlformats.org/drawingml/2006/main" noGrp="1"/>
          </p:cNvSpPr>
          <p:nvPr/>
        </p:nvSpPr>
        <p:spPr>
          <a:xfrm xmlns:a="http://schemas.openxmlformats.org/drawingml/2006/main">
            <a:off x="628650" y="2686050"/>
            <a:ext cx="4524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73F30"/>
                </a:solidFill>
              </a:defRPr>
            </a:defPPr>
            <a:lvl1pPr>
              <a:defRPr sz="4650" b="1">
                <a:solidFill>
                  <a:srgbClr val="173F30"/>
                </a:solidFill>
              </a:defRPr>
            </a:lvl1pPr>
            <a:lvl2pPr>
              <a:defRPr sz="4650" b="1">
                <a:solidFill>
                  <a:srgbClr val="173F30"/>
                </a:solidFill>
              </a:defRPr>
            </a:lvl2pPr>
            <a:lvl3pPr>
              <a:defRPr sz="4650" b="1">
                <a:solidFill>
                  <a:srgbClr val="173F30"/>
                </a:solidFill>
              </a:defRPr>
            </a:lvl3pPr>
            <a:lvl4pPr>
              <a:defRPr sz="4650" b="1">
                <a:solidFill>
                  <a:srgbClr val="173F30"/>
                </a:solidFill>
              </a:defRPr>
            </a:lvl4pPr>
            <a:lvl5pPr>
              <a:defRPr sz="4650" b="1">
                <a:solidFill>
                  <a:srgbClr val="173F30"/>
                </a:solidFill>
              </a:defRPr>
            </a:lvl5pPr>
            <a:lvl6pPr>
              <a:defRPr sz="4650" b="1">
                <a:solidFill>
                  <a:srgbClr val="173F30"/>
                </a:solidFill>
              </a:defRPr>
            </a:lvl6pPr>
            <a:lvl7pPr>
              <a:defRPr sz="4650" b="1">
                <a:solidFill>
                  <a:srgbClr val="173F30"/>
                </a:solidFill>
              </a:defRPr>
            </a:lvl7pPr>
            <a:lvl8pPr>
              <a:defRPr sz="4650" b="1">
                <a:solidFill>
                  <a:srgbClr val="173F30"/>
                </a:solidFill>
              </a:defRPr>
            </a:lvl8pPr>
            <a:lvl9pPr>
              <a:defRPr sz="4650" b="1">
                <a:solidFill>
                  <a:srgbClr val="173F30"/>
                </a:solidFill>
              </a:defRPr>
            </a:lvl9pPr>
          </a:lstStyle>
          <a:p xmlns:a="http://schemas.openxmlformats.org/drawingml/2006/main">
            <a:pPr>
              <a:defRPr sz="4650" b="1">
                <a:solidFill>
                  <a:srgbClr val="173F30"/>
                </a:solidFill>
              </a:defRPr>
            </a:pPr>
            <a:r>
              <a:rPr sz="4650" b="1">
                <a:solidFill>
                  <a:srgbClr val="173F30"/>
                </a:solidFill>
              </a:rPr>
              <a:t>10 points</a:t>
            </a:r>
          </a:p>
        </p:txBody>
      </p:sp>
      <p:sp>
        <p:nvSpPr>
          <p:cNvPr id="7" name="">
            <a:extLst xmlns:a="http://schemas.openxmlformats.org/drawingml/2006/main">
              <a:ext uri="{FF2B5EF4-FFF2-40B4-BE49-F238E27FC236}">
                <a16:creationId xmlns:a16="http://schemas.microsoft.com/office/drawing/2014/main" id="{22C22509-4E05-487E-8B30-4538AB15653F}"/>
              </a:ext>
            </a:extLst>
          </p:cNvPr>
          <p:cNvSpPr>
            <a:spLocks xmlns:a="http://schemas.openxmlformats.org/drawingml/2006/main" noGrp="1"/>
          </p:cNvSpPr>
          <p:nvPr/>
        </p:nvSpPr>
        <p:spPr>
          <a:xfrm xmlns:a="http://schemas.openxmlformats.org/drawingml/2006/main">
            <a:off x="628650" y="37147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6766D"/>
                </a:solidFill>
              </a:defRPr>
            </a:defPPr>
            <a:lvl1pPr>
              <a:defRPr sz="2175" b="0">
                <a:solidFill>
                  <a:srgbClr val="66766D"/>
                </a:solidFill>
              </a:defRPr>
            </a:lvl1pPr>
            <a:lvl2pPr>
              <a:defRPr sz="2175" b="0">
                <a:solidFill>
                  <a:srgbClr val="66766D"/>
                </a:solidFill>
              </a:defRPr>
            </a:lvl2pPr>
            <a:lvl3pPr>
              <a:defRPr sz="2175" b="0">
                <a:solidFill>
                  <a:srgbClr val="66766D"/>
                </a:solidFill>
              </a:defRPr>
            </a:lvl3pPr>
            <a:lvl4pPr>
              <a:defRPr sz="2175" b="0">
                <a:solidFill>
                  <a:srgbClr val="66766D"/>
                </a:solidFill>
              </a:defRPr>
            </a:lvl4pPr>
            <a:lvl5pPr>
              <a:defRPr sz="2175" b="0">
                <a:solidFill>
                  <a:srgbClr val="66766D"/>
                </a:solidFill>
              </a:defRPr>
            </a:lvl5pPr>
            <a:lvl6pPr>
              <a:defRPr sz="2175" b="0">
                <a:solidFill>
                  <a:srgbClr val="66766D"/>
                </a:solidFill>
              </a:defRPr>
            </a:lvl6pPr>
            <a:lvl7pPr>
              <a:defRPr sz="2175" b="0">
                <a:solidFill>
                  <a:srgbClr val="66766D"/>
                </a:solidFill>
              </a:defRPr>
            </a:lvl7pPr>
            <a:lvl8pPr>
              <a:defRPr sz="2175" b="0">
                <a:solidFill>
                  <a:srgbClr val="66766D"/>
                </a:solidFill>
              </a:defRPr>
            </a:lvl8pPr>
            <a:lvl9pPr>
              <a:defRPr sz="2175" b="0">
                <a:solidFill>
                  <a:srgbClr val="66766D"/>
                </a:solidFill>
              </a:defRPr>
            </a:lvl9pPr>
          </a:lstStyle>
          <a:p xmlns:a="http://schemas.openxmlformats.org/drawingml/2006/main">
            <a:pPr>
              <a:defRPr sz="2175" b="0">
                <a:solidFill>
                  <a:srgbClr val="66766D"/>
                </a:solidFill>
              </a:defRPr>
            </a:pPr>
            <a:r>
              <a:rPr sz="2175" b="0">
                <a:solidFill>
                  <a:srgbClr val="66766D"/>
                </a:solidFill>
              </a:rPr>
              <a:t>unlock one pickup credit</a:t>
            </a:r>
          </a:p>
        </p:txBody>
      </p:sp>
      <p:sp>
        <p:nvSpPr>
          <p:cNvPr id="8" name="">
            <a:extLst xmlns:a="http://schemas.openxmlformats.org/drawingml/2006/main">
              <a:ext uri="{FF2B5EF4-FFF2-40B4-BE49-F238E27FC236}">
                <a16:creationId xmlns:a16="http://schemas.microsoft.com/office/drawing/2014/main" id="{4E5D3B4B-2838-4C64-9675-38B299A356F0}"/>
              </a:ext>
            </a:extLst>
          </p:cNvPr>
          <p:cNvSpPr>
            <a:spLocks xmlns:a="http://schemas.openxmlformats.org/drawingml/2006/main" noGrp="1"/>
          </p:cNvSpPr>
          <p:nvPr/>
        </p:nvSpPr>
        <p:spPr>
          <a:xfrm xmlns:a="http://schemas.openxmlformats.org/drawingml/2006/main">
            <a:off x="628650" y="469582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Up to two credits per calendar month.</a:t>
            </a:r>
          </a:p>
          <a:p xmlns:a="http://schemas.openxmlformats.org/drawingml/2006/main">
            <a:pPr>
              <a:defRPr sz="1800" b="0">
                <a:solidFill>
                  <a:srgbClr val="66766D"/>
                </a:solidFill>
              </a:defRPr>
            </a:pPr>
            <a:r>
              <a:rPr sz="1800" b="0">
                <a:solidFill>
                  <a:srgbClr val="66766D"/>
                </a:solidFill>
              </a:rPr>
              <a:t>Each covers the Basic fee up to 2 kg.</a:t>
            </a:r>
          </a:p>
        </p:txBody>
      </p:sp>
    </p:spTree>
    <p:extLst>
      <p:ext uri="{BB962C8B-B14F-4D97-AF65-F5344CB8AC3E}">
        <p14:creationId xmlns:p14="http://schemas.microsoft.com/office/powerpoint/2010/main" val="1236701465"/>
      </p:ext>
    </p:extLst>
  </p:cSld>
</p:sld>
</file>

<file path=ppt/slides/slide1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3252E6F-DB0B-4ABA-84A4-95A5F21737E3}"/>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 useful record of participation</a:t>
            </a:r>
          </a:p>
        </p:txBody>
      </p:sp>
      <p:sp>
        <p:nvSpPr>
          <p:cNvPr id="3" name="">
            <a:extLst xmlns:a="http://schemas.openxmlformats.org/drawingml/2006/main">
              <a:ext uri="{FF2B5EF4-FFF2-40B4-BE49-F238E27FC236}">
                <a16:creationId xmlns:a16="http://schemas.microsoft.com/office/drawing/2014/main" id="{294912BD-A2F1-4302-A2CA-CAE0747190F4}"/>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A completed organic pickup unlocks a downloadable Waste Right certificate.</a:t>
            </a:r>
          </a:p>
        </p:txBody>
      </p:sp>
      <p:sp>
        <p:nvSpPr>
          <p:cNvPr id="4" name="">
            <a:extLst xmlns:a="http://schemas.openxmlformats.org/drawingml/2006/main">
              <a:ext uri="{FF2B5EF4-FFF2-40B4-BE49-F238E27FC236}">
                <a16:creationId xmlns:a16="http://schemas.microsoft.com/office/drawing/2014/main" id="{0F9B4EEA-5CBE-4562-AFF2-5F812EED9710}"/>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16</a:t>
            </a:r>
          </a:p>
        </p:txBody>
      </p:sp>
      <p:pic>
        <p:nvPicPr>
          <p:cNvPr id="5" name="">
            <a:extLst xmlns:a="http://schemas.openxmlformats.org/drawingml/2006/main">
              <a:ext uri="{FF2B5EF4-FFF2-40B4-BE49-F238E27FC236}">
                <a16:creationId xmlns:a16="http://schemas.microsoft.com/office/drawing/2014/main" id="{B18D99D4-7771-425D-9BDE-99817A1D9DED}"/>
              </a:ext>
            </a:extLst>
          </p:cNvPr>
          <p:cNvPicPr>
            <a:picLocks xmlns:a="http://schemas.openxmlformats.org/drawingml/2006/main" noChangeAspect="1"/>
          </p:cNvPicPr>
          <p:nvPr/>
        </p:nvPicPr>
        <p:blipFill>
          <a:blip xmlns:r="http://schemas.openxmlformats.org/officeDocument/2006/relationships" xmlns:a="http://schemas.openxmlformats.org/drawingml/2006/main" r:embed="Rf1068a3ed95743bf"/>
          <a:stretch xmlns:a="http://schemas.openxmlformats.org/drawingml/2006/main"/>
        </p:blipFill>
        <p:spPr>
          <a:xfrm xmlns:a="http://schemas.openxmlformats.org/drawingml/2006/main">
            <a:off x="5595039" y="2286000"/>
            <a:ext cx="5526297"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CEE2AC1-703F-4E8C-B61E-FA45CDB05C2F}"/>
              </a:ext>
            </a:extLst>
          </p:cNvPr>
          <p:cNvSpPr>
            <a:spLocks xmlns:a="http://schemas.openxmlformats.org/drawingml/2006/main" noGrp="1"/>
          </p:cNvSpPr>
          <p:nvPr/>
        </p:nvSpPr>
        <p:spPr>
          <a:xfrm xmlns:a="http://schemas.openxmlformats.org/drawingml/2006/main">
            <a:off x="628650" y="266700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0"/>
                </a:solidFill>
              </a:defRPr>
            </a:defPPr>
            <a:lvl1pPr>
              <a:defRPr sz="2175" b="1">
                <a:solidFill>
                  <a:srgbClr val="173F30"/>
                </a:solidFill>
              </a:defRPr>
            </a:lvl1pPr>
            <a:lvl2pPr>
              <a:defRPr sz="2175" b="1">
                <a:solidFill>
                  <a:srgbClr val="173F30"/>
                </a:solidFill>
              </a:defRPr>
            </a:lvl2pPr>
            <a:lvl3pPr>
              <a:defRPr sz="2175" b="1">
                <a:solidFill>
                  <a:srgbClr val="173F30"/>
                </a:solidFill>
              </a:defRPr>
            </a:lvl3pPr>
            <a:lvl4pPr>
              <a:defRPr sz="2175" b="1">
                <a:solidFill>
                  <a:srgbClr val="173F30"/>
                </a:solidFill>
              </a:defRPr>
            </a:lvl4pPr>
            <a:lvl5pPr>
              <a:defRPr sz="2175" b="1">
                <a:solidFill>
                  <a:srgbClr val="173F30"/>
                </a:solidFill>
              </a:defRPr>
            </a:lvl5pPr>
            <a:lvl6pPr>
              <a:defRPr sz="2175" b="1">
                <a:solidFill>
                  <a:srgbClr val="173F30"/>
                </a:solidFill>
              </a:defRPr>
            </a:lvl6pPr>
            <a:lvl7pPr>
              <a:defRPr sz="2175" b="1">
                <a:solidFill>
                  <a:srgbClr val="173F30"/>
                </a:solidFill>
              </a:defRPr>
            </a:lvl7pPr>
            <a:lvl8pPr>
              <a:defRPr sz="2175" b="1">
                <a:solidFill>
                  <a:srgbClr val="173F30"/>
                </a:solidFill>
              </a:defRPr>
            </a:lvl8pPr>
            <a:lvl9pPr>
              <a:defRPr sz="2175" b="1">
                <a:solidFill>
                  <a:srgbClr val="173F30"/>
                </a:solidFill>
              </a:defRPr>
            </a:lvl9pPr>
          </a:lstStyle>
          <a:p xmlns:a="http://schemas.openxmlformats.org/drawingml/2006/main">
            <a:pPr>
              <a:defRPr sz="2175" b="1">
                <a:solidFill>
                  <a:srgbClr val="173F30"/>
                </a:solidFill>
              </a:defRPr>
            </a:pPr>
            <a:r>
              <a:rPr sz="2175" b="1">
                <a:solidFill>
                  <a:srgbClr val="173F30"/>
                </a:solidFill>
              </a:rPr>
              <a:t>Name and participation ID</a:t>
            </a:r>
          </a:p>
        </p:txBody>
      </p:sp>
      <p:sp>
        <p:nvSpPr>
          <p:cNvPr id="7" name="">
            <a:extLst xmlns:a="http://schemas.openxmlformats.org/drawingml/2006/main">
              <a:ext uri="{FF2B5EF4-FFF2-40B4-BE49-F238E27FC236}">
                <a16:creationId xmlns:a16="http://schemas.microsoft.com/office/drawing/2014/main" id="{5A101953-9D1A-4716-9E30-594AF3FC8AD3}"/>
              </a:ext>
            </a:extLst>
          </p:cNvPr>
          <p:cNvSpPr>
            <a:spLocks xmlns:a="http://schemas.openxmlformats.org/drawingml/2006/main" noGrp="1"/>
          </p:cNvSpPr>
          <p:nvPr/>
        </p:nvSpPr>
        <p:spPr>
          <a:xfrm xmlns:a="http://schemas.openxmlformats.org/drawingml/2006/main">
            <a:off x="628650" y="3562350"/>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Completed organic pickups</a:t>
            </a:r>
          </a:p>
          <a:p xmlns:a="http://schemas.openxmlformats.org/drawingml/2006/main">
            <a:pPr>
              <a:defRPr sz="1875" b="0">
                <a:solidFill>
                  <a:srgbClr val="66766D"/>
                </a:solidFill>
              </a:defRPr>
            </a:pPr>
            <a:r>
              <a:rPr sz="1875" b="0">
                <a:solidFill>
                  <a:srgbClr val="66766D"/>
                </a:solidFill>
              </a:rPr>
              <a:t>Helper-measured organic kg</a:t>
            </a:r>
          </a:p>
          <a:p xmlns:a="http://schemas.openxmlformats.org/drawingml/2006/main">
            <a:pPr>
              <a:defRPr sz="1875" b="0">
                <a:solidFill>
                  <a:srgbClr val="66766D"/>
                </a:solidFill>
              </a:defRPr>
            </a:pPr>
            <a:r>
              <a:rPr sz="1875" b="0">
                <a:solidFill>
                  <a:srgbClr val="66766D"/>
                </a:solidFill>
              </a:rPr>
              <a:t>Issue date and activity snapshot</a:t>
            </a:r>
          </a:p>
        </p:txBody>
      </p:sp>
      <p:sp>
        <p:nvSpPr>
          <p:cNvPr id="8" name="">
            <a:extLst xmlns:a="http://schemas.openxmlformats.org/drawingml/2006/main">
              <a:ext uri="{FF2B5EF4-FFF2-40B4-BE49-F238E27FC236}">
                <a16:creationId xmlns:a16="http://schemas.microsoft.com/office/drawing/2014/main" id="{1DF7D7A6-98CB-43DE-A5AF-13A0D47DFABF}"/>
              </a:ext>
            </a:extLst>
          </p:cNvPr>
          <p:cNvSpPr>
            <a:spLocks xmlns:a="http://schemas.openxmlformats.org/drawingml/2006/main" noGrp="1"/>
          </p:cNvSpPr>
          <p:nvPr/>
        </p:nvSpPr>
        <p:spPr>
          <a:xfrm xmlns:a="http://schemas.openxmlformats.org/drawingml/2006/main">
            <a:off x="628650" y="53816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7770AA"/>
                </a:solidFill>
              </a:defRPr>
            </a:defPPr>
            <a:lvl1pPr>
              <a:defRPr sz="1725" b="1">
                <a:solidFill>
                  <a:srgbClr val="7770AA"/>
                </a:solidFill>
              </a:defRPr>
            </a:lvl1pPr>
            <a:lvl2pPr>
              <a:defRPr sz="1725" b="1">
                <a:solidFill>
                  <a:srgbClr val="7770AA"/>
                </a:solidFill>
              </a:defRPr>
            </a:lvl2pPr>
            <a:lvl3pPr>
              <a:defRPr sz="1725" b="1">
                <a:solidFill>
                  <a:srgbClr val="7770AA"/>
                </a:solidFill>
              </a:defRPr>
            </a:lvl3pPr>
            <a:lvl4pPr>
              <a:defRPr sz="1725" b="1">
                <a:solidFill>
                  <a:srgbClr val="7770AA"/>
                </a:solidFill>
              </a:defRPr>
            </a:lvl4pPr>
            <a:lvl5pPr>
              <a:defRPr sz="1725" b="1">
                <a:solidFill>
                  <a:srgbClr val="7770AA"/>
                </a:solidFill>
              </a:defRPr>
            </a:lvl5pPr>
            <a:lvl6pPr>
              <a:defRPr sz="1725" b="1">
                <a:solidFill>
                  <a:srgbClr val="7770AA"/>
                </a:solidFill>
              </a:defRPr>
            </a:lvl6pPr>
            <a:lvl7pPr>
              <a:defRPr sz="1725" b="1">
                <a:solidFill>
                  <a:srgbClr val="7770AA"/>
                </a:solidFill>
              </a:defRPr>
            </a:lvl7pPr>
            <a:lvl8pPr>
              <a:defRPr sz="1725" b="1">
                <a:solidFill>
                  <a:srgbClr val="7770AA"/>
                </a:solidFill>
              </a:defRPr>
            </a:lvl8pPr>
            <a:lvl9pPr>
              <a:defRPr sz="1725" b="1">
                <a:solidFill>
                  <a:srgbClr val="7770AA"/>
                </a:solidFill>
              </a:defRPr>
            </a:lvl9pPr>
          </a:lstStyle>
          <a:p xmlns:a="http://schemas.openxmlformats.org/drawingml/2006/main">
            <a:pPr>
              <a:defRPr sz="1725" b="1">
                <a:solidFill>
                  <a:srgbClr val="7770AA"/>
                </a:solidFill>
              </a:defRPr>
            </a:pPr>
            <a:r>
              <a:rPr sz="1725" b="1">
                <a:solidFill>
                  <a:srgbClr val="7770AA"/>
                </a:solidFill>
              </a:rPr>
              <a:t>Independent issuer: Waste Right</a:t>
            </a:r>
          </a:p>
        </p:txBody>
      </p:sp>
      <p:sp>
        <p:nvSpPr>
          <p:cNvPr id="9" name="">
            <a:extLst xmlns:a="http://schemas.openxmlformats.org/drawingml/2006/main">
              <a:ext uri="{FF2B5EF4-FFF2-40B4-BE49-F238E27FC236}">
                <a16:creationId xmlns:a16="http://schemas.microsoft.com/office/drawing/2014/main" id="{2B9C8BAC-21E9-4BF6-8C62-A90A6FC9A6EE}"/>
              </a:ext>
            </a:extLst>
          </p:cNvPr>
          <p:cNvSpPr>
            <a:spLocks xmlns:a="http://schemas.openxmlformats.org/drawingml/2006/main" noGrp="1"/>
          </p:cNvSpPr>
          <p:nvPr/>
        </p:nvSpPr>
        <p:spPr>
          <a:xfrm xmlns:a="http://schemas.openxmlformats.org/drawingml/2006/main">
            <a:off x="7620000" y="61150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6766D"/>
                </a:solidFill>
              </a:defRPr>
            </a:defPPr>
            <a:lvl1pPr>
              <a:defRPr sz="1125" b="0">
                <a:solidFill>
                  <a:srgbClr val="66766D"/>
                </a:solidFill>
              </a:defRPr>
            </a:lvl1pPr>
            <a:lvl2pPr>
              <a:defRPr sz="1125" b="0">
                <a:solidFill>
                  <a:srgbClr val="66766D"/>
                </a:solidFill>
              </a:defRPr>
            </a:lvl2pPr>
            <a:lvl3pPr>
              <a:defRPr sz="1125" b="0">
                <a:solidFill>
                  <a:srgbClr val="66766D"/>
                </a:solidFill>
              </a:defRPr>
            </a:lvl3pPr>
            <a:lvl4pPr>
              <a:defRPr sz="1125" b="0">
                <a:solidFill>
                  <a:srgbClr val="66766D"/>
                </a:solidFill>
              </a:defRPr>
            </a:lvl4pPr>
            <a:lvl5pPr>
              <a:defRPr sz="1125" b="0">
                <a:solidFill>
                  <a:srgbClr val="66766D"/>
                </a:solidFill>
              </a:defRPr>
            </a:lvl5pPr>
            <a:lvl6pPr>
              <a:defRPr sz="1125" b="0">
                <a:solidFill>
                  <a:srgbClr val="66766D"/>
                </a:solidFill>
              </a:defRPr>
            </a:lvl6pPr>
            <a:lvl7pPr>
              <a:defRPr sz="1125" b="0">
                <a:solidFill>
                  <a:srgbClr val="66766D"/>
                </a:solidFill>
              </a:defRPr>
            </a:lvl7pPr>
            <a:lvl8pPr>
              <a:defRPr sz="1125" b="0">
                <a:solidFill>
                  <a:srgbClr val="66766D"/>
                </a:solidFill>
              </a:defRPr>
            </a:lvl8pPr>
            <a:lvl9pPr>
              <a:defRPr sz="1125" b="0">
                <a:solidFill>
                  <a:srgbClr val="66766D"/>
                </a:solidFill>
              </a:defRPr>
            </a:lvl9pPr>
          </a:lstStyle>
          <a:p xmlns:a="http://schemas.openxmlformats.org/drawingml/2006/main">
            <a:pPr>
              <a:defRPr sz="1125" b="0">
                <a:solidFill>
                  <a:srgbClr val="66766D"/>
                </a:solidFill>
              </a:defRPr>
            </a:pPr>
            <a:r>
              <a:rPr sz="1125" b="0">
                <a:solidFill>
                  <a:srgbClr val="66766D"/>
                </a:solidFill>
              </a:rPr>
              <a:t>Illustrative certificate</a:t>
            </a:r>
          </a:p>
        </p:txBody>
      </p:sp>
    </p:spTree>
    <p:extLst>
      <p:ext uri="{BB962C8B-B14F-4D97-AF65-F5344CB8AC3E}">
        <p14:creationId xmlns:p14="http://schemas.microsoft.com/office/powerpoint/2010/main" val="1123737418"/>
      </p:ext>
    </p:extLst>
  </p:cSld>
</p:sld>
</file>

<file path=ppt/slides/slide17.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DDE4D50-8649-4500-8605-CF8D3871D91A}"/>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How Waste Right earns revenue</a:t>
            </a:r>
          </a:p>
        </p:txBody>
      </p:sp>
      <p:sp>
        <p:nvSpPr>
          <p:cNvPr id="3" name="">
            <a:extLst xmlns:a="http://schemas.openxmlformats.org/drawingml/2006/main">
              <a:ext uri="{FF2B5EF4-FFF2-40B4-BE49-F238E27FC236}">
                <a16:creationId xmlns:a16="http://schemas.microsoft.com/office/drawing/2014/main" id="{CEFF8AD3-491C-4A57-986A-2B04BEA9248C}"/>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Customer payments and verified material recovery fund the service.</a:t>
            </a:r>
          </a:p>
        </p:txBody>
      </p:sp>
      <p:sp>
        <p:nvSpPr>
          <p:cNvPr id="4" name="">
            <a:extLst xmlns:a="http://schemas.openxmlformats.org/drawingml/2006/main">
              <a:ext uri="{FF2B5EF4-FFF2-40B4-BE49-F238E27FC236}">
                <a16:creationId xmlns:a16="http://schemas.microsoft.com/office/drawing/2014/main" id="{2F410B08-AF3B-450A-AD57-7051C8D6831C}"/>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17</a:t>
            </a:r>
          </a:p>
        </p:txBody>
      </p:sp>
      <p:sp>
        <p:nvSpPr>
          <p:cNvPr id="5" name="">
            <a:extLst xmlns:a="http://schemas.openxmlformats.org/drawingml/2006/main">
              <a:ext uri="{FF2B5EF4-FFF2-40B4-BE49-F238E27FC236}">
                <a16:creationId xmlns:a16="http://schemas.microsoft.com/office/drawing/2014/main" id="{87630522-D976-4333-8B3C-42DB10FDA771}"/>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Pickup fees</a:t>
            </a:r>
          </a:p>
        </p:txBody>
      </p:sp>
      <p:sp>
        <p:nvSpPr>
          <p:cNvPr id="6" name="">
            <a:extLst xmlns:a="http://schemas.openxmlformats.org/drawingml/2006/main">
              <a:ext uri="{FF2B5EF4-FFF2-40B4-BE49-F238E27FC236}">
                <a16:creationId xmlns:a16="http://schemas.microsoft.com/office/drawing/2014/main" id="{06D7B3AA-9A11-4465-B0E8-78183C2C6939}"/>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Basic collections generate a fee for each completed booking.</a:t>
            </a:r>
          </a:p>
        </p:txBody>
      </p:sp>
      <p:sp>
        <p:nvSpPr>
          <p:cNvPr id="7" name="">
            <a:extLst xmlns:a="http://schemas.openxmlformats.org/drawingml/2006/main">
              <a:ext uri="{FF2B5EF4-FFF2-40B4-BE49-F238E27FC236}">
                <a16:creationId xmlns:a16="http://schemas.microsoft.com/office/drawing/2014/main" id="{613F75BE-13A8-4C99-B087-A4A4C66BA22E}"/>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Monthly passes</a:t>
            </a:r>
          </a:p>
        </p:txBody>
      </p:sp>
      <p:sp>
        <p:nvSpPr>
          <p:cNvPr id="8" name="">
            <a:extLst xmlns:a="http://schemas.openxmlformats.org/drawingml/2006/main">
              <a:ext uri="{FF2B5EF4-FFF2-40B4-BE49-F238E27FC236}">
                <a16:creationId xmlns:a16="http://schemas.microsoft.com/office/drawing/2014/main" id="{A4061460-459E-4154-AD7C-3650F6BBE7DF}"/>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Gold and Platinum generate revenue when residents buy or renew their pass.</a:t>
            </a:r>
          </a:p>
        </p:txBody>
      </p:sp>
      <p:sp>
        <p:nvSpPr>
          <p:cNvPr id="9" name="">
            <a:extLst xmlns:a="http://schemas.openxmlformats.org/drawingml/2006/main">
              <a:ext uri="{FF2B5EF4-FFF2-40B4-BE49-F238E27FC236}">
                <a16:creationId xmlns:a16="http://schemas.microsoft.com/office/drawing/2014/main" id="{233D95EF-A7C5-45E2-B666-540F10524DED}"/>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Material recovery</a:t>
            </a:r>
          </a:p>
        </p:txBody>
      </p:sp>
      <p:sp>
        <p:nvSpPr>
          <p:cNvPr id="10" name="">
            <a:extLst xmlns:a="http://schemas.openxmlformats.org/drawingml/2006/main">
              <a:ext uri="{FF2B5EF4-FFF2-40B4-BE49-F238E27FC236}">
                <a16:creationId xmlns:a16="http://schemas.microsoft.com/office/drawing/2014/main" id="{34839876-DC20-48D3-8CFF-54DC04119E4A}"/>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Accepted recycler or processor proceeds contribute after direct costs and shares.</a:t>
            </a:r>
          </a:p>
        </p:txBody>
      </p:sp>
      <p:sp>
        <p:nvSpPr>
          <p:cNvPr id="11" name="">
            <a:extLst xmlns:a="http://schemas.openxmlformats.org/drawingml/2006/main">
              <a:ext uri="{FF2B5EF4-FFF2-40B4-BE49-F238E27FC236}">
                <a16:creationId xmlns:a16="http://schemas.microsoft.com/office/drawing/2014/main" id="{9FF71271-5C26-4B03-8EC1-E7CB9648558C}"/>
              </a:ext>
            </a:extLst>
          </p:cNvPr>
          <p:cNvSpPr>
            <a:spLocks xmlns:a="http://schemas.openxmlformats.org/drawingml/2006/main" noGrp="1"/>
          </p:cNvSpPr>
          <p:nvPr/>
        </p:nvSpPr>
        <p:spPr>
          <a:xfrm xmlns:a="http://schemas.openxmlformats.org/drawingml/2006/main">
            <a:off x="628650" y="57531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770AA"/>
                </a:solidFill>
              </a:defRPr>
            </a:defPPr>
            <a:lvl1pPr>
              <a:defRPr sz="1650" b="1">
                <a:solidFill>
                  <a:srgbClr val="7770AA"/>
                </a:solidFill>
              </a:defRPr>
            </a:lvl1pPr>
            <a:lvl2pPr>
              <a:defRPr sz="1650" b="1">
                <a:solidFill>
                  <a:srgbClr val="7770AA"/>
                </a:solidFill>
              </a:defRPr>
            </a:lvl2pPr>
            <a:lvl3pPr>
              <a:defRPr sz="1650" b="1">
                <a:solidFill>
                  <a:srgbClr val="7770AA"/>
                </a:solidFill>
              </a:defRPr>
            </a:lvl3pPr>
            <a:lvl4pPr>
              <a:defRPr sz="1650" b="1">
                <a:solidFill>
                  <a:srgbClr val="7770AA"/>
                </a:solidFill>
              </a:defRPr>
            </a:lvl4pPr>
            <a:lvl5pPr>
              <a:defRPr sz="1650" b="1">
                <a:solidFill>
                  <a:srgbClr val="7770AA"/>
                </a:solidFill>
              </a:defRPr>
            </a:lvl5pPr>
            <a:lvl6pPr>
              <a:defRPr sz="1650" b="1">
                <a:solidFill>
                  <a:srgbClr val="7770AA"/>
                </a:solidFill>
              </a:defRPr>
            </a:lvl6pPr>
            <a:lvl7pPr>
              <a:defRPr sz="1650" b="1">
                <a:solidFill>
                  <a:srgbClr val="7770AA"/>
                </a:solidFill>
              </a:defRPr>
            </a:lvl7pPr>
            <a:lvl8pPr>
              <a:defRPr sz="1650" b="1">
                <a:solidFill>
                  <a:srgbClr val="7770AA"/>
                </a:solidFill>
              </a:defRPr>
            </a:lvl8pPr>
            <a:lvl9pPr>
              <a:defRPr sz="1650" b="1">
                <a:solidFill>
                  <a:srgbClr val="7770AA"/>
                </a:solidFill>
              </a:defRPr>
            </a:lvl9pPr>
          </a:lstStyle>
          <a:p xmlns:a="http://schemas.openxmlformats.org/drawingml/2006/main">
            <a:pPr>
              <a:defRPr sz="1650" b="1">
                <a:solidFill>
                  <a:srgbClr val="7770AA"/>
                </a:solidFill>
              </a:defRPr>
            </a:pPr>
            <a:r>
              <a:rPr sz="1650" b="1">
                <a:solidFill>
                  <a:srgbClr val="7770AA"/>
                </a:solidFill>
              </a:rPr>
              <a:t>Government support adds income only after eligibility and actual receipt.</a:t>
            </a:r>
          </a:p>
        </p:txBody>
      </p:sp>
    </p:spTree>
    <p:extLst>
      <p:ext uri="{BB962C8B-B14F-4D97-AF65-F5344CB8AC3E}">
        <p14:creationId xmlns:p14="http://schemas.microsoft.com/office/powerpoint/2010/main" val="402450745"/>
      </p:ext>
    </p:extLst>
  </p:cSld>
</p:sld>
</file>

<file path=ppt/slides/slide18.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3E9B0D-C438-43F5-A3BB-C70468C78C53}"/>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 ₹10 pickup leaves a narrow margin</a:t>
            </a:r>
          </a:p>
        </p:txBody>
      </p:sp>
      <p:sp>
        <p:nvSpPr>
          <p:cNvPr id="3" name="">
            <a:extLst xmlns:a="http://schemas.openxmlformats.org/drawingml/2006/main">
              <a:ext uri="{FF2B5EF4-FFF2-40B4-BE49-F238E27FC236}">
                <a16:creationId xmlns:a16="http://schemas.microsoft.com/office/drawing/2014/main" id="{EB8B38AF-1F7F-44F6-A772-5F45ABB26E5E}"/>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Illustrative base-fee calculation before travel and other costs.</a:t>
            </a:r>
          </a:p>
        </p:txBody>
      </p:sp>
      <p:sp>
        <p:nvSpPr>
          <p:cNvPr id="4" name="">
            <a:extLst xmlns:a="http://schemas.openxmlformats.org/drawingml/2006/main">
              <a:ext uri="{FF2B5EF4-FFF2-40B4-BE49-F238E27FC236}">
                <a16:creationId xmlns:a16="http://schemas.microsoft.com/office/drawing/2014/main" id="{864A0A26-C7FA-46F3-B722-AC2277902D0D}"/>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18</a:t>
            </a:r>
          </a:p>
        </p:txBody>
      </p:sp>
      <p:sp>
        <p:nvSpPr>
          <p:cNvPr id="5" name="">
            <a:extLst xmlns:a="http://schemas.openxmlformats.org/drawingml/2006/main">
              <a:ext uri="{FF2B5EF4-FFF2-40B4-BE49-F238E27FC236}">
                <a16:creationId xmlns:a16="http://schemas.microsoft.com/office/drawing/2014/main" id="{CA758533-474D-43B3-BCE2-8DCE0AD10F66}"/>
              </a:ext>
            </a:extLst>
          </p:cNvPr>
          <p:cNvSpPr>
            <a:spLocks xmlns:a="http://schemas.openxmlformats.org/drawingml/2006/main" noGrp="1"/>
          </p:cNvSpPr>
          <p:nvPr/>
        </p:nvSpPr>
        <p:spPr>
          <a:xfrm xmlns:a="http://schemas.openxmlformats.org/drawingml/2006/main">
            <a:off x="628650" y="26670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173F30"/>
                </a:solidFill>
              </a:defRPr>
            </a:defPPr>
            <a:lvl1pPr>
              <a:defRPr sz="6000" b="1">
                <a:solidFill>
                  <a:srgbClr val="173F30"/>
                </a:solidFill>
              </a:defRPr>
            </a:lvl1pPr>
            <a:lvl2pPr>
              <a:defRPr sz="6000" b="1">
                <a:solidFill>
                  <a:srgbClr val="173F30"/>
                </a:solidFill>
              </a:defRPr>
            </a:lvl2pPr>
            <a:lvl3pPr>
              <a:defRPr sz="6000" b="1">
                <a:solidFill>
                  <a:srgbClr val="173F30"/>
                </a:solidFill>
              </a:defRPr>
            </a:lvl3pPr>
            <a:lvl4pPr>
              <a:defRPr sz="6000" b="1">
                <a:solidFill>
                  <a:srgbClr val="173F30"/>
                </a:solidFill>
              </a:defRPr>
            </a:lvl4pPr>
            <a:lvl5pPr>
              <a:defRPr sz="6000" b="1">
                <a:solidFill>
                  <a:srgbClr val="173F30"/>
                </a:solidFill>
              </a:defRPr>
            </a:lvl5pPr>
            <a:lvl6pPr>
              <a:defRPr sz="6000" b="1">
                <a:solidFill>
                  <a:srgbClr val="173F30"/>
                </a:solidFill>
              </a:defRPr>
            </a:lvl6pPr>
            <a:lvl7pPr>
              <a:defRPr sz="6000" b="1">
                <a:solidFill>
                  <a:srgbClr val="173F30"/>
                </a:solidFill>
              </a:defRPr>
            </a:lvl7pPr>
            <a:lvl8pPr>
              <a:defRPr sz="6000" b="1">
                <a:solidFill>
                  <a:srgbClr val="173F30"/>
                </a:solidFill>
              </a:defRPr>
            </a:lvl8pPr>
            <a:lvl9pPr>
              <a:defRPr sz="6000" b="1">
                <a:solidFill>
                  <a:srgbClr val="173F30"/>
                </a:solidFill>
              </a:defRPr>
            </a:lvl9pPr>
          </a:lstStyle>
          <a:p xmlns:a="http://schemas.openxmlformats.org/drawingml/2006/main">
            <a:pPr>
              <a:defRPr sz="6000" b="1">
                <a:solidFill>
                  <a:srgbClr val="173F30"/>
                </a:solidFill>
              </a:defRPr>
            </a:pPr>
            <a:r>
              <a:rPr sz="6000" b="1">
                <a:solidFill>
                  <a:srgbClr val="173F30"/>
                </a:solidFill>
              </a:rPr>
              <a:t>₹10</a:t>
            </a:r>
          </a:p>
        </p:txBody>
      </p:sp>
      <p:sp>
        <p:nvSpPr>
          <p:cNvPr id="6" name="">
            <a:extLst xmlns:a="http://schemas.openxmlformats.org/drawingml/2006/main">
              <a:ext uri="{FF2B5EF4-FFF2-40B4-BE49-F238E27FC236}">
                <a16:creationId xmlns:a16="http://schemas.microsoft.com/office/drawing/2014/main" id="{940CCBD4-1CAA-4987-8329-D15CC23C3B77}"/>
              </a:ext>
            </a:extLst>
          </p:cNvPr>
          <p:cNvSpPr>
            <a:spLocks xmlns:a="http://schemas.openxmlformats.org/drawingml/2006/main" noGrp="1"/>
          </p:cNvSpPr>
          <p:nvPr/>
        </p:nvSpPr>
        <p:spPr>
          <a:xfrm xmlns:a="http://schemas.openxmlformats.org/drawingml/2006/main">
            <a:off x="6286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6766D"/>
                </a:solidFill>
              </a:defRPr>
            </a:defPPr>
            <a:lvl1pPr>
              <a:defRPr sz="2025" b="0">
                <a:solidFill>
                  <a:srgbClr val="66766D"/>
                </a:solidFill>
              </a:defRPr>
            </a:lvl1pPr>
            <a:lvl2pPr>
              <a:defRPr sz="2025" b="0">
                <a:solidFill>
                  <a:srgbClr val="66766D"/>
                </a:solidFill>
              </a:defRPr>
            </a:lvl2pPr>
            <a:lvl3pPr>
              <a:defRPr sz="2025" b="0">
                <a:solidFill>
                  <a:srgbClr val="66766D"/>
                </a:solidFill>
              </a:defRPr>
            </a:lvl3pPr>
            <a:lvl4pPr>
              <a:defRPr sz="2025" b="0">
                <a:solidFill>
                  <a:srgbClr val="66766D"/>
                </a:solidFill>
              </a:defRPr>
            </a:lvl4pPr>
            <a:lvl5pPr>
              <a:defRPr sz="2025" b="0">
                <a:solidFill>
                  <a:srgbClr val="66766D"/>
                </a:solidFill>
              </a:defRPr>
            </a:lvl5pPr>
            <a:lvl6pPr>
              <a:defRPr sz="2025" b="0">
                <a:solidFill>
                  <a:srgbClr val="66766D"/>
                </a:solidFill>
              </a:defRPr>
            </a:lvl6pPr>
            <a:lvl7pPr>
              <a:defRPr sz="2025" b="0">
                <a:solidFill>
                  <a:srgbClr val="66766D"/>
                </a:solidFill>
              </a:defRPr>
            </a:lvl7pPr>
            <a:lvl8pPr>
              <a:defRPr sz="2025" b="0">
                <a:solidFill>
                  <a:srgbClr val="66766D"/>
                </a:solidFill>
              </a:defRPr>
            </a:lvl8pPr>
            <a:lvl9pPr>
              <a:defRPr sz="2025" b="0">
                <a:solidFill>
                  <a:srgbClr val="66766D"/>
                </a:solidFill>
              </a:defRPr>
            </a:lvl9pPr>
          </a:lstStyle>
          <a:p xmlns:a="http://schemas.openxmlformats.org/drawingml/2006/main">
            <a:pPr>
              <a:defRPr sz="2025" b="0">
                <a:solidFill>
                  <a:srgbClr val="66766D"/>
                </a:solidFill>
              </a:defRPr>
            </a:pPr>
            <a:r>
              <a:rPr sz="2025" b="0">
                <a:solidFill>
                  <a:srgbClr val="66766D"/>
                </a:solidFill>
              </a:rPr>
              <a:t>customer pickup fee</a:t>
            </a:r>
          </a:p>
        </p:txBody>
      </p:sp>
      <p:sp>
        <p:nvSpPr>
          <p:cNvPr id="7" name="">
            <a:extLst xmlns:a="http://schemas.openxmlformats.org/drawingml/2006/main">
              <a:ext uri="{FF2B5EF4-FFF2-40B4-BE49-F238E27FC236}">
                <a16:creationId xmlns:a16="http://schemas.microsoft.com/office/drawing/2014/main" id="{66E9B088-C509-4B29-A472-B9445FC45B2B}"/>
              </a:ext>
            </a:extLst>
          </p:cNvPr>
          <p:cNvSpPr>
            <a:spLocks xmlns:a="http://schemas.openxmlformats.org/drawingml/2006/main" noGrp="1"/>
          </p:cNvSpPr>
          <p:nvPr/>
        </p:nvSpPr>
        <p:spPr>
          <a:xfrm xmlns:a="http://schemas.openxmlformats.org/drawingml/2006/main">
            <a:off x="4352925" y="26670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173F30"/>
                </a:solidFill>
              </a:defRPr>
            </a:defPPr>
            <a:lvl1pPr>
              <a:defRPr sz="6000" b="1">
                <a:solidFill>
                  <a:srgbClr val="173F30"/>
                </a:solidFill>
              </a:defRPr>
            </a:lvl1pPr>
            <a:lvl2pPr>
              <a:defRPr sz="6000" b="1">
                <a:solidFill>
                  <a:srgbClr val="173F30"/>
                </a:solidFill>
              </a:defRPr>
            </a:lvl2pPr>
            <a:lvl3pPr>
              <a:defRPr sz="6000" b="1">
                <a:solidFill>
                  <a:srgbClr val="173F30"/>
                </a:solidFill>
              </a:defRPr>
            </a:lvl3pPr>
            <a:lvl4pPr>
              <a:defRPr sz="6000" b="1">
                <a:solidFill>
                  <a:srgbClr val="173F30"/>
                </a:solidFill>
              </a:defRPr>
            </a:lvl4pPr>
            <a:lvl5pPr>
              <a:defRPr sz="6000" b="1">
                <a:solidFill>
                  <a:srgbClr val="173F30"/>
                </a:solidFill>
              </a:defRPr>
            </a:lvl5pPr>
            <a:lvl6pPr>
              <a:defRPr sz="6000" b="1">
                <a:solidFill>
                  <a:srgbClr val="173F30"/>
                </a:solidFill>
              </a:defRPr>
            </a:lvl6pPr>
            <a:lvl7pPr>
              <a:defRPr sz="6000" b="1">
                <a:solidFill>
                  <a:srgbClr val="173F30"/>
                </a:solidFill>
              </a:defRPr>
            </a:lvl7pPr>
            <a:lvl8pPr>
              <a:defRPr sz="6000" b="1">
                <a:solidFill>
                  <a:srgbClr val="173F30"/>
                </a:solidFill>
              </a:defRPr>
            </a:lvl8pPr>
            <a:lvl9pPr>
              <a:defRPr sz="6000" b="1">
                <a:solidFill>
                  <a:srgbClr val="173F30"/>
                </a:solidFill>
              </a:defRPr>
            </a:lvl9pPr>
          </a:lstStyle>
          <a:p xmlns:a="http://schemas.openxmlformats.org/drawingml/2006/main">
            <a:pPr>
              <a:defRPr sz="6000" b="1">
                <a:solidFill>
                  <a:srgbClr val="173F30"/>
                </a:solidFill>
              </a:defRPr>
            </a:pPr>
            <a:r>
              <a:rPr sz="6000" b="1">
                <a:solidFill>
                  <a:srgbClr val="173F30"/>
                </a:solidFill>
              </a:rPr>
              <a:t>₹8</a:t>
            </a:r>
          </a:p>
        </p:txBody>
      </p:sp>
      <p:sp>
        <p:nvSpPr>
          <p:cNvPr id="8" name="">
            <a:extLst xmlns:a="http://schemas.openxmlformats.org/drawingml/2006/main">
              <a:ext uri="{FF2B5EF4-FFF2-40B4-BE49-F238E27FC236}">
                <a16:creationId xmlns:a16="http://schemas.microsoft.com/office/drawing/2014/main" id="{2AC7E6B4-E0F7-433C-A485-15F458472E73}"/>
              </a:ext>
            </a:extLst>
          </p:cNvPr>
          <p:cNvSpPr>
            <a:spLocks xmlns:a="http://schemas.openxmlformats.org/drawingml/2006/main" noGrp="1"/>
          </p:cNvSpPr>
          <p:nvPr/>
        </p:nvSpPr>
        <p:spPr>
          <a:xfrm xmlns:a="http://schemas.openxmlformats.org/drawingml/2006/main">
            <a:off x="4352925" y="38195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6766D"/>
                </a:solidFill>
              </a:defRPr>
            </a:defPPr>
            <a:lvl1pPr>
              <a:defRPr sz="2025" b="0">
                <a:solidFill>
                  <a:srgbClr val="66766D"/>
                </a:solidFill>
              </a:defRPr>
            </a:lvl1pPr>
            <a:lvl2pPr>
              <a:defRPr sz="2025" b="0">
                <a:solidFill>
                  <a:srgbClr val="66766D"/>
                </a:solidFill>
              </a:defRPr>
            </a:lvl2pPr>
            <a:lvl3pPr>
              <a:defRPr sz="2025" b="0">
                <a:solidFill>
                  <a:srgbClr val="66766D"/>
                </a:solidFill>
              </a:defRPr>
            </a:lvl3pPr>
            <a:lvl4pPr>
              <a:defRPr sz="2025" b="0">
                <a:solidFill>
                  <a:srgbClr val="66766D"/>
                </a:solidFill>
              </a:defRPr>
            </a:lvl4pPr>
            <a:lvl5pPr>
              <a:defRPr sz="2025" b="0">
                <a:solidFill>
                  <a:srgbClr val="66766D"/>
                </a:solidFill>
              </a:defRPr>
            </a:lvl5pPr>
            <a:lvl6pPr>
              <a:defRPr sz="2025" b="0">
                <a:solidFill>
                  <a:srgbClr val="66766D"/>
                </a:solidFill>
              </a:defRPr>
            </a:lvl6pPr>
            <a:lvl7pPr>
              <a:defRPr sz="2025" b="0">
                <a:solidFill>
                  <a:srgbClr val="66766D"/>
                </a:solidFill>
              </a:defRPr>
            </a:lvl7pPr>
            <a:lvl8pPr>
              <a:defRPr sz="2025" b="0">
                <a:solidFill>
                  <a:srgbClr val="66766D"/>
                </a:solidFill>
              </a:defRPr>
            </a:lvl8pPr>
            <a:lvl9pPr>
              <a:defRPr sz="2025" b="0">
                <a:solidFill>
                  <a:srgbClr val="66766D"/>
                </a:solidFill>
              </a:defRPr>
            </a:lvl9pPr>
          </a:lstStyle>
          <a:p xmlns:a="http://schemas.openxmlformats.org/drawingml/2006/main">
            <a:pPr>
              <a:defRPr sz="2025" b="0">
                <a:solidFill>
                  <a:srgbClr val="66766D"/>
                </a:solidFill>
              </a:defRPr>
            </a:pPr>
            <a:r>
              <a:rPr sz="2025" b="0">
                <a:solidFill>
                  <a:srgbClr val="66766D"/>
                </a:solidFill>
              </a:rPr>
              <a:t>base helper pay</a:t>
            </a:r>
          </a:p>
        </p:txBody>
      </p:sp>
      <p:sp>
        <p:nvSpPr>
          <p:cNvPr id="9" name="">
            <a:extLst xmlns:a="http://schemas.openxmlformats.org/drawingml/2006/main">
              <a:ext uri="{FF2B5EF4-FFF2-40B4-BE49-F238E27FC236}">
                <a16:creationId xmlns:a16="http://schemas.microsoft.com/office/drawing/2014/main" id="{0EFFD279-441D-41F7-BE90-8FD8A4175A03}"/>
              </a:ext>
            </a:extLst>
          </p:cNvPr>
          <p:cNvSpPr>
            <a:spLocks xmlns:a="http://schemas.openxmlformats.org/drawingml/2006/main" noGrp="1"/>
          </p:cNvSpPr>
          <p:nvPr/>
        </p:nvSpPr>
        <p:spPr>
          <a:xfrm xmlns:a="http://schemas.openxmlformats.org/drawingml/2006/main">
            <a:off x="8096250" y="26670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7770AA"/>
                </a:solidFill>
              </a:defRPr>
            </a:defPPr>
            <a:lvl1pPr>
              <a:defRPr sz="6000" b="1">
                <a:solidFill>
                  <a:srgbClr val="7770AA"/>
                </a:solidFill>
              </a:defRPr>
            </a:lvl1pPr>
            <a:lvl2pPr>
              <a:defRPr sz="6000" b="1">
                <a:solidFill>
                  <a:srgbClr val="7770AA"/>
                </a:solidFill>
              </a:defRPr>
            </a:lvl2pPr>
            <a:lvl3pPr>
              <a:defRPr sz="6000" b="1">
                <a:solidFill>
                  <a:srgbClr val="7770AA"/>
                </a:solidFill>
              </a:defRPr>
            </a:lvl3pPr>
            <a:lvl4pPr>
              <a:defRPr sz="6000" b="1">
                <a:solidFill>
                  <a:srgbClr val="7770AA"/>
                </a:solidFill>
              </a:defRPr>
            </a:lvl4pPr>
            <a:lvl5pPr>
              <a:defRPr sz="6000" b="1">
                <a:solidFill>
                  <a:srgbClr val="7770AA"/>
                </a:solidFill>
              </a:defRPr>
            </a:lvl5pPr>
            <a:lvl6pPr>
              <a:defRPr sz="6000" b="1">
                <a:solidFill>
                  <a:srgbClr val="7770AA"/>
                </a:solidFill>
              </a:defRPr>
            </a:lvl6pPr>
            <a:lvl7pPr>
              <a:defRPr sz="6000" b="1">
                <a:solidFill>
                  <a:srgbClr val="7770AA"/>
                </a:solidFill>
              </a:defRPr>
            </a:lvl7pPr>
            <a:lvl8pPr>
              <a:defRPr sz="6000" b="1">
                <a:solidFill>
                  <a:srgbClr val="7770AA"/>
                </a:solidFill>
              </a:defRPr>
            </a:lvl8pPr>
            <a:lvl9pPr>
              <a:defRPr sz="6000" b="1">
                <a:solidFill>
                  <a:srgbClr val="7770AA"/>
                </a:solidFill>
              </a:defRPr>
            </a:lvl9pPr>
          </a:lstStyle>
          <a:p xmlns:a="http://schemas.openxmlformats.org/drawingml/2006/main">
            <a:pPr>
              <a:defRPr sz="6000" b="1">
                <a:solidFill>
                  <a:srgbClr val="7770AA"/>
                </a:solidFill>
              </a:defRPr>
            </a:pPr>
            <a:r>
              <a:rPr sz="6000" b="1">
                <a:solidFill>
                  <a:srgbClr val="7770AA"/>
                </a:solidFill>
              </a:rPr>
              <a:t>₹2</a:t>
            </a:r>
          </a:p>
        </p:txBody>
      </p:sp>
      <p:sp>
        <p:nvSpPr>
          <p:cNvPr id="10" name="">
            <a:extLst xmlns:a="http://schemas.openxmlformats.org/drawingml/2006/main">
              <a:ext uri="{FF2B5EF4-FFF2-40B4-BE49-F238E27FC236}">
                <a16:creationId xmlns:a16="http://schemas.microsoft.com/office/drawing/2014/main" id="{E1F06F38-3A6F-4615-B64C-2B7B5A100799}"/>
              </a:ext>
            </a:extLst>
          </p:cNvPr>
          <p:cNvSpPr>
            <a:spLocks xmlns:a="http://schemas.openxmlformats.org/drawingml/2006/main" noGrp="1"/>
          </p:cNvSpPr>
          <p:nvPr/>
        </p:nvSpPr>
        <p:spPr>
          <a:xfrm xmlns:a="http://schemas.openxmlformats.org/drawingml/2006/main">
            <a:off x="80962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6766D"/>
                </a:solidFill>
              </a:defRPr>
            </a:defPPr>
            <a:lvl1pPr>
              <a:defRPr sz="2025" b="0">
                <a:solidFill>
                  <a:srgbClr val="66766D"/>
                </a:solidFill>
              </a:defRPr>
            </a:lvl1pPr>
            <a:lvl2pPr>
              <a:defRPr sz="2025" b="0">
                <a:solidFill>
                  <a:srgbClr val="66766D"/>
                </a:solidFill>
              </a:defRPr>
            </a:lvl2pPr>
            <a:lvl3pPr>
              <a:defRPr sz="2025" b="0">
                <a:solidFill>
                  <a:srgbClr val="66766D"/>
                </a:solidFill>
              </a:defRPr>
            </a:lvl3pPr>
            <a:lvl4pPr>
              <a:defRPr sz="2025" b="0">
                <a:solidFill>
                  <a:srgbClr val="66766D"/>
                </a:solidFill>
              </a:defRPr>
            </a:lvl4pPr>
            <a:lvl5pPr>
              <a:defRPr sz="2025" b="0">
                <a:solidFill>
                  <a:srgbClr val="66766D"/>
                </a:solidFill>
              </a:defRPr>
            </a:lvl5pPr>
            <a:lvl6pPr>
              <a:defRPr sz="2025" b="0">
                <a:solidFill>
                  <a:srgbClr val="66766D"/>
                </a:solidFill>
              </a:defRPr>
            </a:lvl6pPr>
            <a:lvl7pPr>
              <a:defRPr sz="2025" b="0">
                <a:solidFill>
                  <a:srgbClr val="66766D"/>
                </a:solidFill>
              </a:defRPr>
            </a:lvl7pPr>
            <a:lvl8pPr>
              <a:defRPr sz="2025" b="0">
                <a:solidFill>
                  <a:srgbClr val="66766D"/>
                </a:solidFill>
              </a:defRPr>
            </a:lvl8pPr>
            <a:lvl9pPr>
              <a:defRPr sz="2025" b="0">
                <a:solidFill>
                  <a:srgbClr val="66766D"/>
                </a:solidFill>
              </a:defRPr>
            </a:lvl9pPr>
          </a:lstStyle>
          <a:p xmlns:a="http://schemas.openxmlformats.org/drawingml/2006/main">
            <a:pPr>
              <a:defRPr sz="2025" b="0">
                <a:solidFill>
                  <a:srgbClr val="66766D"/>
                </a:solidFill>
              </a:defRPr>
            </a:pPr>
            <a:r>
              <a:rPr sz="2025" b="0">
                <a:solidFill>
                  <a:srgbClr val="66766D"/>
                </a:solidFill>
              </a:rPr>
              <a:t>left before other costs</a:t>
            </a:r>
          </a:p>
        </p:txBody>
      </p:sp>
      <p:sp>
        <p:nvSpPr>
          <p:cNvPr id="11" name="">
            <a:extLst xmlns:a="http://schemas.openxmlformats.org/drawingml/2006/main">
              <a:ext uri="{FF2B5EF4-FFF2-40B4-BE49-F238E27FC236}">
                <a16:creationId xmlns:a16="http://schemas.microsoft.com/office/drawing/2014/main" id="{AB6BC2B9-B7A8-4D8B-93FF-830AA7232DF3}"/>
              </a:ext>
            </a:extLst>
          </p:cNvPr>
          <p:cNvSpPr>
            <a:spLocks xmlns:a="http://schemas.openxmlformats.org/drawingml/2006/main" noGrp="1"/>
          </p:cNvSpPr>
          <p:nvPr/>
        </p:nvSpPr>
        <p:spPr>
          <a:xfrm xmlns:a="http://schemas.openxmlformats.org/drawingml/2006/main">
            <a:off x="628650" y="51816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6766D"/>
                </a:solidFill>
              </a:defRPr>
            </a:defPPr>
            <a:lvl1pPr>
              <a:defRPr sz="2175" b="0">
                <a:solidFill>
                  <a:srgbClr val="66766D"/>
                </a:solidFill>
              </a:defRPr>
            </a:lvl1pPr>
            <a:lvl2pPr>
              <a:defRPr sz="2175" b="0">
                <a:solidFill>
                  <a:srgbClr val="66766D"/>
                </a:solidFill>
              </a:defRPr>
            </a:lvl2pPr>
            <a:lvl3pPr>
              <a:defRPr sz="2175" b="0">
                <a:solidFill>
                  <a:srgbClr val="66766D"/>
                </a:solidFill>
              </a:defRPr>
            </a:lvl3pPr>
            <a:lvl4pPr>
              <a:defRPr sz="2175" b="0">
                <a:solidFill>
                  <a:srgbClr val="66766D"/>
                </a:solidFill>
              </a:defRPr>
            </a:lvl4pPr>
            <a:lvl5pPr>
              <a:defRPr sz="2175" b="0">
                <a:solidFill>
                  <a:srgbClr val="66766D"/>
                </a:solidFill>
              </a:defRPr>
            </a:lvl5pPr>
            <a:lvl6pPr>
              <a:defRPr sz="2175" b="0">
                <a:solidFill>
                  <a:srgbClr val="66766D"/>
                </a:solidFill>
              </a:defRPr>
            </a:lvl6pPr>
            <a:lvl7pPr>
              <a:defRPr sz="2175" b="0">
                <a:solidFill>
                  <a:srgbClr val="66766D"/>
                </a:solidFill>
              </a:defRPr>
            </a:lvl7pPr>
            <a:lvl8pPr>
              <a:defRPr sz="2175" b="0">
                <a:solidFill>
                  <a:srgbClr val="66766D"/>
                </a:solidFill>
              </a:defRPr>
            </a:lvl8pPr>
            <a:lvl9pPr>
              <a:defRPr sz="2175" b="0">
                <a:solidFill>
                  <a:srgbClr val="66766D"/>
                </a:solidFill>
              </a:defRPr>
            </a:lvl9pPr>
          </a:lstStyle>
          <a:p xmlns:a="http://schemas.openxmlformats.org/drawingml/2006/main">
            <a:pPr>
              <a:defRPr sz="2175" b="0">
                <a:solidFill>
                  <a:srgbClr val="66766D"/>
                </a:solidFill>
              </a:defRPr>
            </a:pPr>
            <a:r>
              <a:rPr sz="2175" b="0">
                <a:solidFill>
                  <a:srgbClr val="66766D"/>
                </a:solidFill>
              </a:rPr>
              <a:t>Dense routes, subscriptions and actual recovery must cover transport, sorting, payment fees and overhead.</a:t>
            </a:r>
          </a:p>
        </p:txBody>
      </p:sp>
    </p:spTree>
    <p:extLst>
      <p:ext uri="{BB962C8B-B14F-4D97-AF65-F5344CB8AC3E}">
        <p14:creationId xmlns:p14="http://schemas.microsoft.com/office/powerpoint/2010/main" val="48500399"/>
      </p:ext>
    </p:extLst>
  </p:cSld>
</p:sld>
</file>

<file path=ppt/slides/slide19.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A5D454A-00E1-4266-A4E4-E3707AC4E8C5}"/>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GOBARdhan: the organic-processing route</a:t>
            </a:r>
          </a:p>
        </p:txBody>
      </p:sp>
      <p:sp>
        <p:nvSpPr>
          <p:cNvPr id="3" name="">
            <a:extLst xmlns:a="http://schemas.openxmlformats.org/drawingml/2006/main">
              <a:ext uri="{FF2B5EF4-FFF2-40B4-BE49-F238E27FC236}">
                <a16:creationId xmlns:a16="http://schemas.microsoft.com/office/drawing/2014/main" id="{CE3B06CC-09DB-444F-81EF-F992E95AEB99}"/>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A proposed role for Waste Right: collection and feedstock aggregation.</a:t>
            </a:r>
          </a:p>
        </p:txBody>
      </p:sp>
      <p:sp>
        <p:nvSpPr>
          <p:cNvPr id="4" name="">
            <a:extLst xmlns:a="http://schemas.openxmlformats.org/drawingml/2006/main">
              <a:ext uri="{FF2B5EF4-FFF2-40B4-BE49-F238E27FC236}">
                <a16:creationId xmlns:a16="http://schemas.microsoft.com/office/drawing/2014/main" id="{494E9E4F-107F-48FE-B01B-886274FEB556}"/>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19</a:t>
            </a:r>
          </a:p>
        </p:txBody>
      </p:sp>
      <p:sp>
        <p:nvSpPr>
          <p:cNvPr id="5" name="">
            <a:extLst xmlns:a="http://schemas.openxmlformats.org/drawingml/2006/main">
              <a:ext uri="{FF2B5EF4-FFF2-40B4-BE49-F238E27FC236}">
                <a16:creationId xmlns:a16="http://schemas.microsoft.com/office/drawing/2014/main" id="{CBDD1E8A-3369-4E5D-BB2E-25567CDBEDFB}"/>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Programme</a:t>
            </a:r>
          </a:p>
        </p:txBody>
      </p:sp>
      <p:sp>
        <p:nvSpPr>
          <p:cNvPr id="6" name="">
            <a:extLst xmlns:a="http://schemas.openxmlformats.org/drawingml/2006/main">
              <a:ext uri="{FF2B5EF4-FFF2-40B4-BE49-F238E27FC236}">
                <a16:creationId xmlns:a16="http://schemas.microsoft.com/office/drawing/2014/main" id="{EE07E5F4-977B-44C6-994E-8E388447247C}"/>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The integrated 2026–36 CBG framework supports production and market access.</a:t>
            </a:r>
          </a:p>
        </p:txBody>
      </p:sp>
      <p:sp>
        <p:nvSpPr>
          <p:cNvPr id="7" name="">
            <a:extLst xmlns:a="http://schemas.openxmlformats.org/drawingml/2006/main">
              <a:ext uri="{FF2B5EF4-FFF2-40B4-BE49-F238E27FC236}">
                <a16:creationId xmlns:a16="http://schemas.microsoft.com/office/drawing/2014/main" id="{2B7FC378-8B34-4398-BB58-BEED5251CC44}"/>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Our proposed role</a:t>
            </a:r>
          </a:p>
        </p:txBody>
      </p:sp>
      <p:sp>
        <p:nvSpPr>
          <p:cNvPr id="8" name="">
            <a:extLst xmlns:a="http://schemas.openxmlformats.org/drawingml/2006/main">
              <a:ext uri="{FF2B5EF4-FFF2-40B4-BE49-F238E27FC236}">
                <a16:creationId xmlns:a16="http://schemas.microsoft.com/office/drawing/2014/main" id="{D4EB74D7-D0AF-4427-B655-5DB5D03BC64E}"/>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Deliver suitable organic waste to a contracted biogas or CBG processing partner.</a:t>
            </a:r>
          </a:p>
        </p:txBody>
      </p:sp>
      <p:sp>
        <p:nvSpPr>
          <p:cNvPr id="9" name="">
            <a:extLst xmlns:a="http://schemas.openxmlformats.org/drawingml/2006/main">
              <a:ext uri="{FF2B5EF4-FFF2-40B4-BE49-F238E27FC236}">
                <a16:creationId xmlns:a16="http://schemas.microsoft.com/office/drawing/2014/main" id="{5CFE0929-A12F-4D8B-B9AF-49F983215A86}"/>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What is still required</a:t>
            </a:r>
          </a:p>
        </p:txBody>
      </p:sp>
      <p:sp>
        <p:nvSpPr>
          <p:cNvPr id="10" name="">
            <a:extLst xmlns:a="http://schemas.openxmlformats.org/drawingml/2006/main">
              <a:ext uri="{FF2B5EF4-FFF2-40B4-BE49-F238E27FC236}">
                <a16:creationId xmlns:a16="http://schemas.microsoft.com/office/drawing/2014/main" id="{10B56D37-51E1-477B-A3DD-40A5E5C1A1B9}"/>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Partner acceptance terms, project eligibility and the relevant approvals. No Waste Right award is documented.</a:t>
            </a:r>
          </a:p>
        </p:txBody>
      </p:sp>
    </p:spTree>
    <p:extLst>
      <p:ext uri="{BB962C8B-B14F-4D97-AF65-F5344CB8AC3E}">
        <p14:creationId xmlns:p14="http://schemas.microsoft.com/office/powerpoint/2010/main" val="2102934223"/>
      </p:ext>
    </p:extLst>
  </p:cSld>
</p:sld>
</file>

<file path=ppt/slides/slide20.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8A85094-DB34-4026-B23D-B77C8188C0D2}"/>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Urban partnerships and startup funding</a:t>
            </a:r>
          </a:p>
        </p:txBody>
      </p:sp>
      <p:sp>
        <p:nvSpPr>
          <p:cNvPr id="3" name="">
            <a:extLst xmlns:a="http://schemas.openxmlformats.org/drawingml/2006/main">
              <a:ext uri="{FF2B5EF4-FFF2-40B4-BE49-F238E27FC236}">
                <a16:creationId xmlns:a16="http://schemas.microsoft.com/office/drawing/2014/main" id="{BB1C312D-3A8C-4C5A-BDBE-5B282A885081}"/>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Two distinct routes: municipal service agreements and competitive innovation support.</a:t>
            </a:r>
          </a:p>
        </p:txBody>
      </p:sp>
      <p:sp>
        <p:nvSpPr>
          <p:cNvPr id="4" name="">
            <a:extLst xmlns:a="http://schemas.openxmlformats.org/drawingml/2006/main">
              <a:ext uri="{FF2B5EF4-FFF2-40B4-BE49-F238E27FC236}">
                <a16:creationId xmlns:a16="http://schemas.microsoft.com/office/drawing/2014/main" id="{9339CC4E-88EE-40F1-8ED4-7303316986F2}"/>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20</a:t>
            </a:r>
          </a:p>
        </p:txBody>
      </p:sp>
      <p:sp>
        <p:nvSpPr>
          <p:cNvPr id="5" name="">
            <a:extLst xmlns:a="http://schemas.openxmlformats.org/drawingml/2006/main">
              <a:ext uri="{FF2B5EF4-FFF2-40B4-BE49-F238E27FC236}">
                <a16:creationId xmlns:a16="http://schemas.microsoft.com/office/drawing/2014/main" id="{3925EDE5-5056-4A70-A7AF-C048509FDA76}"/>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SBM–Urban 2.0</a:t>
            </a:r>
          </a:p>
        </p:txBody>
      </p:sp>
      <p:sp>
        <p:nvSpPr>
          <p:cNvPr id="6" name="">
            <a:extLst xmlns:a="http://schemas.openxmlformats.org/drawingml/2006/main">
              <a:ext uri="{FF2B5EF4-FFF2-40B4-BE49-F238E27FC236}">
                <a16:creationId xmlns:a16="http://schemas.microsoft.com/office/drawing/2014/main" id="{423B0055-0C71-49DB-B2E4-0629493F9BD0}"/>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Supports segregation, door-to-door collection and scientific processing.</a:t>
            </a:r>
          </a:p>
          <a:p xmlns:a="http://schemas.openxmlformats.org/drawingml/2006/main">
            <a:r>
              <a:t/>
            </a:r>
          </a:p>
          <a:p xmlns:a="http://schemas.openxmlformats.org/drawingml/2006/main">
            <a:pPr>
              <a:defRPr sz="1875" b="0">
                <a:solidFill>
                  <a:srgbClr val="66766D"/>
                </a:solidFill>
              </a:defRPr>
            </a:pPr>
            <a:r>
              <a:rPr sz="1875" b="0">
                <a:solidFill>
                  <a:srgbClr val="66766D"/>
                </a:solidFill>
              </a:rPr>
              <a:t>Seek an urban local body pilot. Confirm current local approvals and procurement routes.</a:t>
            </a:r>
          </a:p>
        </p:txBody>
      </p:sp>
      <p:sp>
        <p:nvSpPr>
          <p:cNvPr id="7" name="">
            <a:extLst xmlns:a="http://schemas.openxmlformats.org/drawingml/2006/main">
              <a:ext uri="{FF2B5EF4-FFF2-40B4-BE49-F238E27FC236}">
                <a16:creationId xmlns:a16="http://schemas.microsoft.com/office/drawing/2014/main" id="{0E75DFB1-4383-4B71-8106-C34335F36DF2}"/>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Swachhata Startup Challenge</a:t>
            </a:r>
          </a:p>
        </p:txBody>
      </p:sp>
      <p:sp>
        <p:nvSpPr>
          <p:cNvPr id="8" name="">
            <a:extLst xmlns:a="http://schemas.openxmlformats.org/drawingml/2006/main">
              <a:ext uri="{FF2B5EF4-FFF2-40B4-BE49-F238E27FC236}">
                <a16:creationId xmlns:a16="http://schemas.microsoft.com/office/drawing/2014/main" id="{CAA84877-7A3D-4359-9494-A8A24C0D904B}"/>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The 2022 competition offered ₹25 lakh each to ten selected projects.</a:t>
            </a:r>
          </a:p>
          <a:p xmlns:a="http://schemas.openxmlformats.org/drawingml/2006/main">
            <a:r>
              <a:t/>
            </a:r>
          </a:p>
          <a:p xmlns:a="http://schemas.openxmlformats.org/drawingml/2006/main">
            <a:pPr>
              <a:defRPr sz="1875" b="0">
                <a:solidFill>
                  <a:srgbClr val="66766D"/>
                </a:solidFill>
              </a:defRPr>
            </a:pPr>
            <a:r>
              <a:rPr sz="1875" b="0">
                <a:solidFill>
                  <a:srgbClr val="66766D"/>
                </a:solidFill>
              </a:rPr>
              <a:t>That window is closed. No current call or Waste Right award is verified.</a:t>
            </a:r>
          </a:p>
        </p:txBody>
      </p:sp>
      <p:sp>
        <p:nvSpPr>
          <p:cNvPr id="9" name="">
            <a:extLst xmlns:a="http://schemas.openxmlformats.org/drawingml/2006/main">
              <a:ext uri="{FF2B5EF4-FFF2-40B4-BE49-F238E27FC236}">
                <a16:creationId xmlns:a16="http://schemas.microsoft.com/office/drawing/2014/main" id="{9215699D-3C07-4697-93D5-FAADF261A9B6}"/>
              </a:ext>
            </a:extLst>
          </p:cNvPr>
          <p:cNvSpPr>
            <a:spLocks xmlns:a="http://schemas.openxmlformats.org/drawingml/2006/main" noGrp="1"/>
          </p:cNvSpPr>
          <p:nvPr/>
        </p:nvSpPr>
        <p:spPr>
          <a:xfrm xmlns:a="http://schemas.openxmlformats.org/drawingml/2006/main">
            <a:off x="628650" y="58102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7770AA"/>
                </a:solidFill>
              </a:defRPr>
            </a:defPPr>
            <a:lvl1pPr>
              <a:defRPr sz="1575" b="1">
                <a:solidFill>
                  <a:srgbClr val="7770AA"/>
                </a:solidFill>
              </a:defRPr>
            </a:lvl1pPr>
            <a:lvl2pPr>
              <a:defRPr sz="1575" b="1">
                <a:solidFill>
                  <a:srgbClr val="7770AA"/>
                </a:solidFill>
              </a:defRPr>
            </a:lvl2pPr>
            <a:lvl3pPr>
              <a:defRPr sz="1575" b="1">
                <a:solidFill>
                  <a:srgbClr val="7770AA"/>
                </a:solidFill>
              </a:defRPr>
            </a:lvl3pPr>
            <a:lvl4pPr>
              <a:defRPr sz="1575" b="1">
                <a:solidFill>
                  <a:srgbClr val="7770AA"/>
                </a:solidFill>
              </a:defRPr>
            </a:lvl4pPr>
            <a:lvl5pPr>
              <a:defRPr sz="1575" b="1">
                <a:solidFill>
                  <a:srgbClr val="7770AA"/>
                </a:solidFill>
              </a:defRPr>
            </a:lvl5pPr>
            <a:lvl6pPr>
              <a:defRPr sz="1575" b="1">
                <a:solidFill>
                  <a:srgbClr val="7770AA"/>
                </a:solidFill>
              </a:defRPr>
            </a:lvl6pPr>
            <a:lvl7pPr>
              <a:defRPr sz="1575" b="1">
                <a:solidFill>
                  <a:srgbClr val="7770AA"/>
                </a:solidFill>
              </a:defRPr>
            </a:lvl7pPr>
            <a:lvl8pPr>
              <a:defRPr sz="1575" b="1">
                <a:solidFill>
                  <a:srgbClr val="7770AA"/>
                </a:solidFill>
              </a:defRPr>
            </a:lvl8pPr>
            <a:lvl9pPr>
              <a:defRPr sz="1575" b="1">
                <a:solidFill>
                  <a:srgbClr val="7770AA"/>
                </a:solidFill>
              </a:defRPr>
            </a:lvl9pPr>
          </a:lstStyle>
          <a:p xmlns:a="http://schemas.openxmlformats.org/drawingml/2006/main">
            <a:pPr>
              <a:defRPr sz="1575" b="1">
                <a:solidFill>
                  <a:srgbClr val="7770AA"/>
                </a:solidFill>
              </a:defRPr>
            </a:pPr>
            <a:r>
              <a:rPr sz="1575" b="1">
                <a:solidFill>
                  <a:srgbClr val="7770AA"/>
                </a:solidFill>
              </a:rPr>
              <a:t>A PPP requires a signed public-authority agreement; scheme alignment alone is insufficient.</a:t>
            </a:r>
          </a:p>
        </p:txBody>
      </p:sp>
    </p:spTree>
    <p:extLst>
      <p:ext uri="{BB962C8B-B14F-4D97-AF65-F5344CB8AC3E}">
        <p14:creationId xmlns:p14="http://schemas.microsoft.com/office/powerpoint/2010/main" val="127657712"/>
      </p:ext>
    </p:extLst>
  </p:cSld>
</p:sld>
</file>

<file path=ppt/slides/slide21.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FB62EEC-21DF-4DD7-A7BC-681C7137A6D1}"/>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Fertiliser support and the resident benefit</a:t>
            </a:r>
          </a:p>
        </p:txBody>
      </p:sp>
      <p:sp>
        <p:nvSpPr>
          <p:cNvPr id="3" name="">
            <a:extLst xmlns:a="http://schemas.openxmlformats.org/drawingml/2006/main">
              <a:ext uri="{FF2B5EF4-FFF2-40B4-BE49-F238E27FC236}">
                <a16:creationId xmlns:a16="http://schemas.microsoft.com/office/drawing/2014/main" id="{E3AD0C6C-C267-496B-828D-2C8455AF1403}"/>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Support is recorded only after eligibility and actual receipt.</a:t>
            </a:r>
          </a:p>
        </p:txBody>
      </p:sp>
      <p:sp>
        <p:nvSpPr>
          <p:cNvPr id="4" name="">
            <a:extLst xmlns:a="http://schemas.openxmlformats.org/drawingml/2006/main">
              <a:ext uri="{FF2B5EF4-FFF2-40B4-BE49-F238E27FC236}">
                <a16:creationId xmlns:a16="http://schemas.microsoft.com/office/drawing/2014/main" id="{8FAE8FE6-8B37-4ED7-B0C8-13EEED8AA63F}"/>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21</a:t>
            </a:r>
          </a:p>
        </p:txBody>
      </p:sp>
      <p:sp>
        <p:nvSpPr>
          <p:cNvPr id="5" name="">
            <a:extLst xmlns:a="http://schemas.openxmlformats.org/drawingml/2006/main">
              <a:ext uri="{FF2B5EF4-FFF2-40B4-BE49-F238E27FC236}">
                <a16:creationId xmlns:a16="http://schemas.microsoft.com/office/drawing/2014/main" id="{5EB8FD4C-A1D2-428D-A36F-038F152CC6FD}"/>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Published MDA terms</a:t>
            </a:r>
          </a:p>
        </p:txBody>
      </p:sp>
      <p:sp>
        <p:nvSpPr>
          <p:cNvPr id="6" name="">
            <a:extLst xmlns:a="http://schemas.openxmlformats.org/drawingml/2006/main">
              <a:ext uri="{FF2B5EF4-FFF2-40B4-BE49-F238E27FC236}">
                <a16:creationId xmlns:a16="http://schemas.microsoft.com/office/drawing/2014/main" id="{0B246D49-C5B3-4CC6-9BD5-1E069846943F}"/>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₹1,500 per tonne of eligible fertiliser output from BG/CBG plants.</a:t>
            </a:r>
          </a:p>
          <a:p xmlns:a="http://schemas.openxmlformats.org/drawingml/2006/main">
            <a:r>
              <a:t/>
            </a:r>
          </a:p>
          <a:p xmlns:a="http://schemas.openxmlformats.org/drawingml/2006/main">
            <a:pPr>
              <a:defRPr sz="1875" b="0">
                <a:solidFill>
                  <a:srgbClr val="66766D"/>
                </a:solidFill>
              </a:defRPr>
            </a:pPr>
            <a:r>
              <a:rPr sz="1875" b="0">
                <a:solidFill>
                  <a:srgbClr val="66766D"/>
                </a:solidFill>
              </a:rPr>
              <a:t>The March 2026 update said the scheme was concluding that year. Continuation needs confirmation.</a:t>
            </a:r>
          </a:p>
        </p:txBody>
      </p:sp>
      <p:sp>
        <p:nvSpPr>
          <p:cNvPr id="7" name="">
            <a:extLst xmlns:a="http://schemas.openxmlformats.org/drawingml/2006/main">
              <a:ext uri="{FF2B5EF4-FFF2-40B4-BE49-F238E27FC236}">
                <a16:creationId xmlns:a16="http://schemas.microsoft.com/office/drawing/2014/main" id="{7770838F-042A-4B28-AC6F-45417C257936}"/>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Waste Right credit policy</a:t>
            </a:r>
          </a:p>
        </p:txBody>
      </p:sp>
      <p:sp>
        <p:nvSpPr>
          <p:cNvPr id="8" name="">
            <a:extLst xmlns:a="http://schemas.openxmlformats.org/drawingml/2006/main">
              <a:ext uri="{FF2B5EF4-FFF2-40B4-BE49-F238E27FC236}">
                <a16:creationId xmlns:a16="http://schemas.microsoft.com/office/drawing/2014/main" id="{5045D828-1281-48D7-82EB-2054C32946F6}"/>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50% of attributable support actually received is allocated to the resident as a recorded credit.</a:t>
            </a:r>
          </a:p>
          <a:p xmlns:a="http://schemas.openxmlformats.org/drawingml/2006/main">
            <a:r>
              <a:t/>
            </a:r>
          </a:p>
          <a:p xmlns:a="http://schemas.openxmlformats.org/drawingml/2006/main">
            <a:pPr>
              <a:defRPr sz="1875" b="0">
                <a:solidFill>
                  <a:srgbClr val="66766D"/>
                </a:solidFill>
              </a:defRPr>
            </a:pPr>
            <a:r>
              <a:rPr sz="1875" b="0">
                <a:solidFill>
                  <a:srgbClr val="66766D"/>
                </a:solidFill>
              </a:rPr>
              <a:t>This is our policy, not a government-set entitlement.</a:t>
            </a:r>
          </a:p>
        </p:txBody>
      </p:sp>
      <p:sp>
        <p:nvSpPr>
          <p:cNvPr id="9" name="">
            <a:extLst xmlns:a="http://schemas.openxmlformats.org/drawingml/2006/main">
              <a:ext uri="{FF2B5EF4-FFF2-40B4-BE49-F238E27FC236}">
                <a16:creationId xmlns:a16="http://schemas.microsoft.com/office/drawing/2014/main" id="{9E565F4C-9CD2-4F9F-8676-972A9E3B54E6}"/>
              </a:ext>
            </a:extLst>
          </p:cNvPr>
          <p:cNvSpPr>
            <a:spLocks xmlns:a="http://schemas.openxmlformats.org/drawingml/2006/main" noGrp="1"/>
          </p:cNvSpPr>
          <p:nvPr/>
        </p:nvSpPr>
        <p:spPr>
          <a:xfrm xmlns:a="http://schemas.openxmlformats.org/drawingml/2006/main">
            <a:off x="62865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770AA"/>
                </a:solidFill>
              </a:defRPr>
            </a:defPPr>
            <a:lvl1pPr>
              <a:defRPr sz="1650" b="1">
                <a:solidFill>
                  <a:srgbClr val="7770AA"/>
                </a:solidFill>
              </a:defRPr>
            </a:lvl1pPr>
            <a:lvl2pPr>
              <a:defRPr sz="1650" b="1">
                <a:solidFill>
                  <a:srgbClr val="7770AA"/>
                </a:solidFill>
              </a:defRPr>
            </a:lvl2pPr>
            <a:lvl3pPr>
              <a:defRPr sz="1650" b="1">
                <a:solidFill>
                  <a:srgbClr val="7770AA"/>
                </a:solidFill>
              </a:defRPr>
            </a:lvl3pPr>
            <a:lvl4pPr>
              <a:defRPr sz="1650" b="1">
                <a:solidFill>
                  <a:srgbClr val="7770AA"/>
                </a:solidFill>
              </a:defRPr>
            </a:lvl4pPr>
            <a:lvl5pPr>
              <a:defRPr sz="1650" b="1">
                <a:solidFill>
                  <a:srgbClr val="7770AA"/>
                </a:solidFill>
              </a:defRPr>
            </a:lvl5pPr>
            <a:lvl6pPr>
              <a:defRPr sz="1650" b="1">
                <a:solidFill>
                  <a:srgbClr val="7770AA"/>
                </a:solidFill>
              </a:defRPr>
            </a:lvl6pPr>
            <a:lvl7pPr>
              <a:defRPr sz="1650" b="1">
                <a:solidFill>
                  <a:srgbClr val="7770AA"/>
                </a:solidFill>
              </a:defRPr>
            </a:lvl7pPr>
            <a:lvl8pPr>
              <a:defRPr sz="1650" b="1">
                <a:solidFill>
                  <a:srgbClr val="7770AA"/>
                </a:solidFill>
              </a:defRPr>
            </a:lvl8pPr>
            <a:lvl9pPr>
              <a:defRPr sz="1650" b="1">
                <a:solidFill>
                  <a:srgbClr val="7770AA"/>
                </a:solidFill>
              </a:defRPr>
            </a:lvl9pPr>
          </a:lstStyle>
          <a:p xmlns:a="http://schemas.openxmlformats.org/drawingml/2006/main">
            <a:pPr>
              <a:defRPr sz="1650" b="1">
                <a:solidFill>
                  <a:srgbClr val="7770AA"/>
                </a:solidFill>
              </a:defRPr>
            </a:pPr>
            <a:r>
              <a:rPr sz="1650" b="1">
                <a:solidFill>
                  <a:srgbClr val="7770AA"/>
                </a:solidFill>
              </a:rPr>
              <a:t>Raw household waste weight cannot directly determine an MDA payment.</a:t>
            </a:r>
          </a:p>
        </p:txBody>
      </p:sp>
    </p:spTree>
    <p:extLst>
      <p:ext uri="{BB962C8B-B14F-4D97-AF65-F5344CB8AC3E}">
        <p14:creationId xmlns:p14="http://schemas.microsoft.com/office/powerpoint/2010/main" val="1828189995"/>
      </p:ext>
    </p:extLst>
  </p:cSld>
</p:sld>
</file>

<file path=ppt/slides/slide22.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FC9AB9F-4B34-44D2-B070-E187517AAED1}"/>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Support for collection partners</a:t>
            </a:r>
          </a:p>
        </p:txBody>
      </p:sp>
      <p:sp>
        <p:nvSpPr>
          <p:cNvPr id="3" name="">
            <a:extLst xmlns:a="http://schemas.openxmlformats.org/drawingml/2006/main">
              <a:ext uri="{FF2B5EF4-FFF2-40B4-BE49-F238E27FC236}">
                <a16:creationId xmlns:a16="http://schemas.microsoft.com/office/drawing/2014/main" id="{7F3F3FB1-8C38-4FF5-905F-84D08BFB1850}"/>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Safe work and access to welfare matter alongside pay.</a:t>
            </a:r>
          </a:p>
        </p:txBody>
      </p:sp>
      <p:sp>
        <p:nvSpPr>
          <p:cNvPr id="4" name="">
            <a:extLst xmlns:a="http://schemas.openxmlformats.org/drawingml/2006/main">
              <a:ext uri="{FF2B5EF4-FFF2-40B4-BE49-F238E27FC236}">
                <a16:creationId xmlns:a16="http://schemas.microsoft.com/office/drawing/2014/main" id="{C2623519-306D-453A-B708-4510DC59C2C7}"/>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22</a:t>
            </a:r>
          </a:p>
        </p:txBody>
      </p:sp>
      <p:sp>
        <p:nvSpPr>
          <p:cNvPr id="5" name="">
            <a:extLst xmlns:a="http://schemas.openxmlformats.org/drawingml/2006/main">
              <a:ext uri="{FF2B5EF4-FFF2-40B4-BE49-F238E27FC236}">
                <a16:creationId xmlns:a16="http://schemas.microsoft.com/office/drawing/2014/main" id="{9231EF0E-ACE2-4C77-9F6F-493554CA15F2}"/>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Our service responsibilities</a:t>
            </a:r>
          </a:p>
        </p:txBody>
      </p:sp>
      <p:sp>
        <p:nvSpPr>
          <p:cNvPr id="6" name="">
            <a:extLst xmlns:a="http://schemas.openxmlformats.org/drawingml/2006/main">
              <a:ext uri="{FF2B5EF4-FFF2-40B4-BE49-F238E27FC236}">
                <a16:creationId xmlns:a16="http://schemas.microsoft.com/office/drawing/2014/main" id="{5E94FD69-744E-4708-B737-62B3216889B8}"/>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Clear pay records and dispute handling.</a:t>
            </a:r>
          </a:p>
          <a:p xmlns:a="http://schemas.openxmlformats.org/drawingml/2006/main">
            <a:pPr>
              <a:defRPr sz="1875" b="0">
                <a:solidFill>
                  <a:srgbClr val="66766D"/>
                </a:solidFill>
              </a:defRPr>
            </a:pPr>
            <a:r>
              <a:rPr sz="1875" b="0">
                <a:solidFill>
                  <a:srgbClr val="66766D"/>
                </a:solidFill>
              </a:rPr>
              <a:t>Review route time and travel costs.</a:t>
            </a:r>
          </a:p>
          <a:p xmlns:a="http://schemas.openxmlformats.org/drawingml/2006/main">
            <a:pPr>
              <a:defRPr sz="1875" b="0">
                <a:solidFill>
                  <a:srgbClr val="66766D"/>
                </a:solidFill>
              </a:defRPr>
            </a:pPr>
            <a:r>
              <a:rPr sz="1875" b="0">
                <a:solidFill>
                  <a:srgbClr val="66766D"/>
                </a:solidFill>
              </a:rPr>
              <a:t>Plan safety equipment and training.</a:t>
            </a:r>
          </a:p>
        </p:txBody>
      </p:sp>
      <p:sp>
        <p:nvSpPr>
          <p:cNvPr id="7" name="">
            <a:extLst xmlns:a="http://schemas.openxmlformats.org/drawingml/2006/main">
              <a:ext uri="{FF2B5EF4-FFF2-40B4-BE49-F238E27FC236}">
                <a16:creationId xmlns:a16="http://schemas.microsoft.com/office/drawing/2014/main" id="{62549F03-9A5E-4547-AF01-519F4875810A}"/>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Potential NAMASTE support</a:t>
            </a:r>
          </a:p>
        </p:txBody>
      </p:sp>
      <p:sp>
        <p:nvSpPr>
          <p:cNvPr id="8" name="">
            <a:extLst xmlns:a="http://schemas.openxmlformats.org/drawingml/2006/main">
              <a:ext uri="{FF2B5EF4-FFF2-40B4-BE49-F238E27FC236}">
                <a16:creationId xmlns:a16="http://schemas.microsoft.com/office/drawing/2014/main" id="{6E50896B-BC4F-47DD-8703-5F2E38D7C604}"/>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Validated waste pickers may qualify for PPE, safety training and health coverage under scheme rules.</a:t>
            </a:r>
          </a:p>
        </p:txBody>
      </p:sp>
      <p:sp>
        <p:nvSpPr>
          <p:cNvPr id="9" name="">
            <a:extLst xmlns:a="http://schemas.openxmlformats.org/drawingml/2006/main">
              <a:ext uri="{FF2B5EF4-FFF2-40B4-BE49-F238E27FC236}">
                <a16:creationId xmlns:a16="http://schemas.microsoft.com/office/drawing/2014/main" id="{552BBFCB-E69F-4250-A7F7-3A0BA1106D91}"/>
              </a:ext>
            </a:extLst>
          </p:cNvPr>
          <p:cNvSpPr>
            <a:spLocks xmlns:a="http://schemas.openxmlformats.org/drawingml/2006/main" noGrp="1"/>
          </p:cNvSpPr>
          <p:nvPr/>
        </p:nvSpPr>
        <p:spPr>
          <a:xfrm xmlns:a="http://schemas.openxmlformats.org/drawingml/2006/main">
            <a:off x="628650" y="56864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7770AA"/>
                </a:solidFill>
              </a:defRPr>
            </a:defPPr>
            <a:lvl1pPr>
              <a:defRPr sz="1800" b="1">
                <a:solidFill>
                  <a:srgbClr val="7770AA"/>
                </a:solidFill>
              </a:defRPr>
            </a:lvl1pPr>
            <a:lvl2pPr>
              <a:defRPr sz="1800" b="1">
                <a:solidFill>
                  <a:srgbClr val="7770AA"/>
                </a:solidFill>
              </a:defRPr>
            </a:lvl2pPr>
            <a:lvl3pPr>
              <a:defRPr sz="1800" b="1">
                <a:solidFill>
                  <a:srgbClr val="7770AA"/>
                </a:solidFill>
              </a:defRPr>
            </a:lvl3pPr>
            <a:lvl4pPr>
              <a:defRPr sz="1800" b="1">
                <a:solidFill>
                  <a:srgbClr val="7770AA"/>
                </a:solidFill>
              </a:defRPr>
            </a:lvl4pPr>
            <a:lvl5pPr>
              <a:defRPr sz="1800" b="1">
                <a:solidFill>
                  <a:srgbClr val="7770AA"/>
                </a:solidFill>
              </a:defRPr>
            </a:lvl5pPr>
            <a:lvl6pPr>
              <a:defRPr sz="1800" b="1">
                <a:solidFill>
                  <a:srgbClr val="7770AA"/>
                </a:solidFill>
              </a:defRPr>
            </a:lvl6pPr>
            <a:lvl7pPr>
              <a:defRPr sz="1800" b="1">
                <a:solidFill>
                  <a:srgbClr val="7770AA"/>
                </a:solidFill>
              </a:defRPr>
            </a:lvl7pPr>
            <a:lvl8pPr>
              <a:defRPr sz="1800" b="1">
                <a:solidFill>
                  <a:srgbClr val="7770AA"/>
                </a:solidFill>
              </a:defRPr>
            </a:lvl8pPr>
            <a:lvl9pPr>
              <a:defRPr sz="1800" b="1">
                <a:solidFill>
                  <a:srgbClr val="7770AA"/>
                </a:solidFill>
              </a:defRPr>
            </a:lvl9pPr>
          </a:lstStyle>
          <a:p xmlns:a="http://schemas.openxmlformats.org/drawingml/2006/main">
            <a:pPr>
              <a:defRPr sz="1800" b="1">
                <a:solidFill>
                  <a:srgbClr val="7770AA"/>
                </a:solidFill>
              </a:defRPr>
            </a:pPr>
            <a:r>
              <a:rPr sz="1800" b="1">
                <a:solidFill>
                  <a:srgbClr val="7770AA"/>
                </a:solidFill>
              </a:rPr>
              <a:t>Waste Right signup alone does not establish government eligibility.</a:t>
            </a:r>
          </a:p>
        </p:txBody>
      </p:sp>
    </p:spTree>
    <p:extLst>
      <p:ext uri="{BB962C8B-B14F-4D97-AF65-F5344CB8AC3E}">
        <p14:creationId xmlns:p14="http://schemas.microsoft.com/office/powerpoint/2010/main" val="291249652"/>
      </p:ext>
    </p:extLst>
  </p:cSld>
</p:sld>
</file>

<file path=ppt/slides/slide2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4AA23C5-8BD3-4D22-AE13-6CE1E196E3E0}"/>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AI assists the collection decision</a:t>
            </a:r>
          </a:p>
        </p:txBody>
      </p:sp>
      <p:sp>
        <p:nvSpPr>
          <p:cNvPr id="3" name="">
            <a:extLst xmlns:a="http://schemas.openxmlformats.org/drawingml/2006/main">
              <a:ext uri="{FF2B5EF4-FFF2-40B4-BE49-F238E27FC236}">
                <a16:creationId xmlns:a16="http://schemas.microsoft.com/office/drawing/2014/main" id="{21C35389-CCD2-47E3-96CA-3EFD6F23112F}"/>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The current app combines image understanding, OCR and resident review.</a:t>
            </a:r>
          </a:p>
        </p:txBody>
      </p:sp>
      <p:sp>
        <p:nvSpPr>
          <p:cNvPr id="4" name="">
            <a:extLst xmlns:a="http://schemas.openxmlformats.org/drawingml/2006/main">
              <a:ext uri="{FF2B5EF4-FFF2-40B4-BE49-F238E27FC236}">
                <a16:creationId xmlns:a16="http://schemas.microsoft.com/office/drawing/2014/main" id="{613433C6-121C-4EF1-9C23-EBBA92208490}"/>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23</a:t>
            </a:r>
          </a:p>
        </p:txBody>
      </p:sp>
      <p:sp>
        <p:nvSpPr>
          <p:cNvPr id="5" name="">
            <a:extLst xmlns:a="http://schemas.openxmlformats.org/drawingml/2006/main">
              <a:ext uri="{FF2B5EF4-FFF2-40B4-BE49-F238E27FC236}">
                <a16:creationId xmlns:a16="http://schemas.microsoft.com/office/drawing/2014/main" id="{A33928A6-A78B-484B-9351-2E25A0E2B18F}"/>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Image understanding</a:t>
            </a:r>
          </a:p>
        </p:txBody>
      </p:sp>
      <p:sp>
        <p:nvSpPr>
          <p:cNvPr id="6" name="">
            <a:extLst xmlns:a="http://schemas.openxmlformats.org/drawingml/2006/main">
              <a:ext uri="{FF2B5EF4-FFF2-40B4-BE49-F238E27FC236}">
                <a16:creationId xmlns:a16="http://schemas.microsoft.com/office/drawing/2014/main" id="{BD09958D-21C5-48C8-B12A-802AD6587923}"/>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Suggests likely materials from camera frames or a description.</a:t>
            </a:r>
          </a:p>
        </p:txBody>
      </p:sp>
      <p:sp>
        <p:nvSpPr>
          <p:cNvPr id="7" name="">
            <a:extLst xmlns:a="http://schemas.openxmlformats.org/drawingml/2006/main">
              <a:ext uri="{FF2B5EF4-FFF2-40B4-BE49-F238E27FC236}">
                <a16:creationId xmlns:a16="http://schemas.microsoft.com/office/drawing/2014/main" id="{2303EA98-D7FC-4CAD-9D8C-8AE34E66CD6F}"/>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OCR</a:t>
            </a:r>
          </a:p>
        </p:txBody>
      </p:sp>
      <p:sp>
        <p:nvSpPr>
          <p:cNvPr id="8" name="">
            <a:extLst xmlns:a="http://schemas.openxmlformats.org/drawingml/2006/main">
              <a:ext uri="{FF2B5EF4-FFF2-40B4-BE49-F238E27FC236}">
                <a16:creationId xmlns:a16="http://schemas.microsoft.com/office/drawing/2014/main" id="{93E876B4-125F-4C3F-8A34-5952AFF77B81}"/>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Reads visible packaging text to add context.</a:t>
            </a:r>
          </a:p>
        </p:txBody>
      </p:sp>
      <p:sp>
        <p:nvSpPr>
          <p:cNvPr id="9" name="">
            <a:extLst xmlns:a="http://schemas.openxmlformats.org/drawingml/2006/main">
              <a:ext uri="{FF2B5EF4-FFF2-40B4-BE49-F238E27FC236}">
                <a16:creationId xmlns:a16="http://schemas.microsoft.com/office/drawing/2014/main" id="{9F2AE09B-E118-485D-BD89-111E7F67C779}"/>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Human confirmation</a:t>
            </a:r>
          </a:p>
        </p:txBody>
      </p:sp>
      <p:sp>
        <p:nvSpPr>
          <p:cNvPr id="10" name="">
            <a:extLst xmlns:a="http://schemas.openxmlformats.org/drawingml/2006/main">
              <a:ext uri="{FF2B5EF4-FFF2-40B4-BE49-F238E27FC236}">
                <a16:creationId xmlns:a16="http://schemas.microsoft.com/office/drawing/2014/main" id="{265ECF50-832D-433D-95A2-4DC493D9E742}"/>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The resident confirms the list. The helper establishes actual material and weight.</a:t>
            </a:r>
          </a:p>
        </p:txBody>
      </p:sp>
    </p:spTree>
    <p:extLst>
      <p:ext uri="{BB962C8B-B14F-4D97-AF65-F5344CB8AC3E}">
        <p14:creationId xmlns:p14="http://schemas.microsoft.com/office/powerpoint/2010/main" val="1685117490"/>
      </p:ext>
    </p:extLst>
  </p:cSld>
</p:sld>
</file>

<file path=ppt/slides/slide24.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266C474-F35B-4D96-ABBD-256E7FD2D9A2}"/>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Our own organic-waste model</a:t>
            </a:r>
          </a:p>
        </p:txBody>
      </p:sp>
      <p:sp>
        <p:nvSpPr>
          <p:cNvPr id="3" name="">
            <a:extLst xmlns:a="http://schemas.openxmlformats.org/drawingml/2006/main">
              <a:ext uri="{FF2B5EF4-FFF2-40B4-BE49-F238E27FC236}">
                <a16:creationId xmlns:a16="http://schemas.microsoft.com/office/drawing/2014/main" id="{9C3E9E1F-72C9-42CD-92E2-FB8334D19E53}"/>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A trained research model separates organic regions from visible contaminants.</a:t>
            </a:r>
          </a:p>
        </p:txBody>
      </p:sp>
      <p:sp>
        <p:nvSpPr>
          <p:cNvPr id="4" name="">
            <a:extLst xmlns:a="http://schemas.openxmlformats.org/drawingml/2006/main">
              <a:ext uri="{FF2B5EF4-FFF2-40B4-BE49-F238E27FC236}">
                <a16:creationId xmlns:a16="http://schemas.microsoft.com/office/drawing/2014/main" id="{428DD205-9280-446D-8E3D-F6D1A212AA0E}"/>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24</a:t>
            </a:r>
          </a:p>
        </p:txBody>
      </p:sp>
      <p:sp>
        <p:nvSpPr>
          <p:cNvPr id="5" name="">
            <a:extLst xmlns:a="http://schemas.openxmlformats.org/drawingml/2006/main">
              <a:ext uri="{FF2B5EF4-FFF2-40B4-BE49-F238E27FC236}">
                <a16:creationId xmlns:a16="http://schemas.microsoft.com/office/drawing/2014/main" id="{CE4D24E5-63EB-4FE8-B909-7D3C47F74B6D}"/>
              </a:ext>
            </a:extLst>
          </p:cNvPr>
          <p:cNvSpPr>
            <a:spLocks xmlns:a="http://schemas.openxmlformats.org/drawingml/2006/main" noGrp="1"/>
          </p:cNvSpPr>
          <p:nvPr/>
        </p:nvSpPr>
        <p:spPr>
          <a:xfrm xmlns:a="http://schemas.openxmlformats.org/drawingml/2006/main">
            <a:off x="628650" y="25431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73F30"/>
                </a:solidFill>
              </a:defRPr>
            </a:defPPr>
            <a:lvl1pPr>
              <a:defRPr sz="5100" b="1">
                <a:solidFill>
                  <a:srgbClr val="173F30"/>
                </a:solidFill>
              </a:defRPr>
            </a:lvl1pPr>
            <a:lvl2pPr>
              <a:defRPr sz="5100" b="1">
                <a:solidFill>
                  <a:srgbClr val="173F30"/>
                </a:solidFill>
              </a:defRPr>
            </a:lvl2pPr>
            <a:lvl3pPr>
              <a:defRPr sz="5100" b="1">
                <a:solidFill>
                  <a:srgbClr val="173F30"/>
                </a:solidFill>
              </a:defRPr>
            </a:lvl3pPr>
            <a:lvl4pPr>
              <a:defRPr sz="5100" b="1">
                <a:solidFill>
                  <a:srgbClr val="173F30"/>
                </a:solidFill>
              </a:defRPr>
            </a:lvl4pPr>
            <a:lvl5pPr>
              <a:defRPr sz="5100" b="1">
                <a:solidFill>
                  <a:srgbClr val="173F30"/>
                </a:solidFill>
              </a:defRPr>
            </a:lvl5pPr>
            <a:lvl6pPr>
              <a:defRPr sz="5100" b="1">
                <a:solidFill>
                  <a:srgbClr val="173F30"/>
                </a:solidFill>
              </a:defRPr>
            </a:lvl6pPr>
            <a:lvl7pPr>
              <a:defRPr sz="5100" b="1">
                <a:solidFill>
                  <a:srgbClr val="173F30"/>
                </a:solidFill>
              </a:defRPr>
            </a:lvl7pPr>
            <a:lvl8pPr>
              <a:defRPr sz="5100" b="1">
                <a:solidFill>
                  <a:srgbClr val="173F30"/>
                </a:solidFill>
              </a:defRPr>
            </a:lvl8pPr>
            <a:lvl9pPr>
              <a:defRPr sz="5100" b="1">
                <a:solidFill>
                  <a:srgbClr val="173F30"/>
                </a:solidFill>
              </a:defRPr>
            </a:lvl9pPr>
          </a:lstStyle>
          <a:p xmlns:a="http://schemas.openxmlformats.org/drawingml/2006/main">
            <a:pPr>
              <a:defRPr sz="5100" b="1">
                <a:solidFill>
                  <a:srgbClr val="173F30"/>
                </a:solidFill>
              </a:defRPr>
            </a:pPr>
            <a:r>
              <a:rPr sz="5100" b="1">
                <a:solidFill>
                  <a:srgbClr val="173F30"/>
                </a:solidFill>
              </a:rPr>
              <a:t>450</a:t>
            </a:r>
          </a:p>
        </p:txBody>
      </p:sp>
      <p:sp>
        <p:nvSpPr>
          <p:cNvPr id="6" name="">
            <a:extLst xmlns:a="http://schemas.openxmlformats.org/drawingml/2006/main">
              <a:ext uri="{FF2B5EF4-FFF2-40B4-BE49-F238E27FC236}">
                <a16:creationId xmlns:a16="http://schemas.microsoft.com/office/drawing/2014/main" id="{9667AFA7-D204-4EFE-90F3-A908438FD61E}"/>
              </a:ext>
            </a:extLst>
          </p:cNvPr>
          <p:cNvSpPr>
            <a:spLocks xmlns:a="http://schemas.openxmlformats.org/drawingml/2006/main" noGrp="1"/>
          </p:cNvSpPr>
          <p:nvPr/>
        </p:nvSpPr>
        <p:spPr>
          <a:xfrm xmlns:a="http://schemas.openxmlformats.org/drawingml/2006/main">
            <a:off x="628650" y="34766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66D"/>
                </a:solidFill>
              </a:defRPr>
            </a:defPPr>
            <a:lvl1pPr>
              <a:defRPr sz="1950" b="0">
                <a:solidFill>
                  <a:srgbClr val="66766D"/>
                </a:solidFill>
              </a:defRPr>
            </a:lvl1pPr>
            <a:lvl2pPr>
              <a:defRPr sz="1950" b="0">
                <a:solidFill>
                  <a:srgbClr val="66766D"/>
                </a:solidFill>
              </a:defRPr>
            </a:lvl2pPr>
            <a:lvl3pPr>
              <a:defRPr sz="1950" b="0">
                <a:solidFill>
                  <a:srgbClr val="66766D"/>
                </a:solidFill>
              </a:defRPr>
            </a:lvl3pPr>
            <a:lvl4pPr>
              <a:defRPr sz="1950" b="0">
                <a:solidFill>
                  <a:srgbClr val="66766D"/>
                </a:solidFill>
              </a:defRPr>
            </a:lvl4pPr>
            <a:lvl5pPr>
              <a:defRPr sz="1950" b="0">
                <a:solidFill>
                  <a:srgbClr val="66766D"/>
                </a:solidFill>
              </a:defRPr>
            </a:lvl5pPr>
            <a:lvl6pPr>
              <a:defRPr sz="1950" b="0">
                <a:solidFill>
                  <a:srgbClr val="66766D"/>
                </a:solidFill>
              </a:defRPr>
            </a:lvl6pPr>
            <a:lvl7pPr>
              <a:defRPr sz="1950" b="0">
                <a:solidFill>
                  <a:srgbClr val="66766D"/>
                </a:solidFill>
              </a:defRPr>
            </a:lvl7pPr>
            <a:lvl8pPr>
              <a:defRPr sz="1950" b="0">
                <a:solidFill>
                  <a:srgbClr val="66766D"/>
                </a:solidFill>
              </a:defRPr>
            </a:lvl8pPr>
            <a:lvl9pPr>
              <a:defRPr sz="1950" b="0">
                <a:solidFill>
                  <a:srgbClr val="66766D"/>
                </a:solidFill>
              </a:defRPr>
            </a:lvl9pPr>
          </a:lstStyle>
          <a:p xmlns:a="http://schemas.openxmlformats.org/drawingml/2006/main">
            <a:pPr>
              <a:defRPr sz="1950" b="0">
                <a:solidFill>
                  <a:srgbClr val="66766D"/>
                </a:solidFill>
              </a:defRPr>
            </a:pPr>
            <a:r>
              <a:rPr sz="1950" b="0">
                <a:solidFill>
                  <a:srgbClr val="66766D"/>
                </a:solidFill>
              </a:rPr>
              <a:t>labelled source images</a:t>
            </a:r>
          </a:p>
        </p:txBody>
      </p:sp>
      <p:sp>
        <p:nvSpPr>
          <p:cNvPr id="7" name="">
            <a:extLst xmlns:a="http://schemas.openxmlformats.org/drawingml/2006/main">
              <a:ext uri="{FF2B5EF4-FFF2-40B4-BE49-F238E27FC236}">
                <a16:creationId xmlns:a16="http://schemas.microsoft.com/office/drawing/2014/main" id="{2DCEE44A-F118-4DA5-9957-3A2B229ECD9E}"/>
              </a:ext>
            </a:extLst>
          </p:cNvPr>
          <p:cNvSpPr>
            <a:spLocks xmlns:a="http://schemas.openxmlformats.org/drawingml/2006/main" noGrp="1"/>
          </p:cNvSpPr>
          <p:nvPr/>
        </p:nvSpPr>
        <p:spPr>
          <a:xfrm xmlns:a="http://schemas.openxmlformats.org/drawingml/2006/main">
            <a:off x="4429125" y="254317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73F30"/>
                </a:solidFill>
              </a:defRPr>
            </a:defPPr>
            <a:lvl1pPr>
              <a:defRPr sz="5100" b="1">
                <a:solidFill>
                  <a:srgbClr val="173F30"/>
                </a:solidFill>
              </a:defRPr>
            </a:lvl1pPr>
            <a:lvl2pPr>
              <a:defRPr sz="5100" b="1">
                <a:solidFill>
                  <a:srgbClr val="173F30"/>
                </a:solidFill>
              </a:defRPr>
            </a:lvl2pPr>
            <a:lvl3pPr>
              <a:defRPr sz="5100" b="1">
                <a:solidFill>
                  <a:srgbClr val="173F30"/>
                </a:solidFill>
              </a:defRPr>
            </a:lvl3pPr>
            <a:lvl4pPr>
              <a:defRPr sz="5100" b="1">
                <a:solidFill>
                  <a:srgbClr val="173F30"/>
                </a:solidFill>
              </a:defRPr>
            </a:lvl4pPr>
            <a:lvl5pPr>
              <a:defRPr sz="5100" b="1">
                <a:solidFill>
                  <a:srgbClr val="173F30"/>
                </a:solidFill>
              </a:defRPr>
            </a:lvl5pPr>
            <a:lvl6pPr>
              <a:defRPr sz="5100" b="1">
                <a:solidFill>
                  <a:srgbClr val="173F30"/>
                </a:solidFill>
              </a:defRPr>
            </a:lvl6pPr>
            <a:lvl7pPr>
              <a:defRPr sz="5100" b="1">
                <a:solidFill>
                  <a:srgbClr val="173F30"/>
                </a:solidFill>
              </a:defRPr>
            </a:lvl7pPr>
            <a:lvl8pPr>
              <a:defRPr sz="5100" b="1">
                <a:solidFill>
                  <a:srgbClr val="173F30"/>
                </a:solidFill>
              </a:defRPr>
            </a:lvl8pPr>
            <a:lvl9pPr>
              <a:defRPr sz="5100" b="1">
                <a:solidFill>
                  <a:srgbClr val="173F30"/>
                </a:solidFill>
              </a:defRPr>
            </a:lvl9pPr>
          </a:lstStyle>
          <a:p xmlns:a="http://schemas.openxmlformats.org/drawingml/2006/main">
            <a:pPr>
              <a:defRPr sz="5100" b="1">
                <a:solidFill>
                  <a:srgbClr val="173F30"/>
                </a:solidFill>
              </a:defRPr>
            </a:pPr>
            <a:r>
              <a:rPr sz="5100" b="1">
                <a:solidFill>
                  <a:srgbClr val="173F30"/>
                </a:solidFill>
              </a:rPr>
              <a:t>67</a:t>
            </a:r>
          </a:p>
        </p:txBody>
      </p:sp>
      <p:sp>
        <p:nvSpPr>
          <p:cNvPr id="8" name="">
            <a:extLst xmlns:a="http://schemas.openxmlformats.org/drawingml/2006/main">
              <a:ext uri="{FF2B5EF4-FFF2-40B4-BE49-F238E27FC236}">
                <a16:creationId xmlns:a16="http://schemas.microsoft.com/office/drawing/2014/main" id="{594BC916-F795-4CB9-84E4-26730B083B01}"/>
              </a:ext>
            </a:extLst>
          </p:cNvPr>
          <p:cNvSpPr>
            <a:spLocks xmlns:a="http://schemas.openxmlformats.org/drawingml/2006/main" noGrp="1"/>
          </p:cNvSpPr>
          <p:nvPr/>
        </p:nvSpPr>
        <p:spPr>
          <a:xfrm xmlns:a="http://schemas.openxmlformats.org/drawingml/2006/main">
            <a:off x="4429125" y="3476625"/>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66D"/>
                </a:solidFill>
              </a:defRPr>
            </a:defPPr>
            <a:lvl1pPr>
              <a:defRPr sz="1950" b="0">
                <a:solidFill>
                  <a:srgbClr val="66766D"/>
                </a:solidFill>
              </a:defRPr>
            </a:lvl1pPr>
            <a:lvl2pPr>
              <a:defRPr sz="1950" b="0">
                <a:solidFill>
                  <a:srgbClr val="66766D"/>
                </a:solidFill>
              </a:defRPr>
            </a:lvl2pPr>
            <a:lvl3pPr>
              <a:defRPr sz="1950" b="0">
                <a:solidFill>
                  <a:srgbClr val="66766D"/>
                </a:solidFill>
              </a:defRPr>
            </a:lvl3pPr>
            <a:lvl4pPr>
              <a:defRPr sz="1950" b="0">
                <a:solidFill>
                  <a:srgbClr val="66766D"/>
                </a:solidFill>
              </a:defRPr>
            </a:lvl4pPr>
            <a:lvl5pPr>
              <a:defRPr sz="1950" b="0">
                <a:solidFill>
                  <a:srgbClr val="66766D"/>
                </a:solidFill>
              </a:defRPr>
            </a:lvl5pPr>
            <a:lvl6pPr>
              <a:defRPr sz="1950" b="0">
                <a:solidFill>
                  <a:srgbClr val="66766D"/>
                </a:solidFill>
              </a:defRPr>
            </a:lvl6pPr>
            <a:lvl7pPr>
              <a:defRPr sz="1950" b="0">
                <a:solidFill>
                  <a:srgbClr val="66766D"/>
                </a:solidFill>
              </a:defRPr>
            </a:lvl7pPr>
            <a:lvl8pPr>
              <a:defRPr sz="1950" b="0">
                <a:solidFill>
                  <a:srgbClr val="66766D"/>
                </a:solidFill>
              </a:defRPr>
            </a:lvl8pPr>
            <a:lvl9pPr>
              <a:defRPr sz="1950" b="0">
                <a:solidFill>
                  <a:srgbClr val="66766D"/>
                </a:solidFill>
              </a:defRPr>
            </a:lvl9pPr>
          </a:lstStyle>
          <a:p xmlns:a="http://schemas.openxmlformats.org/drawingml/2006/main">
            <a:pPr>
              <a:defRPr sz="1950" b="0">
                <a:solidFill>
                  <a:srgbClr val="66766D"/>
                </a:solidFill>
              </a:defRPr>
            </a:pPr>
            <a:r>
              <a:rPr sz="1950" b="0">
                <a:solidFill>
                  <a:srgbClr val="66766D"/>
                </a:solidFill>
              </a:rPr>
              <a:t>held-out test images</a:t>
            </a:r>
          </a:p>
        </p:txBody>
      </p:sp>
      <p:sp>
        <p:nvSpPr>
          <p:cNvPr id="9" name="">
            <a:extLst xmlns:a="http://schemas.openxmlformats.org/drawingml/2006/main">
              <a:ext uri="{FF2B5EF4-FFF2-40B4-BE49-F238E27FC236}">
                <a16:creationId xmlns:a16="http://schemas.microsoft.com/office/drawing/2014/main" id="{E970255D-EB89-49A6-95F2-150947526CCE}"/>
              </a:ext>
            </a:extLst>
          </p:cNvPr>
          <p:cNvSpPr>
            <a:spLocks xmlns:a="http://schemas.openxmlformats.org/drawingml/2006/main" noGrp="1"/>
          </p:cNvSpPr>
          <p:nvPr/>
        </p:nvSpPr>
        <p:spPr>
          <a:xfrm xmlns:a="http://schemas.openxmlformats.org/drawingml/2006/main">
            <a:off x="8210550" y="254317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7770AA"/>
                </a:solidFill>
              </a:defRPr>
            </a:defPPr>
            <a:lvl1pPr>
              <a:defRPr sz="5100" b="1">
                <a:solidFill>
                  <a:srgbClr val="7770AA"/>
                </a:solidFill>
              </a:defRPr>
            </a:lvl1pPr>
            <a:lvl2pPr>
              <a:defRPr sz="5100" b="1">
                <a:solidFill>
                  <a:srgbClr val="7770AA"/>
                </a:solidFill>
              </a:defRPr>
            </a:lvl2pPr>
            <a:lvl3pPr>
              <a:defRPr sz="5100" b="1">
                <a:solidFill>
                  <a:srgbClr val="7770AA"/>
                </a:solidFill>
              </a:defRPr>
            </a:lvl3pPr>
            <a:lvl4pPr>
              <a:defRPr sz="5100" b="1">
                <a:solidFill>
                  <a:srgbClr val="7770AA"/>
                </a:solidFill>
              </a:defRPr>
            </a:lvl4pPr>
            <a:lvl5pPr>
              <a:defRPr sz="5100" b="1">
                <a:solidFill>
                  <a:srgbClr val="7770AA"/>
                </a:solidFill>
              </a:defRPr>
            </a:lvl5pPr>
            <a:lvl6pPr>
              <a:defRPr sz="5100" b="1">
                <a:solidFill>
                  <a:srgbClr val="7770AA"/>
                </a:solidFill>
              </a:defRPr>
            </a:lvl6pPr>
            <a:lvl7pPr>
              <a:defRPr sz="5100" b="1">
                <a:solidFill>
                  <a:srgbClr val="7770AA"/>
                </a:solidFill>
              </a:defRPr>
            </a:lvl7pPr>
            <a:lvl8pPr>
              <a:defRPr sz="5100" b="1">
                <a:solidFill>
                  <a:srgbClr val="7770AA"/>
                </a:solidFill>
              </a:defRPr>
            </a:lvl8pPr>
            <a:lvl9pPr>
              <a:defRPr sz="5100" b="1">
                <a:solidFill>
                  <a:srgbClr val="7770AA"/>
                </a:solidFill>
              </a:defRPr>
            </a:lvl9pPr>
          </a:lstStyle>
          <a:p xmlns:a="http://schemas.openxmlformats.org/drawingml/2006/main">
            <a:pPr>
              <a:defRPr sz="5100" b="1">
                <a:solidFill>
                  <a:srgbClr val="7770AA"/>
                </a:solidFill>
              </a:defRPr>
            </a:pPr>
            <a:r>
              <a:rPr sz="5100" b="1">
                <a:solidFill>
                  <a:srgbClr val="7770AA"/>
                </a:solidFill>
              </a:rPr>
              <a:t>66.13%</a:t>
            </a:r>
          </a:p>
        </p:txBody>
      </p:sp>
      <p:sp>
        <p:nvSpPr>
          <p:cNvPr id="10" name="">
            <a:extLst xmlns:a="http://schemas.openxmlformats.org/drawingml/2006/main">
              <a:ext uri="{FF2B5EF4-FFF2-40B4-BE49-F238E27FC236}">
                <a16:creationId xmlns:a16="http://schemas.microsoft.com/office/drawing/2014/main" id="{CD6BE336-C613-4301-8EA8-9A7EACD82B1E}"/>
              </a:ext>
            </a:extLst>
          </p:cNvPr>
          <p:cNvSpPr>
            <a:spLocks xmlns:a="http://schemas.openxmlformats.org/drawingml/2006/main" noGrp="1"/>
          </p:cNvSpPr>
          <p:nvPr/>
        </p:nvSpPr>
        <p:spPr>
          <a:xfrm xmlns:a="http://schemas.openxmlformats.org/drawingml/2006/main">
            <a:off x="8210550" y="34766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66D"/>
                </a:solidFill>
              </a:defRPr>
            </a:defPPr>
            <a:lvl1pPr>
              <a:defRPr sz="1950" b="0">
                <a:solidFill>
                  <a:srgbClr val="66766D"/>
                </a:solidFill>
              </a:defRPr>
            </a:lvl1pPr>
            <a:lvl2pPr>
              <a:defRPr sz="1950" b="0">
                <a:solidFill>
                  <a:srgbClr val="66766D"/>
                </a:solidFill>
              </a:defRPr>
            </a:lvl2pPr>
            <a:lvl3pPr>
              <a:defRPr sz="1950" b="0">
                <a:solidFill>
                  <a:srgbClr val="66766D"/>
                </a:solidFill>
              </a:defRPr>
            </a:lvl3pPr>
            <a:lvl4pPr>
              <a:defRPr sz="1950" b="0">
                <a:solidFill>
                  <a:srgbClr val="66766D"/>
                </a:solidFill>
              </a:defRPr>
            </a:lvl4pPr>
            <a:lvl5pPr>
              <a:defRPr sz="1950" b="0">
                <a:solidFill>
                  <a:srgbClr val="66766D"/>
                </a:solidFill>
              </a:defRPr>
            </a:lvl5pPr>
            <a:lvl6pPr>
              <a:defRPr sz="1950" b="0">
                <a:solidFill>
                  <a:srgbClr val="66766D"/>
                </a:solidFill>
              </a:defRPr>
            </a:lvl6pPr>
            <a:lvl7pPr>
              <a:defRPr sz="1950" b="0">
                <a:solidFill>
                  <a:srgbClr val="66766D"/>
                </a:solidFill>
              </a:defRPr>
            </a:lvl7pPr>
            <a:lvl8pPr>
              <a:defRPr sz="1950" b="0">
                <a:solidFill>
                  <a:srgbClr val="66766D"/>
                </a:solidFill>
              </a:defRPr>
            </a:lvl8pPr>
            <a:lvl9pPr>
              <a:defRPr sz="1950" b="0">
                <a:solidFill>
                  <a:srgbClr val="66766D"/>
                </a:solidFill>
              </a:defRPr>
            </a:lvl9pPr>
          </a:lstStyle>
          <a:p xmlns:a="http://schemas.openxmlformats.org/drawingml/2006/main">
            <a:pPr>
              <a:defRPr sz="1950" b="0">
                <a:solidFill>
                  <a:srgbClr val="66766D"/>
                </a:solidFill>
              </a:defRPr>
            </a:pPr>
            <a:r>
              <a:rPr sz="1950" b="0">
                <a:solidFill>
                  <a:srgbClr val="66766D"/>
                </a:solidFill>
              </a:rPr>
              <a:t>foreground mean IoU</a:t>
            </a:r>
          </a:p>
        </p:txBody>
      </p:sp>
      <p:sp>
        <p:nvSpPr>
          <p:cNvPr id="11" name="">
            <a:extLst xmlns:a="http://schemas.openxmlformats.org/drawingml/2006/main">
              <a:ext uri="{FF2B5EF4-FFF2-40B4-BE49-F238E27FC236}">
                <a16:creationId xmlns:a16="http://schemas.microsoft.com/office/drawing/2014/main" id="{19005568-2EFA-44FD-BEBA-0C1931F79BB7}"/>
              </a:ext>
            </a:extLst>
          </p:cNvPr>
          <p:cNvSpPr>
            <a:spLocks xmlns:a="http://schemas.openxmlformats.org/drawingml/2006/main" noGrp="1"/>
          </p:cNvSpPr>
          <p:nvPr/>
        </p:nvSpPr>
        <p:spPr>
          <a:xfrm xmlns:a="http://schemas.openxmlformats.org/drawingml/2006/main">
            <a:off x="628650" y="45243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6766D"/>
                </a:solidFill>
              </a:defRPr>
            </a:defPPr>
            <a:lvl1pPr>
              <a:defRPr sz="2175" b="0">
                <a:solidFill>
                  <a:srgbClr val="66766D"/>
                </a:solidFill>
              </a:defRPr>
            </a:lvl1pPr>
            <a:lvl2pPr>
              <a:defRPr sz="2175" b="0">
                <a:solidFill>
                  <a:srgbClr val="66766D"/>
                </a:solidFill>
              </a:defRPr>
            </a:lvl2pPr>
            <a:lvl3pPr>
              <a:defRPr sz="2175" b="0">
                <a:solidFill>
                  <a:srgbClr val="66766D"/>
                </a:solidFill>
              </a:defRPr>
            </a:lvl3pPr>
            <a:lvl4pPr>
              <a:defRPr sz="2175" b="0">
                <a:solidFill>
                  <a:srgbClr val="66766D"/>
                </a:solidFill>
              </a:defRPr>
            </a:lvl4pPr>
            <a:lvl5pPr>
              <a:defRPr sz="2175" b="0">
                <a:solidFill>
                  <a:srgbClr val="66766D"/>
                </a:solidFill>
              </a:defRPr>
            </a:lvl5pPr>
            <a:lvl6pPr>
              <a:defRPr sz="2175" b="0">
                <a:solidFill>
                  <a:srgbClr val="66766D"/>
                </a:solidFill>
              </a:defRPr>
            </a:lvl6pPr>
            <a:lvl7pPr>
              <a:defRPr sz="2175" b="0">
                <a:solidFill>
                  <a:srgbClr val="66766D"/>
                </a:solidFill>
              </a:defRPr>
            </a:lvl7pPr>
            <a:lvl8pPr>
              <a:defRPr sz="2175" b="0">
                <a:solidFill>
                  <a:srgbClr val="66766D"/>
                </a:solidFill>
              </a:defRPr>
            </a:lvl8pPr>
            <a:lvl9pPr>
              <a:defRPr sz="2175" b="0">
                <a:solidFill>
                  <a:srgbClr val="66766D"/>
                </a:solidFill>
              </a:defRPr>
            </a:lvl9pPr>
          </a:lstStyle>
          <a:p xmlns:a="http://schemas.openxmlformats.org/drawingml/2006/main">
            <a:pPr>
              <a:defRPr sz="2175" b="0">
                <a:solidFill>
                  <a:srgbClr val="66766D"/>
                </a:solidFill>
              </a:defRPr>
            </a:pPr>
            <a:r>
              <a:rPr sz="2175" b="0">
                <a:solidFill>
                  <a:srgbClr val="66766D"/>
                </a:solidFill>
              </a:rPr>
              <a:t>IoU measures overlap between predicted and labelled regions. It is not item-identification accuracy.</a:t>
            </a:r>
          </a:p>
        </p:txBody>
      </p:sp>
      <p:sp>
        <p:nvSpPr>
          <p:cNvPr id="12" name="">
            <a:extLst xmlns:a="http://schemas.openxmlformats.org/drawingml/2006/main">
              <a:ext uri="{FF2B5EF4-FFF2-40B4-BE49-F238E27FC236}">
                <a16:creationId xmlns:a16="http://schemas.microsoft.com/office/drawing/2014/main" id="{EE8B2995-932A-4609-8B56-B8D2143822EA}"/>
              </a:ext>
            </a:extLst>
          </p:cNvPr>
          <p:cNvSpPr>
            <a:spLocks xmlns:a="http://schemas.openxmlformats.org/drawingml/2006/main" noGrp="1"/>
          </p:cNvSpPr>
          <p:nvPr/>
        </p:nvSpPr>
        <p:spPr>
          <a:xfrm xmlns:a="http://schemas.openxmlformats.org/drawingml/2006/main">
            <a:off x="628650" y="5686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7770AA"/>
                </a:solidFill>
              </a:defRPr>
            </a:defPPr>
            <a:lvl1pPr>
              <a:defRPr sz="1725" b="1">
                <a:solidFill>
                  <a:srgbClr val="7770AA"/>
                </a:solidFill>
              </a:defRPr>
            </a:lvl1pPr>
            <a:lvl2pPr>
              <a:defRPr sz="1725" b="1">
                <a:solidFill>
                  <a:srgbClr val="7770AA"/>
                </a:solidFill>
              </a:defRPr>
            </a:lvl2pPr>
            <a:lvl3pPr>
              <a:defRPr sz="1725" b="1">
                <a:solidFill>
                  <a:srgbClr val="7770AA"/>
                </a:solidFill>
              </a:defRPr>
            </a:lvl3pPr>
            <a:lvl4pPr>
              <a:defRPr sz="1725" b="1">
                <a:solidFill>
                  <a:srgbClr val="7770AA"/>
                </a:solidFill>
              </a:defRPr>
            </a:lvl4pPr>
            <a:lvl5pPr>
              <a:defRPr sz="1725" b="1">
                <a:solidFill>
                  <a:srgbClr val="7770AA"/>
                </a:solidFill>
              </a:defRPr>
            </a:lvl5pPr>
            <a:lvl6pPr>
              <a:defRPr sz="1725" b="1">
                <a:solidFill>
                  <a:srgbClr val="7770AA"/>
                </a:solidFill>
              </a:defRPr>
            </a:lvl6pPr>
            <a:lvl7pPr>
              <a:defRPr sz="1725" b="1">
                <a:solidFill>
                  <a:srgbClr val="7770AA"/>
                </a:solidFill>
              </a:defRPr>
            </a:lvl7pPr>
            <a:lvl8pPr>
              <a:defRPr sz="1725" b="1">
                <a:solidFill>
                  <a:srgbClr val="7770AA"/>
                </a:solidFill>
              </a:defRPr>
            </a:lvl8pPr>
            <a:lvl9pPr>
              <a:defRPr sz="1725" b="1">
                <a:solidFill>
                  <a:srgbClr val="7770AA"/>
                </a:solidFill>
              </a:defRPr>
            </a:lvl9pPr>
          </a:lstStyle>
          <a:p xmlns:a="http://schemas.openxmlformats.org/drawingml/2006/main">
            <a:pPr>
              <a:defRPr sz="1725" b="1">
                <a:solidFill>
                  <a:srgbClr val="7770AA"/>
                </a:solidFill>
              </a:defRPr>
            </a:pPr>
            <a:r>
              <a:rPr sz="1725" b="1">
                <a:solidFill>
                  <a:srgbClr val="7770AA"/>
                </a:solidFill>
              </a:rPr>
              <a:t>One household and one fixed camera. Phone-camera validation is still needed.</a:t>
            </a:r>
          </a:p>
        </p:txBody>
      </p:sp>
    </p:spTree>
    <p:extLst>
      <p:ext uri="{BB962C8B-B14F-4D97-AF65-F5344CB8AC3E}">
        <p14:creationId xmlns:p14="http://schemas.microsoft.com/office/powerpoint/2010/main" val="996656028"/>
      </p:ext>
    </p:extLst>
  </p:cSld>
</p:sld>
</file>

<file path=ppt/slides/slide2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4CCCA7D-AA5A-4DE9-A9ED-6DC92D16484B}"/>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 working app with a separate model service</a:t>
            </a:r>
          </a:p>
        </p:txBody>
      </p:sp>
      <p:sp>
        <p:nvSpPr>
          <p:cNvPr id="3" name="">
            <a:extLst xmlns:a="http://schemas.openxmlformats.org/drawingml/2006/main">
              <a:ext uri="{FF2B5EF4-FFF2-40B4-BE49-F238E27FC236}">
                <a16:creationId xmlns:a16="http://schemas.microsoft.com/office/drawing/2014/main" id="{98CE40C4-698E-4957-BDC5-EB469D481B39}"/>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Simple components keep the demo understandable and the model replaceable.</a:t>
            </a:r>
          </a:p>
        </p:txBody>
      </p:sp>
      <p:sp>
        <p:nvSpPr>
          <p:cNvPr id="4" name="">
            <a:extLst xmlns:a="http://schemas.openxmlformats.org/drawingml/2006/main">
              <a:ext uri="{FF2B5EF4-FFF2-40B4-BE49-F238E27FC236}">
                <a16:creationId xmlns:a16="http://schemas.microsoft.com/office/drawing/2014/main" id="{D915DDA1-0C77-4101-9B76-967DBD9C06E3}"/>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25</a:t>
            </a:r>
          </a:p>
        </p:txBody>
      </p:sp>
      <p:sp>
        <p:nvSpPr>
          <p:cNvPr id="5" name="">
            <a:extLst xmlns:a="http://schemas.openxmlformats.org/drawingml/2006/main">
              <a:ext uri="{FF2B5EF4-FFF2-40B4-BE49-F238E27FC236}">
                <a16:creationId xmlns:a16="http://schemas.microsoft.com/office/drawing/2014/main" id="{BC21D1DC-10B4-492B-9F2F-11920960AC94}"/>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Web app</a:t>
            </a:r>
          </a:p>
        </p:txBody>
      </p:sp>
      <p:sp>
        <p:nvSpPr>
          <p:cNvPr id="6" name="">
            <a:extLst xmlns:a="http://schemas.openxmlformats.org/drawingml/2006/main">
              <a:ext uri="{FF2B5EF4-FFF2-40B4-BE49-F238E27FC236}">
                <a16:creationId xmlns:a16="http://schemas.microsoft.com/office/drawing/2014/main" id="{0C6AD5AE-E625-4C2F-BED2-35A1D6020B84}"/>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Next.js and React with role-based resident, helper and admin workspaces.</a:t>
            </a:r>
          </a:p>
        </p:txBody>
      </p:sp>
      <p:sp>
        <p:nvSpPr>
          <p:cNvPr id="7" name="">
            <a:extLst xmlns:a="http://schemas.openxmlformats.org/drawingml/2006/main">
              <a:ext uri="{FF2B5EF4-FFF2-40B4-BE49-F238E27FC236}">
                <a16:creationId xmlns:a16="http://schemas.microsoft.com/office/drawing/2014/main" id="{E71D9EDD-E126-42A2-848A-E3421CDE8797}"/>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Application records</a:t>
            </a:r>
          </a:p>
        </p:txBody>
      </p:sp>
      <p:sp>
        <p:nvSpPr>
          <p:cNvPr id="8" name="">
            <a:extLst xmlns:a="http://schemas.openxmlformats.org/drawingml/2006/main">
              <a:ext uri="{FF2B5EF4-FFF2-40B4-BE49-F238E27FC236}">
                <a16:creationId xmlns:a16="http://schemas.microsoft.com/office/drawing/2014/main" id="{788E6657-D593-445B-9D66-EB6B8CAA69CC}"/>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Local MongoDB stores accounts, bookings, receipts, benefits and payment records.</a:t>
            </a:r>
          </a:p>
        </p:txBody>
      </p:sp>
      <p:sp>
        <p:nvSpPr>
          <p:cNvPr id="9" name="">
            <a:extLst xmlns:a="http://schemas.openxmlformats.org/drawingml/2006/main">
              <a:ext uri="{FF2B5EF4-FFF2-40B4-BE49-F238E27FC236}">
                <a16:creationId xmlns:a16="http://schemas.microsoft.com/office/drawing/2014/main" id="{21E9579A-B5A5-4FFA-AE16-03B5233FCDEB}"/>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AI and payments</a:t>
            </a:r>
          </a:p>
        </p:txBody>
      </p:sp>
      <p:sp>
        <p:nvSpPr>
          <p:cNvPr id="10" name="">
            <a:extLst xmlns:a="http://schemas.openxmlformats.org/drawingml/2006/main">
              <a:ext uri="{FF2B5EF4-FFF2-40B4-BE49-F238E27FC236}">
                <a16:creationId xmlns:a16="http://schemas.microsoft.com/office/drawing/2014/main" id="{F07B1735-E336-477E-98AA-2A36E754F179}"/>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Configurable image AI and OCR. Razorpay checkout integration. Separate local Python inference API.</a:t>
            </a:r>
          </a:p>
        </p:txBody>
      </p:sp>
    </p:spTree>
    <p:extLst>
      <p:ext uri="{BB962C8B-B14F-4D97-AF65-F5344CB8AC3E}">
        <p14:creationId xmlns:p14="http://schemas.microsoft.com/office/powerpoint/2010/main" val="1219458094"/>
      </p:ext>
    </p:extLst>
  </p:cSld>
</p:sld>
</file>

<file path=ppt/slides/slide2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3731661-59AC-4E02-93EC-223E7C0C7BFB}"/>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What works today</a:t>
            </a:r>
          </a:p>
        </p:txBody>
      </p:sp>
      <p:sp>
        <p:nvSpPr>
          <p:cNvPr id="3" name="">
            <a:extLst xmlns:a="http://schemas.openxmlformats.org/drawingml/2006/main">
              <a:ext uri="{FF2B5EF4-FFF2-40B4-BE49-F238E27FC236}">
                <a16:creationId xmlns:a16="http://schemas.microsoft.com/office/drawing/2014/main" id="{1912F2E1-9AFD-4A63-828E-E0833812A91F}"/>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A tested prototype, with clear limits before launch.</a:t>
            </a:r>
          </a:p>
        </p:txBody>
      </p:sp>
      <p:sp>
        <p:nvSpPr>
          <p:cNvPr id="4" name="">
            <a:extLst xmlns:a="http://schemas.openxmlformats.org/drawingml/2006/main">
              <a:ext uri="{FF2B5EF4-FFF2-40B4-BE49-F238E27FC236}">
                <a16:creationId xmlns:a16="http://schemas.microsoft.com/office/drawing/2014/main" id="{5E2BCA7F-BEED-4337-B46A-11B9E8207125}"/>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26</a:t>
            </a:r>
          </a:p>
        </p:txBody>
      </p:sp>
      <p:sp>
        <p:nvSpPr>
          <p:cNvPr id="5" name="">
            <a:extLst xmlns:a="http://schemas.openxmlformats.org/drawingml/2006/main">
              <a:ext uri="{FF2B5EF4-FFF2-40B4-BE49-F238E27FC236}">
                <a16:creationId xmlns:a16="http://schemas.microsoft.com/office/drawing/2014/main" id="{D611D533-F4FB-402D-9FCC-EF8AAFC73A76}"/>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Built in the prototype</a:t>
            </a:r>
          </a:p>
        </p:txBody>
      </p:sp>
      <p:sp>
        <p:nvSpPr>
          <p:cNvPr id="6" name="">
            <a:extLst xmlns:a="http://schemas.openxmlformats.org/drawingml/2006/main">
              <a:ext uri="{FF2B5EF4-FFF2-40B4-BE49-F238E27FC236}">
                <a16:creationId xmlns:a16="http://schemas.microsoft.com/office/drawing/2014/main" id="{592B1B0A-6122-43A5-B857-A03BA845F0F3}"/>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Camera and description flow</a:t>
            </a:r>
          </a:p>
          <a:p xmlns:a="http://schemas.openxmlformats.org/drawingml/2006/main">
            <a:pPr>
              <a:defRPr sz="1875" b="0">
                <a:solidFill>
                  <a:srgbClr val="66766D"/>
                </a:solidFill>
              </a:defRPr>
            </a:pPr>
            <a:r>
              <a:rPr sz="1875" b="0">
                <a:solidFill>
                  <a:srgbClr val="66766D"/>
                </a:solidFill>
              </a:rPr>
              <a:t>Automatic fees and scheduling</a:t>
            </a:r>
          </a:p>
          <a:p xmlns:a="http://schemas.openxmlformats.org/drawingml/2006/main">
            <a:pPr>
              <a:defRPr sz="1875" b="0">
                <a:solidFill>
                  <a:srgbClr val="66766D"/>
                </a:solidFill>
              </a:defRPr>
            </a:pPr>
            <a:r>
              <a:rPr sz="1875" b="0">
                <a:solidFill>
                  <a:srgbClr val="66766D"/>
                </a:solidFill>
              </a:rPr>
              <a:t>Helper collections and earnings</a:t>
            </a:r>
          </a:p>
          <a:p xmlns:a="http://schemas.openxmlformats.org/drawingml/2006/main">
            <a:pPr>
              <a:defRPr sz="1875" b="0">
                <a:solidFill>
                  <a:srgbClr val="66766D"/>
                </a:solidFill>
              </a:defRPr>
            </a:pPr>
            <a:r>
              <a:rPr sz="1875" b="0">
                <a:solidFill>
                  <a:srgbClr val="66766D"/>
                </a:solidFill>
              </a:rPr>
              <a:t>Receipts, disputes and PDF certificates</a:t>
            </a:r>
          </a:p>
        </p:txBody>
      </p:sp>
      <p:sp>
        <p:nvSpPr>
          <p:cNvPr id="7" name="">
            <a:extLst xmlns:a="http://schemas.openxmlformats.org/drawingml/2006/main">
              <a:ext uri="{FF2B5EF4-FFF2-40B4-BE49-F238E27FC236}">
                <a16:creationId xmlns:a16="http://schemas.microsoft.com/office/drawing/2014/main" id="{92B40E0E-77C2-46F9-9F49-E3B9ED42FD7B}"/>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Before a public launch</a:t>
            </a:r>
          </a:p>
        </p:txBody>
      </p:sp>
      <p:sp>
        <p:nvSpPr>
          <p:cNvPr id="8" name="">
            <a:extLst xmlns:a="http://schemas.openxmlformats.org/drawingml/2006/main">
              <a:ext uri="{FF2B5EF4-FFF2-40B4-BE49-F238E27FC236}">
                <a16:creationId xmlns:a16="http://schemas.microsoft.com/office/drawing/2014/main" id="{22D375B2-943B-4267-B64C-084DBCB7BD1D}"/>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Live payment and bank checks</a:t>
            </a:r>
          </a:p>
          <a:p xmlns:a="http://schemas.openxmlformats.org/drawingml/2006/main">
            <a:pPr>
              <a:defRPr sz="1875" b="0">
                <a:solidFill>
                  <a:srgbClr val="66766D"/>
                </a:solidFill>
              </a:defRPr>
            </a:pPr>
            <a:r>
              <a:rPr sz="1875" b="0">
                <a:solidFill>
                  <a:srgbClr val="66766D"/>
                </a:solidFill>
              </a:rPr>
              <a:t>Field tests on phones and routes</a:t>
            </a:r>
          </a:p>
          <a:p xmlns:a="http://schemas.openxmlformats.org/drawingml/2006/main">
            <a:pPr>
              <a:defRPr sz="1875" b="0">
                <a:solidFill>
                  <a:srgbClr val="66766D"/>
                </a:solidFill>
              </a:defRPr>
            </a:pPr>
            <a:r>
              <a:rPr sz="1875" b="0">
                <a:solidFill>
                  <a:srgbClr val="66766D"/>
                </a:solidFill>
              </a:rPr>
              <a:t>Approved processor agreements</a:t>
            </a:r>
          </a:p>
          <a:p xmlns:a="http://schemas.openxmlformats.org/drawingml/2006/main">
            <a:pPr>
              <a:defRPr sz="1875" b="0">
                <a:solidFill>
                  <a:srgbClr val="66766D"/>
                </a:solidFill>
              </a:defRPr>
            </a:pPr>
            <a:r>
              <a:rPr sz="1875" b="0">
                <a:solidFill>
                  <a:srgbClr val="66766D"/>
                </a:solidFill>
              </a:rPr>
              <a:t>Government eligibility and identity onboarding</a:t>
            </a:r>
          </a:p>
        </p:txBody>
      </p:sp>
      <p:sp>
        <p:nvSpPr>
          <p:cNvPr id="9" name="">
            <a:extLst xmlns:a="http://schemas.openxmlformats.org/drawingml/2006/main">
              <a:ext uri="{FF2B5EF4-FFF2-40B4-BE49-F238E27FC236}">
                <a16:creationId xmlns:a16="http://schemas.microsoft.com/office/drawing/2014/main" id="{701F9EF9-C080-4193-A142-3F395785E2EA}"/>
              </a:ext>
            </a:extLst>
          </p:cNvPr>
          <p:cNvSpPr>
            <a:spLocks xmlns:a="http://schemas.openxmlformats.org/drawingml/2006/main" noGrp="1"/>
          </p:cNvSpPr>
          <p:nvPr/>
        </p:nvSpPr>
        <p:spPr>
          <a:xfrm xmlns:a="http://schemas.openxmlformats.org/drawingml/2006/main">
            <a:off x="628650" y="57150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7770AA"/>
                </a:solidFill>
              </a:defRPr>
            </a:defPPr>
            <a:lvl1pPr>
              <a:defRPr sz="1800" b="1">
                <a:solidFill>
                  <a:srgbClr val="7770AA"/>
                </a:solidFill>
              </a:defRPr>
            </a:lvl1pPr>
            <a:lvl2pPr>
              <a:defRPr sz="1800" b="1">
                <a:solidFill>
                  <a:srgbClr val="7770AA"/>
                </a:solidFill>
              </a:defRPr>
            </a:lvl2pPr>
            <a:lvl3pPr>
              <a:defRPr sz="1800" b="1">
                <a:solidFill>
                  <a:srgbClr val="7770AA"/>
                </a:solidFill>
              </a:defRPr>
            </a:lvl3pPr>
            <a:lvl4pPr>
              <a:defRPr sz="1800" b="1">
                <a:solidFill>
                  <a:srgbClr val="7770AA"/>
                </a:solidFill>
              </a:defRPr>
            </a:lvl4pPr>
            <a:lvl5pPr>
              <a:defRPr sz="1800" b="1">
                <a:solidFill>
                  <a:srgbClr val="7770AA"/>
                </a:solidFill>
              </a:defRPr>
            </a:lvl5pPr>
            <a:lvl6pPr>
              <a:defRPr sz="1800" b="1">
                <a:solidFill>
                  <a:srgbClr val="7770AA"/>
                </a:solidFill>
              </a:defRPr>
            </a:lvl6pPr>
            <a:lvl7pPr>
              <a:defRPr sz="1800" b="1">
                <a:solidFill>
                  <a:srgbClr val="7770AA"/>
                </a:solidFill>
              </a:defRPr>
            </a:lvl7pPr>
            <a:lvl8pPr>
              <a:defRPr sz="1800" b="1">
                <a:solidFill>
                  <a:srgbClr val="7770AA"/>
                </a:solidFill>
              </a:defRPr>
            </a:lvl8pPr>
            <a:lvl9pPr>
              <a:defRPr sz="1800" b="1">
                <a:solidFill>
                  <a:srgbClr val="7770AA"/>
                </a:solidFill>
              </a:defRPr>
            </a:lvl9pPr>
          </a:lstStyle>
          <a:p xmlns:a="http://schemas.openxmlformats.org/drawingml/2006/main">
            <a:pPr>
              <a:defRPr sz="1800" b="1">
                <a:solidFill>
                  <a:srgbClr val="7770AA"/>
                </a:solidFill>
              </a:defRPr>
            </a:pPr>
            <a:r>
              <a:rPr sz="1800" b="1">
                <a:solidFill>
                  <a:srgbClr val="7770AA"/>
                </a:solidFill>
              </a:rPr>
              <a:t>31 tests passed, plus isolated API integration checks and a production build.</a:t>
            </a:r>
          </a:p>
        </p:txBody>
      </p:sp>
    </p:spTree>
    <p:extLst>
      <p:ext uri="{BB962C8B-B14F-4D97-AF65-F5344CB8AC3E}">
        <p14:creationId xmlns:p14="http://schemas.microsoft.com/office/powerpoint/2010/main" val="1243745651"/>
      </p:ext>
    </p:extLst>
  </p:cSld>
</p:sld>
</file>

<file path=ppt/slides/slide27.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81EA002-E15D-4469-8D05-F49EA657DE83}"/>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 focused first pilot</a:t>
            </a:r>
          </a:p>
        </p:txBody>
      </p:sp>
      <p:sp>
        <p:nvSpPr>
          <p:cNvPr id="3" name="">
            <a:extLst xmlns:a="http://schemas.openxmlformats.org/drawingml/2006/main">
              <a:ext uri="{FF2B5EF4-FFF2-40B4-BE49-F238E27FC236}">
                <a16:creationId xmlns:a16="http://schemas.microsoft.com/office/drawing/2014/main" id="{33DE8DE0-DC10-4253-BBF5-03012E808CDF}"/>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Proposed scope: one campus or housing cluster, with one processing partner.</a:t>
            </a:r>
          </a:p>
        </p:txBody>
      </p:sp>
      <p:sp>
        <p:nvSpPr>
          <p:cNvPr id="4" name="">
            <a:extLst xmlns:a="http://schemas.openxmlformats.org/drawingml/2006/main">
              <a:ext uri="{FF2B5EF4-FFF2-40B4-BE49-F238E27FC236}">
                <a16:creationId xmlns:a16="http://schemas.microsoft.com/office/drawing/2014/main" id="{83C86100-11CC-496A-8589-CCD680204AEB}"/>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27</a:t>
            </a:r>
          </a:p>
        </p:txBody>
      </p:sp>
      <p:sp>
        <p:nvSpPr>
          <p:cNvPr id="5" name="">
            <a:extLst xmlns:a="http://schemas.openxmlformats.org/drawingml/2006/main">
              <a:ext uri="{FF2B5EF4-FFF2-40B4-BE49-F238E27FC236}">
                <a16:creationId xmlns:a16="http://schemas.microsoft.com/office/drawing/2014/main" id="{CBB18B62-2859-4069-8422-B6773B544AF9}"/>
              </a:ext>
            </a:extLst>
          </p:cNvPr>
          <p:cNvSpPr>
            <a:spLocks xmlns:a="http://schemas.openxmlformats.org/drawingml/2006/main" noGrp="1"/>
          </p:cNvSpPr>
          <p:nvPr/>
        </p:nvSpPr>
        <p:spPr>
          <a:xfrm xmlns:a="http://schemas.openxmlformats.org/drawingml/2006/main">
            <a:off x="628650" y="23336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Start small</a:t>
            </a:r>
          </a:p>
        </p:txBody>
      </p:sp>
      <p:sp>
        <p:nvSpPr>
          <p:cNvPr id="6" name="">
            <a:extLst xmlns:a="http://schemas.openxmlformats.org/drawingml/2006/main">
              <a:ext uri="{FF2B5EF4-FFF2-40B4-BE49-F238E27FC236}">
                <a16:creationId xmlns:a16="http://schemas.microsoft.com/office/drawing/2014/main" id="{D68820DE-1147-4390-9584-8A173E0CF43A}"/>
              </a:ext>
            </a:extLst>
          </p:cNvPr>
          <p:cNvSpPr>
            <a:spLocks xmlns:a="http://schemas.openxmlformats.org/drawingml/2006/main" noGrp="1"/>
          </p:cNvSpPr>
          <p:nvPr/>
        </p:nvSpPr>
        <p:spPr>
          <a:xfrm xmlns:a="http://schemas.openxmlformats.org/drawingml/2006/main">
            <a:off x="3714750" y="23336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Target 50 households and two approved helpers for a four-week pilot.</a:t>
            </a:r>
          </a:p>
        </p:txBody>
      </p:sp>
      <p:sp>
        <p:nvSpPr>
          <p:cNvPr id="7" name="">
            <a:extLst xmlns:a="http://schemas.openxmlformats.org/drawingml/2006/main">
              <a:ext uri="{FF2B5EF4-FFF2-40B4-BE49-F238E27FC236}">
                <a16:creationId xmlns:a16="http://schemas.microsoft.com/office/drawing/2014/main" id="{BA1F690E-D2C9-4FA9-9268-5A94EFFFA75A}"/>
              </a:ext>
            </a:extLst>
          </p:cNvPr>
          <p:cNvSpPr>
            <a:spLocks xmlns:a="http://schemas.openxmlformats.org/drawingml/2006/main" noGrp="1"/>
          </p:cNvSpPr>
          <p:nvPr/>
        </p:nvSpPr>
        <p:spPr>
          <a:xfrm xmlns:a="http://schemas.openxmlformats.org/drawingml/2006/main">
            <a:off x="628650" y="333375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Measure the work</a:t>
            </a:r>
          </a:p>
        </p:txBody>
      </p:sp>
      <p:sp>
        <p:nvSpPr>
          <p:cNvPr id="8" name="">
            <a:extLst xmlns:a="http://schemas.openxmlformats.org/drawingml/2006/main">
              <a:ext uri="{FF2B5EF4-FFF2-40B4-BE49-F238E27FC236}">
                <a16:creationId xmlns:a16="http://schemas.microsoft.com/office/drawing/2014/main" id="{35069CB0-5330-4AD8-BF8C-B5FBC6A0F948}"/>
              </a:ext>
            </a:extLst>
          </p:cNvPr>
          <p:cNvSpPr>
            <a:spLocks xmlns:a="http://schemas.openxmlformats.org/drawingml/2006/main" noGrp="1"/>
          </p:cNvSpPr>
          <p:nvPr/>
        </p:nvSpPr>
        <p:spPr>
          <a:xfrm xmlns:a="http://schemas.openxmlformats.org/drawingml/2006/main">
            <a:off x="3714750" y="333375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Track completed pickups, route minutes, kg accepted, repeat bookings and disputes.</a:t>
            </a:r>
          </a:p>
        </p:txBody>
      </p:sp>
      <p:sp>
        <p:nvSpPr>
          <p:cNvPr id="9" name="">
            <a:extLst xmlns:a="http://schemas.openxmlformats.org/drawingml/2006/main">
              <a:ext uri="{FF2B5EF4-FFF2-40B4-BE49-F238E27FC236}">
                <a16:creationId xmlns:a16="http://schemas.microsoft.com/office/drawing/2014/main" id="{90B6BC9B-240C-4B93-8952-FD1EFB1A3444}"/>
              </a:ext>
            </a:extLst>
          </p:cNvPr>
          <p:cNvSpPr>
            <a:spLocks xmlns:a="http://schemas.openxmlformats.org/drawingml/2006/main" noGrp="1"/>
          </p:cNvSpPr>
          <p:nvPr/>
        </p:nvSpPr>
        <p:spPr>
          <a:xfrm xmlns:a="http://schemas.openxmlformats.org/drawingml/2006/main">
            <a:off x="628650" y="43338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Measure the money</a:t>
            </a:r>
          </a:p>
        </p:txBody>
      </p:sp>
      <p:sp>
        <p:nvSpPr>
          <p:cNvPr id="10" name="">
            <a:extLst xmlns:a="http://schemas.openxmlformats.org/drawingml/2006/main">
              <a:ext uri="{FF2B5EF4-FFF2-40B4-BE49-F238E27FC236}">
                <a16:creationId xmlns:a16="http://schemas.microsoft.com/office/drawing/2014/main" id="{AD7501EF-6325-4097-9883-974E093CD085}"/>
              </a:ext>
            </a:extLst>
          </p:cNvPr>
          <p:cNvSpPr>
            <a:spLocks xmlns:a="http://schemas.openxmlformats.org/drawingml/2006/main" noGrp="1"/>
          </p:cNvSpPr>
          <p:nvPr/>
        </p:nvSpPr>
        <p:spPr>
          <a:xfrm xmlns:a="http://schemas.openxmlformats.org/drawingml/2006/main">
            <a:off x="3714750" y="433387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Track helper hourly take-home and contribution after every direct cost.</a:t>
            </a:r>
          </a:p>
        </p:txBody>
      </p:sp>
      <p:sp>
        <p:nvSpPr>
          <p:cNvPr id="11" name="">
            <a:extLst xmlns:a="http://schemas.openxmlformats.org/drawingml/2006/main">
              <a:ext uri="{FF2B5EF4-FFF2-40B4-BE49-F238E27FC236}">
                <a16:creationId xmlns:a16="http://schemas.microsoft.com/office/drawing/2014/main" id="{CBCE2A7A-F77C-4C4C-B773-DB4812C0EC34}"/>
              </a:ext>
            </a:extLst>
          </p:cNvPr>
          <p:cNvSpPr>
            <a:spLocks xmlns:a="http://schemas.openxmlformats.org/drawingml/2006/main" noGrp="1"/>
          </p:cNvSpPr>
          <p:nvPr/>
        </p:nvSpPr>
        <p:spPr>
          <a:xfrm xmlns:a="http://schemas.openxmlformats.org/drawingml/2006/main">
            <a:off x="628650" y="56007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770AA"/>
                </a:solidFill>
              </a:defRPr>
            </a:defPPr>
            <a:lvl1pPr>
              <a:defRPr sz="1875" b="1">
                <a:solidFill>
                  <a:srgbClr val="7770AA"/>
                </a:solidFill>
              </a:defRPr>
            </a:lvl1pPr>
            <a:lvl2pPr>
              <a:defRPr sz="1875" b="1">
                <a:solidFill>
                  <a:srgbClr val="7770AA"/>
                </a:solidFill>
              </a:defRPr>
            </a:lvl2pPr>
            <a:lvl3pPr>
              <a:defRPr sz="1875" b="1">
                <a:solidFill>
                  <a:srgbClr val="7770AA"/>
                </a:solidFill>
              </a:defRPr>
            </a:lvl3pPr>
            <a:lvl4pPr>
              <a:defRPr sz="1875" b="1">
                <a:solidFill>
                  <a:srgbClr val="7770AA"/>
                </a:solidFill>
              </a:defRPr>
            </a:lvl4pPr>
            <a:lvl5pPr>
              <a:defRPr sz="1875" b="1">
                <a:solidFill>
                  <a:srgbClr val="7770AA"/>
                </a:solidFill>
              </a:defRPr>
            </a:lvl5pPr>
            <a:lvl6pPr>
              <a:defRPr sz="1875" b="1">
                <a:solidFill>
                  <a:srgbClr val="7770AA"/>
                </a:solidFill>
              </a:defRPr>
            </a:lvl6pPr>
            <a:lvl7pPr>
              <a:defRPr sz="1875" b="1">
                <a:solidFill>
                  <a:srgbClr val="7770AA"/>
                </a:solidFill>
              </a:defRPr>
            </a:lvl7pPr>
            <a:lvl8pPr>
              <a:defRPr sz="1875" b="1">
                <a:solidFill>
                  <a:srgbClr val="7770AA"/>
                </a:solidFill>
              </a:defRPr>
            </a:lvl8pPr>
            <a:lvl9pPr>
              <a:defRPr sz="1875" b="1">
                <a:solidFill>
                  <a:srgbClr val="7770AA"/>
                </a:solidFill>
              </a:defRPr>
            </a:lvl9pPr>
          </a:lstStyle>
          <a:p xmlns:a="http://schemas.openxmlformats.org/drawingml/2006/main">
            <a:pPr>
              <a:defRPr sz="1875" b="1">
                <a:solidFill>
                  <a:srgbClr val="7770AA"/>
                </a:solidFill>
              </a:defRPr>
            </a:pPr>
            <a:r>
              <a:rPr sz="1875" b="1">
                <a:solidFill>
                  <a:srgbClr val="7770AA"/>
                </a:solidFill>
              </a:rPr>
              <a:t>Pilot gate: reliable collections, positive route contribution and acceptable helper earnings.</a:t>
            </a:r>
          </a:p>
        </p:txBody>
      </p:sp>
    </p:spTree>
    <p:extLst>
      <p:ext uri="{BB962C8B-B14F-4D97-AF65-F5344CB8AC3E}">
        <p14:creationId xmlns:p14="http://schemas.microsoft.com/office/powerpoint/2010/main" val="1518246577"/>
      </p:ext>
    </p:extLst>
  </p:cSld>
</p:sld>
</file>

<file path=ppt/slides/slide28.xml><?xml version="1.0" encoding="utf-8"?>
<p:sld xmlns:p="http://schemas.openxmlformats.org/presentationml/2006/main">
  <p:cSld>
    <p:bg>
      <p:bgPr>
        <a:solidFill xmlns:a="http://schemas.openxmlformats.org/drawingml/2006/main">
          <a:srgbClr val="173F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709A6B3-FD62-401C-BCC7-C3632BD94195}"/>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defRPr>
            </a:defPPr>
            <a:lvl1pPr>
              <a:defRPr sz="3450" b="1">
                <a:solidFill>
                  <a:srgbClr val="FFFFFF"/>
                </a:solidFill>
              </a:defRPr>
            </a:lvl1pPr>
            <a:lvl2pPr>
              <a:defRPr sz="3450" b="1">
                <a:solidFill>
                  <a:srgbClr val="FFFFFF"/>
                </a:solidFill>
              </a:defRPr>
            </a:lvl2pPr>
            <a:lvl3pPr>
              <a:defRPr sz="3450" b="1">
                <a:solidFill>
                  <a:srgbClr val="FFFFFF"/>
                </a:solidFill>
              </a:defRPr>
            </a:lvl3pPr>
            <a:lvl4pPr>
              <a:defRPr sz="3450" b="1">
                <a:solidFill>
                  <a:srgbClr val="FFFFFF"/>
                </a:solidFill>
              </a:defRPr>
            </a:lvl4pPr>
            <a:lvl5pPr>
              <a:defRPr sz="3450" b="1">
                <a:solidFill>
                  <a:srgbClr val="FFFFFF"/>
                </a:solidFill>
              </a:defRPr>
            </a:lvl5pPr>
            <a:lvl6pPr>
              <a:defRPr sz="3450" b="1">
                <a:solidFill>
                  <a:srgbClr val="FFFFFF"/>
                </a:solidFill>
              </a:defRPr>
            </a:lvl6pPr>
            <a:lvl7pPr>
              <a:defRPr sz="3450" b="1">
                <a:solidFill>
                  <a:srgbClr val="FFFFFF"/>
                </a:solidFill>
              </a:defRPr>
            </a:lvl7pPr>
            <a:lvl8pPr>
              <a:defRPr sz="3450" b="1">
                <a:solidFill>
                  <a:srgbClr val="FFFFFF"/>
                </a:solidFill>
              </a:defRPr>
            </a:lvl8pPr>
            <a:lvl9pPr>
              <a:defRPr sz="3450" b="1">
                <a:solidFill>
                  <a:srgbClr val="FFFFFF"/>
                </a:solidFill>
              </a:defRPr>
            </a:lvl9pPr>
          </a:lstStyle>
          <a:p xmlns:a="http://schemas.openxmlformats.org/drawingml/2006/main">
            <a:pPr>
              <a:defRPr sz="3450" b="1">
                <a:solidFill>
                  <a:srgbClr val="FFFFFF"/>
                </a:solidFill>
              </a:defRPr>
            </a:pPr>
            <a:r>
              <a:rPr sz="3450" b="1">
                <a:solidFill>
                  <a:srgbClr val="FFFFFF"/>
                </a:solidFill>
              </a:rPr>
              <a:t>What we need next</a:t>
            </a:r>
          </a:p>
        </p:txBody>
      </p:sp>
      <p:sp>
        <p:nvSpPr>
          <p:cNvPr id="3" name="">
            <a:extLst xmlns:a="http://schemas.openxmlformats.org/drawingml/2006/main">
              <a:ext uri="{FF2B5EF4-FFF2-40B4-BE49-F238E27FC236}">
                <a16:creationId xmlns:a16="http://schemas.microsoft.com/office/drawing/2014/main" id="{369CD8B5-00C3-438E-9381-ADA50A62018B}"/>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7E3D5"/>
                </a:solidFill>
              </a:defRPr>
            </a:defPPr>
            <a:lvl1pPr>
              <a:defRPr sz="1800" b="0">
                <a:solidFill>
                  <a:srgbClr val="D7E3D5"/>
                </a:solidFill>
              </a:defRPr>
            </a:lvl1pPr>
            <a:lvl2pPr>
              <a:defRPr sz="1800" b="0">
                <a:solidFill>
                  <a:srgbClr val="D7E3D5"/>
                </a:solidFill>
              </a:defRPr>
            </a:lvl2pPr>
            <a:lvl3pPr>
              <a:defRPr sz="1800" b="0">
                <a:solidFill>
                  <a:srgbClr val="D7E3D5"/>
                </a:solidFill>
              </a:defRPr>
            </a:lvl3pPr>
            <a:lvl4pPr>
              <a:defRPr sz="1800" b="0">
                <a:solidFill>
                  <a:srgbClr val="D7E3D5"/>
                </a:solidFill>
              </a:defRPr>
            </a:lvl4pPr>
            <a:lvl5pPr>
              <a:defRPr sz="1800" b="0">
                <a:solidFill>
                  <a:srgbClr val="D7E3D5"/>
                </a:solidFill>
              </a:defRPr>
            </a:lvl5pPr>
            <a:lvl6pPr>
              <a:defRPr sz="1800" b="0">
                <a:solidFill>
                  <a:srgbClr val="D7E3D5"/>
                </a:solidFill>
              </a:defRPr>
            </a:lvl6pPr>
            <a:lvl7pPr>
              <a:defRPr sz="1800" b="0">
                <a:solidFill>
                  <a:srgbClr val="D7E3D5"/>
                </a:solidFill>
              </a:defRPr>
            </a:lvl7pPr>
            <a:lvl8pPr>
              <a:defRPr sz="1800" b="0">
                <a:solidFill>
                  <a:srgbClr val="D7E3D5"/>
                </a:solidFill>
              </a:defRPr>
            </a:lvl8pPr>
            <a:lvl9pPr>
              <a:defRPr sz="1800" b="0">
                <a:solidFill>
                  <a:srgbClr val="D7E3D5"/>
                </a:solidFill>
              </a:defRPr>
            </a:lvl9pPr>
          </a:lstStyle>
          <a:p xmlns:a="http://schemas.openxmlformats.org/drawingml/2006/main">
            <a:pPr>
              <a:defRPr sz="1800" b="0">
                <a:solidFill>
                  <a:srgbClr val="D7E3D5"/>
                </a:solidFill>
              </a:defRPr>
            </a:pPr>
            <a:r>
              <a:rPr sz="1800" b="0">
                <a:solidFill>
                  <a:srgbClr val="D7E3D5"/>
                </a:solidFill>
              </a:rPr>
              <a:t>A pilot location and a processing partner to test the complete service.</a:t>
            </a:r>
          </a:p>
        </p:txBody>
      </p:sp>
      <p:sp>
        <p:nvSpPr>
          <p:cNvPr id="4" name="">
            <a:extLst xmlns:a="http://schemas.openxmlformats.org/drawingml/2006/main">
              <a:ext uri="{FF2B5EF4-FFF2-40B4-BE49-F238E27FC236}">
                <a16:creationId xmlns:a16="http://schemas.microsoft.com/office/drawing/2014/main" id="{DD2EBBD6-D3B7-400C-8241-027C6048B560}"/>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9CAB8"/>
                </a:solidFill>
              </a:defRPr>
            </a:defPPr>
            <a:lvl1pPr>
              <a:defRPr sz="900" b="0">
                <a:solidFill>
                  <a:srgbClr val="B9CAB8"/>
                </a:solidFill>
              </a:defRPr>
            </a:lvl1pPr>
            <a:lvl2pPr>
              <a:defRPr sz="900" b="0">
                <a:solidFill>
                  <a:srgbClr val="B9CAB8"/>
                </a:solidFill>
              </a:defRPr>
            </a:lvl2pPr>
            <a:lvl3pPr>
              <a:defRPr sz="900" b="0">
                <a:solidFill>
                  <a:srgbClr val="B9CAB8"/>
                </a:solidFill>
              </a:defRPr>
            </a:lvl3pPr>
            <a:lvl4pPr>
              <a:defRPr sz="900" b="0">
                <a:solidFill>
                  <a:srgbClr val="B9CAB8"/>
                </a:solidFill>
              </a:defRPr>
            </a:lvl4pPr>
            <a:lvl5pPr>
              <a:defRPr sz="900" b="0">
                <a:solidFill>
                  <a:srgbClr val="B9CAB8"/>
                </a:solidFill>
              </a:defRPr>
            </a:lvl5pPr>
            <a:lvl6pPr>
              <a:defRPr sz="900" b="0">
                <a:solidFill>
                  <a:srgbClr val="B9CAB8"/>
                </a:solidFill>
              </a:defRPr>
            </a:lvl6pPr>
            <a:lvl7pPr>
              <a:defRPr sz="900" b="0">
                <a:solidFill>
                  <a:srgbClr val="B9CAB8"/>
                </a:solidFill>
              </a:defRPr>
            </a:lvl7pPr>
            <a:lvl8pPr>
              <a:defRPr sz="900" b="0">
                <a:solidFill>
                  <a:srgbClr val="B9CAB8"/>
                </a:solidFill>
              </a:defRPr>
            </a:lvl8pPr>
            <a:lvl9pPr>
              <a:defRPr sz="900" b="0">
                <a:solidFill>
                  <a:srgbClr val="B9CAB8"/>
                </a:solidFill>
              </a:defRPr>
            </a:lvl9pPr>
          </a:lstStyle>
          <a:p xmlns:a="http://schemas.openxmlformats.org/drawingml/2006/main">
            <a:pPr>
              <a:defRPr sz="900" b="0">
                <a:solidFill>
                  <a:srgbClr val="B9CAB8"/>
                </a:solidFill>
              </a:defRPr>
            </a:pPr>
            <a:r>
              <a:rPr sz="900" b="0">
                <a:solidFill>
                  <a:srgbClr val="B9CAB8"/>
                </a:solidFill>
              </a:rPr>
              <a:t>Waste Right     28</a:t>
            </a:r>
          </a:p>
        </p:txBody>
      </p:sp>
      <p:sp>
        <p:nvSpPr>
          <p:cNvPr id="5" name="">
            <a:extLst xmlns:a="http://schemas.openxmlformats.org/drawingml/2006/main">
              <a:ext uri="{FF2B5EF4-FFF2-40B4-BE49-F238E27FC236}">
                <a16:creationId xmlns:a16="http://schemas.microsoft.com/office/drawing/2014/main" id="{773BD165-754A-4BD3-8293-1EE3596D5047}"/>
              </a:ext>
            </a:extLst>
          </p:cNvPr>
          <p:cNvSpPr>
            <a:spLocks xmlns:a="http://schemas.openxmlformats.org/drawingml/2006/main" noGrp="1"/>
          </p:cNvSpPr>
          <p:nvPr/>
        </p:nvSpPr>
        <p:spPr>
          <a:xfrm xmlns:a="http://schemas.openxmlformats.org/drawingml/2006/main">
            <a:off x="628650" y="2809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FFFFF"/>
                </a:solidFill>
              </a:defRPr>
            </a:defPPr>
            <a:lvl1pPr>
              <a:defRPr sz="2850" b="1">
                <a:solidFill>
                  <a:srgbClr val="FFFFFF"/>
                </a:solidFill>
              </a:defRPr>
            </a:lvl1pPr>
            <a:lvl2pPr>
              <a:defRPr sz="2850" b="1">
                <a:solidFill>
                  <a:srgbClr val="FFFFFF"/>
                </a:solidFill>
              </a:defRPr>
            </a:lvl2pPr>
            <a:lvl3pPr>
              <a:defRPr sz="2850" b="1">
                <a:solidFill>
                  <a:srgbClr val="FFFFFF"/>
                </a:solidFill>
              </a:defRPr>
            </a:lvl3pPr>
            <a:lvl4pPr>
              <a:defRPr sz="2850" b="1">
                <a:solidFill>
                  <a:srgbClr val="FFFFFF"/>
                </a:solidFill>
              </a:defRPr>
            </a:lvl4pPr>
            <a:lvl5pPr>
              <a:defRPr sz="2850" b="1">
                <a:solidFill>
                  <a:srgbClr val="FFFFFF"/>
                </a:solidFill>
              </a:defRPr>
            </a:lvl5pPr>
            <a:lvl6pPr>
              <a:defRPr sz="2850" b="1">
                <a:solidFill>
                  <a:srgbClr val="FFFFFF"/>
                </a:solidFill>
              </a:defRPr>
            </a:lvl6pPr>
            <a:lvl7pPr>
              <a:defRPr sz="2850" b="1">
                <a:solidFill>
                  <a:srgbClr val="FFFFFF"/>
                </a:solidFill>
              </a:defRPr>
            </a:lvl7pPr>
            <a:lvl8pPr>
              <a:defRPr sz="2850" b="1">
                <a:solidFill>
                  <a:srgbClr val="FFFFFF"/>
                </a:solidFill>
              </a:defRPr>
            </a:lvl8pPr>
            <a:lvl9pPr>
              <a:defRPr sz="2850" b="1">
                <a:solidFill>
                  <a:srgbClr val="FFFFFF"/>
                </a:solidFill>
              </a:defRPr>
            </a:lvl9pPr>
          </a:lstStyle>
          <a:p xmlns:a="http://schemas.openxmlformats.org/drawingml/2006/main">
            <a:pPr>
              <a:defRPr sz="2850" b="1">
                <a:solidFill>
                  <a:srgbClr val="FFFFFF"/>
                </a:solidFill>
              </a:defRPr>
            </a:pPr>
            <a:r>
              <a:rPr sz="2850" b="1">
                <a:solidFill>
                  <a:srgbClr val="FFFFFF"/>
                </a:solidFill>
              </a:rPr>
              <a:t>A campus or housing association</a:t>
            </a:r>
          </a:p>
        </p:txBody>
      </p:sp>
      <p:sp>
        <p:nvSpPr>
          <p:cNvPr id="6" name="">
            <a:extLst xmlns:a="http://schemas.openxmlformats.org/drawingml/2006/main">
              <a:ext uri="{FF2B5EF4-FFF2-40B4-BE49-F238E27FC236}">
                <a16:creationId xmlns:a16="http://schemas.microsoft.com/office/drawing/2014/main" id="{D9192951-6AA1-4A46-BA45-677EE680D118}"/>
              </a:ext>
            </a:extLst>
          </p:cNvPr>
          <p:cNvSpPr>
            <a:spLocks xmlns:a="http://schemas.openxmlformats.org/drawingml/2006/main" noGrp="1"/>
          </p:cNvSpPr>
          <p:nvPr/>
        </p:nvSpPr>
        <p:spPr>
          <a:xfrm xmlns:a="http://schemas.openxmlformats.org/drawingml/2006/main">
            <a:off x="628650" y="37433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FFFFF"/>
                </a:solidFill>
              </a:defRPr>
            </a:defPPr>
            <a:lvl1pPr>
              <a:defRPr sz="2850" b="1">
                <a:solidFill>
                  <a:srgbClr val="FFFFFF"/>
                </a:solidFill>
              </a:defRPr>
            </a:lvl1pPr>
            <a:lvl2pPr>
              <a:defRPr sz="2850" b="1">
                <a:solidFill>
                  <a:srgbClr val="FFFFFF"/>
                </a:solidFill>
              </a:defRPr>
            </a:lvl2pPr>
            <a:lvl3pPr>
              <a:defRPr sz="2850" b="1">
                <a:solidFill>
                  <a:srgbClr val="FFFFFF"/>
                </a:solidFill>
              </a:defRPr>
            </a:lvl3pPr>
            <a:lvl4pPr>
              <a:defRPr sz="2850" b="1">
                <a:solidFill>
                  <a:srgbClr val="FFFFFF"/>
                </a:solidFill>
              </a:defRPr>
            </a:lvl4pPr>
            <a:lvl5pPr>
              <a:defRPr sz="2850" b="1">
                <a:solidFill>
                  <a:srgbClr val="FFFFFF"/>
                </a:solidFill>
              </a:defRPr>
            </a:lvl5pPr>
            <a:lvl6pPr>
              <a:defRPr sz="2850" b="1">
                <a:solidFill>
                  <a:srgbClr val="FFFFFF"/>
                </a:solidFill>
              </a:defRPr>
            </a:lvl6pPr>
            <a:lvl7pPr>
              <a:defRPr sz="2850" b="1">
                <a:solidFill>
                  <a:srgbClr val="FFFFFF"/>
                </a:solidFill>
              </a:defRPr>
            </a:lvl7pPr>
            <a:lvl8pPr>
              <a:defRPr sz="2850" b="1">
                <a:solidFill>
                  <a:srgbClr val="FFFFFF"/>
                </a:solidFill>
              </a:defRPr>
            </a:lvl8pPr>
            <a:lvl9pPr>
              <a:defRPr sz="2850" b="1">
                <a:solidFill>
                  <a:srgbClr val="FFFFFF"/>
                </a:solidFill>
              </a:defRPr>
            </a:lvl9pPr>
          </a:lstStyle>
          <a:p xmlns:a="http://schemas.openxmlformats.org/drawingml/2006/main">
            <a:pPr>
              <a:defRPr sz="2850" b="1">
                <a:solidFill>
                  <a:srgbClr val="FFFFFF"/>
                </a:solidFill>
              </a:defRPr>
            </a:pPr>
            <a:r>
              <a:rPr sz="2850" b="1">
                <a:solidFill>
                  <a:srgbClr val="FFFFFF"/>
                </a:solidFill>
              </a:rPr>
              <a:t>A local waste processor and collection partners</a:t>
            </a:r>
          </a:p>
        </p:txBody>
      </p:sp>
      <p:sp>
        <p:nvSpPr>
          <p:cNvPr id="7" name="">
            <a:extLst xmlns:a="http://schemas.openxmlformats.org/drawingml/2006/main">
              <a:ext uri="{FF2B5EF4-FFF2-40B4-BE49-F238E27FC236}">
                <a16:creationId xmlns:a16="http://schemas.microsoft.com/office/drawing/2014/main" id="{87803BD4-B8AA-4101-A43C-C8270BCC464E}"/>
              </a:ext>
            </a:extLst>
          </p:cNvPr>
          <p:cNvSpPr>
            <a:spLocks xmlns:a="http://schemas.openxmlformats.org/drawingml/2006/main" noGrp="1"/>
          </p:cNvSpPr>
          <p:nvPr/>
        </p:nvSpPr>
        <p:spPr>
          <a:xfrm xmlns:a="http://schemas.openxmlformats.org/drawingml/2006/main">
            <a:off x="628650" y="4838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D6E3D2"/>
                </a:solidFill>
              </a:defRPr>
            </a:defPPr>
            <a:lvl1pPr>
              <a:defRPr sz="2550" b="0">
                <a:solidFill>
                  <a:srgbClr val="D6E3D2"/>
                </a:solidFill>
              </a:defRPr>
            </a:lvl1pPr>
            <a:lvl2pPr>
              <a:defRPr sz="2550" b="0">
                <a:solidFill>
                  <a:srgbClr val="D6E3D2"/>
                </a:solidFill>
              </a:defRPr>
            </a:lvl2pPr>
            <a:lvl3pPr>
              <a:defRPr sz="2550" b="0">
                <a:solidFill>
                  <a:srgbClr val="D6E3D2"/>
                </a:solidFill>
              </a:defRPr>
            </a:lvl3pPr>
            <a:lvl4pPr>
              <a:defRPr sz="2550" b="0">
                <a:solidFill>
                  <a:srgbClr val="D6E3D2"/>
                </a:solidFill>
              </a:defRPr>
            </a:lvl4pPr>
            <a:lvl5pPr>
              <a:defRPr sz="2550" b="0">
                <a:solidFill>
                  <a:srgbClr val="D6E3D2"/>
                </a:solidFill>
              </a:defRPr>
            </a:lvl5pPr>
            <a:lvl6pPr>
              <a:defRPr sz="2550" b="0">
                <a:solidFill>
                  <a:srgbClr val="D6E3D2"/>
                </a:solidFill>
              </a:defRPr>
            </a:lvl6pPr>
            <a:lvl7pPr>
              <a:defRPr sz="2550" b="0">
                <a:solidFill>
                  <a:srgbClr val="D6E3D2"/>
                </a:solidFill>
              </a:defRPr>
            </a:lvl7pPr>
            <a:lvl8pPr>
              <a:defRPr sz="2550" b="0">
                <a:solidFill>
                  <a:srgbClr val="D6E3D2"/>
                </a:solidFill>
              </a:defRPr>
            </a:lvl8pPr>
            <a:lvl9pPr>
              <a:defRPr sz="2550" b="0">
                <a:solidFill>
                  <a:srgbClr val="D6E3D2"/>
                </a:solidFill>
              </a:defRPr>
            </a:lvl9pPr>
          </a:lstStyle>
          <a:p xmlns:a="http://schemas.openxmlformats.org/drawingml/2006/main">
            <a:pPr>
              <a:defRPr sz="2550" b="0">
                <a:solidFill>
                  <a:srgbClr val="D6E3D2"/>
                </a:solidFill>
              </a:defRPr>
            </a:pPr>
            <a:r>
              <a:rPr sz="2550" b="0">
                <a:solidFill>
                  <a:srgbClr val="D6E3D2"/>
                </a:solidFill>
              </a:rPr>
              <a:t>Support to measure real costs and improve the service</a:t>
            </a:r>
          </a:p>
        </p:txBody>
      </p:sp>
    </p:spTree>
    <p:extLst>
      <p:ext uri="{BB962C8B-B14F-4D97-AF65-F5344CB8AC3E}">
        <p14:creationId xmlns:p14="http://schemas.microsoft.com/office/powerpoint/2010/main" val="1576293274"/>
      </p:ext>
    </p:extLst>
  </p:cSld>
</p:sld>
</file>

<file path=ppt/slides/slide29.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4B1832D-23CC-4CED-BED8-E092AA0FD81E}"/>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Appendix: rewards and service rules</a:t>
            </a:r>
          </a:p>
        </p:txBody>
      </p:sp>
      <p:sp>
        <p:nvSpPr>
          <p:cNvPr id="3" name="">
            <a:extLst xmlns:a="http://schemas.openxmlformats.org/drawingml/2006/main">
              <a:ext uri="{FF2B5EF4-FFF2-40B4-BE49-F238E27FC236}">
                <a16:creationId xmlns:a16="http://schemas.microsoft.com/office/drawing/2014/main" id="{25136195-C10E-450B-82A6-AFFE77774842}"/>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Useful details for reading the deck without a presenter.</a:t>
            </a:r>
          </a:p>
        </p:txBody>
      </p:sp>
      <p:sp>
        <p:nvSpPr>
          <p:cNvPr id="4" name="">
            <a:extLst xmlns:a="http://schemas.openxmlformats.org/drawingml/2006/main">
              <a:ext uri="{FF2B5EF4-FFF2-40B4-BE49-F238E27FC236}">
                <a16:creationId xmlns:a16="http://schemas.microsoft.com/office/drawing/2014/main" id="{B204C98B-13A9-4A39-A738-0BA2AF86B0EE}"/>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29</a:t>
            </a:r>
          </a:p>
        </p:txBody>
      </p:sp>
      <p:sp>
        <p:nvSpPr>
          <p:cNvPr id="5" name="">
            <a:extLst xmlns:a="http://schemas.openxmlformats.org/drawingml/2006/main">
              <a:ext uri="{FF2B5EF4-FFF2-40B4-BE49-F238E27FC236}">
                <a16:creationId xmlns:a16="http://schemas.microsoft.com/office/drawing/2014/main" id="{32A8E7CB-F7D0-4A6D-BCEC-F3AE4D8C4EA5}"/>
              </a:ext>
            </a:extLst>
          </p:cNvPr>
          <p:cNvSpPr>
            <a:spLocks xmlns:a="http://schemas.openxmlformats.org/drawingml/2006/main" noGrp="1"/>
          </p:cNvSpPr>
          <p:nvPr/>
        </p:nvSpPr>
        <p:spPr>
          <a:xfrm xmlns:a="http://schemas.openxmlformats.org/drawingml/2006/main">
            <a:off x="628650" y="23336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Points and credits</a:t>
            </a:r>
          </a:p>
        </p:txBody>
      </p:sp>
      <p:sp>
        <p:nvSpPr>
          <p:cNvPr id="6" name="">
            <a:extLst xmlns:a="http://schemas.openxmlformats.org/drawingml/2006/main">
              <a:ext uri="{FF2B5EF4-FFF2-40B4-BE49-F238E27FC236}">
                <a16:creationId xmlns:a16="http://schemas.microsoft.com/office/drawing/2014/main" id="{7D660510-D792-4844-9BEB-44065ACB3197}"/>
              </a:ext>
            </a:extLst>
          </p:cNvPr>
          <p:cNvSpPr>
            <a:spLocks xmlns:a="http://schemas.openxmlformats.org/drawingml/2006/main" noGrp="1"/>
          </p:cNvSpPr>
          <p:nvPr/>
        </p:nvSpPr>
        <p:spPr>
          <a:xfrm xmlns:a="http://schemas.openxmlformats.org/drawingml/2006/main">
            <a:off x="3714750" y="23336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One point per first confirmed scan day in India. Ten points per credit. Maximum two credits per calendar month.</a:t>
            </a:r>
          </a:p>
        </p:txBody>
      </p:sp>
      <p:sp>
        <p:nvSpPr>
          <p:cNvPr id="7" name="">
            <a:extLst xmlns:a="http://schemas.openxmlformats.org/drawingml/2006/main">
              <a:ext uri="{FF2B5EF4-FFF2-40B4-BE49-F238E27FC236}">
                <a16:creationId xmlns:a16="http://schemas.microsoft.com/office/drawing/2014/main" id="{602530E5-94BF-4EC1-B91F-E7209928BC0E}"/>
              </a:ext>
            </a:extLst>
          </p:cNvPr>
          <p:cNvSpPr>
            <a:spLocks xmlns:a="http://schemas.openxmlformats.org/drawingml/2006/main" noGrp="1"/>
          </p:cNvSpPr>
          <p:nvPr/>
        </p:nvSpPr>
        <p:spPr>
          <a:xfrm xmlns:a="http://schemas.openxmlformats.org/drawingml/2006/main">
            <a:off x="628650" y="34671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Savings and history</a:t>
            </a:r>
          </a:p>
        </p:txBody>
      </p:sp>
      <p:sp>
        <p:nvSpPr>
          <p:cNvPr id="8" name="">
            <a:extLst xmlns:a="http://schemas.openxmlformats.org/drawingml/2006/main">
              <a:ext uri="{FF2B5EF4-FFF2-40B4-BE49-F238E27FC236}">
                <a16:creationId xmlns:a16="http://schemas.microsoft.com/office/drawing/2014/main" id="{217D0515-6A9C-4AA3-B24C-8B5931CB2B51}"/>
              </a:ext>
            </a:extLst>
          </p:cNvPr>
          <p:cNvSpPr>
            <a:spLocks xmlns:a="http://schemas.openxmlformats.org/drawingml/2006/main" noGrp="1"/>
          </p:cNvSpPr>
          <p:nvPr/>
        </p:nvSpPr>
        <p:spPr>
          <a:xfrm xmlns:a="http://schemas.openxmlformats.org/drawingml/2006/main">
            <a:off x="3714750" y="34671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Savings separate fee reductions, included segregation and recorded government credits. History stores scans, receipts and disputes.</a:t>
            </a:r>
          </a:p>
        </p:txBody>
      </p:sp>
      <p:sp>
        <p:nvSpPr>
          <p:cNvPr id="9" name="">
            <a:extLst xmlns:a="http://schemas.openxmlformats.org/drawingml/2006/main">
              <a:ext uri="{FF2B5EF4-FFF2-40B4-BE49-F238E27FC236}">
                <a16:creationId xmlns:a16="http://schemas.microsoft.com/office/drawing/2014/main" id="{19505F7E-F2DB-4D9B-9A64-A1C96D62DAA7}"/>
              </a:ext>
            </a:extLst>
          </p:cNvPr>
          <p:cNvSpPr>
            <a:spLocks xmlns:a="http://schemas.openxmlformats.org/drawingml/2006/main" noGrp="1"/>
          </p:cNvSpPr>
          <p:nvPr/>
        </p:nvSpPr>
        <p:spPr>
          <a:xfrm xmlns:a="http://schemas.openxmlformats.org/drawingml/2006/main">
            <a:off x="628650" y="46005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Certificate and identity</a:t>
            </a:r>
          </a:p>
        </p:txBody>
      </p:sp>
      <p:sp>
        <p:nvSpPr>
          <p:cNvPr id="10" name="">
            <a:extLst xmlns:a="http://schemas.openxmlformats.org/drawingml/2006/main">
              <a:ext uri="{FF2B5EF4-FFF2-40B4-BE49-F238E27FC236}">
                <a16:creationId xmlns:a16="http://schemas.microsoft.com/office/drawing/2014/main" id="{48050A1F-0493-4070-A0C9-5B074334597E}"/>
              </a:ext>
            </a:extLst>
          </p:cNvPr>
          <p:cNvSpPr>
            <a:spLocks xmlns:a="http://schemas.openxmlformats.org/drawingml/2006/main" noGrp="1"/>
          </p:cNvSpPr>
          <p:nvPr/>
        </p:nvSpPr>
        <p:spPr>
          <a:xfrm xmlns:a="http://schemas.openxmlformats.org/drawingml/2006/main">
            <a:off x="3714750" y="460057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Completed measured organic collections unlock the PDF. Waste Right issues it using the account name. DigiLocker and Aadhaar linking remain unconfigured.</a:t>
            </a:r>
          </a:p>
        </p:txBody>
      </p:sp>
    </p:spTree>
    <p:extLst>
      <p:ext uri="{BB962C8B-B14F-4D97-AF65-F5344CB8AC3E}">
        <p14:creationId xmlns:p14="http://schemas.microsoft.com/office/powerpoint/2010/main" val="1003262072"/>
      </p:ext>
    </p:extLst>
  </p:cSld>
</p:sld>
</file>

<file path=ppt/slides/slide30.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D2FCCE7-5A3A-454E-B155-86CB548461DF}"/>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Appendix: pricing and earnings examples</a:t>
            </a:r>
          </a:p>
        </p:txBody>
      </p:sp>
      <p:sp>
        <p:nvSpPr>
          <p:cNvPr id="3" name="">
            <a:extLst xmlns:a="http://schemas.openxmlformats.org/drawingml/2006/main">
              <a:ext uri="{FF2B5EF4-FFF2-40B4-BE49-F238E27FC236}">
                <a16:creationId xmlns:a16="http://schemas.microsoft.com/office/drawing/2014/main" id="{40A3F36F-8E56-4915-9E19-4F8D8C503631}"/>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Illustrative calculations under the current pilot policy.</a:t>
            </a:r>
          </a:p>
        </p:txBody>
      </p:sp>
      <p:sp>
        <p:nvSpPr>
          <p:cNvPr id="4" name="">
            <a:extLst xmlns:a="http://schemas.openxmlformats.org/drawingml/2006/main">
              <a:ext uri="{FF2B5EF4-FFF2-40B4-BE49-F238E27FC236}">
                <a16:creationId xmlns:a16="http://schemas.microsoft.com/office/drawing/2014/main" id="{07ACF029-E5B4-4BAC-9999-404091A89794}"/>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30</a:t>
            </a:r>
          </a:p>
        </p:txBody>
      </p:sp>
      <p:sp>
        <p:nvSpPr>
          <p:cNvPr id="5" name="">
            <a:extLst xmlns:a="http://schemas.openxmlformats.org/drawingml/2006/main">
              <a:ext uri="{FF2B5EF4-FFF2-40B4-BE49-F238E27FC236}">
                <a16:creationId xmlns:a16="http://schemas.microsoft.com/office/drawing/2014/main" id="{576438E3-FADA-49EA-8ACB-4930BDEFB471}"/>
              </a:ext>
            </a:extLst>
          </p:cNvPr>
          <p:cNvSpPr>
            <a:spLocks xmlns:a="http://schemas.openxmlformats.org/drawingml/2006/main" noGrp="1"/>
          </p:cNvSpPr>
          <p:nvPr/>
        </p:nvSpPr>
        <p:spPr>
          <a:xfrm xmlns:a="http://schemas.openxmlformats.org/drawingml/2006/main">
            <a:off x="628650" y="22860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2 kg mixed Basic pickup</a:t>
            </a:r>
          </a:p>
        </p:txBody>
      </p:sp>
      <p:sp>
        <p:nvSpPr>
          <p:cNvPr id="6" name="">
            <a:extLst xmlns:a="http://schemas.openxmlformats.org/drawingml/2006/main">
              <a:ext uri="{FF2B5EF4-FFF2-40B4-BE49-F238E27FC236}">
                <a16:creationId xmlns:a16="http://schemas.microsoft.com/office/drawing/2014/main" id="{05C1B66A-D5F1-494C-9291-F861C8A0D073}"/>
              </a:ext>
            </a:extLst>
          </p:cNvPr>
          <p:cNvSpPr>
            <a:spLocks xmlns:a="http://schemas.openxmlformats.org/drawingml/2006/main" noGrp="1"/>
          </p:cNvSpPr>
          <p:nvPr/>
        </p:nvSpPr>
        <p:spPr>
          <a:xfrm xmlns:a="http://schemas.openxmlformats.org/drawingml/2006/main">
            <a:off x="3714750" y="22860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Customer pays ₹20 in standard hours. Helper earns ₹8 + ₹5 sorting share = ₹13 before any recovery share.</a:t>
            </a:r>
          </a:p>
        </p:txBody>
      </p:sp>
      <p:sp>
        <p:nvSpPr>
          <p:cNvPr id="7" name="">
            <a:extLst xmlns:a="http://schemas.openxmlformats.org/drawingml/2006/main">
              <a:ext uri="{FF2B5EF4-FFF2-40B4-BE49-F238E27FC236}">
                <a16:creationId xmlns:a16="http://schemas.microsoft.com/office/drawing/2014/main" id="{4B1893A0-E81E-4BBC-A533-34F5D0C45BBA}"/>
              </a:ext>
            </a:extLst>
          </p:cNvPr>
          <p:cNvSpPr>
            <a:spLocks xmlns:a="http://schemas.openxmlformats.org/drawingml/2006/main" noGrp="1"/>
          </p:cNvSpPr>
          <p:nvPr/>
        </p:nvSpPr>
        <p:spPr>
          <a:xfrm xmlns:a="http://schemas.openxmlformats.org/drawingml/2006/main">
            <a:off x="628650" y="34575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₹100 positive recovery pool</a:t>
            </a:r>
          </a:p>
        </p:txBody>
      </p:sp>
      <p:sp>
        <p:nvSpPr>
          <p:cNvPr id="8" name="">
            <a:extLst xmlns:a="http://schemas.openxmlformats.org/drawingml/2006/main">
              <a:ext uri="{FF2B5EF4-FFF2-40B4-BE49-F238E27FC236}">
                <a16:creationId xmlns:a16="http://schemas.microsoft.com/office/drawing/2014/main" id="{2520D22E-F4EA-4556-8C40-56A34EE8FD62}"/>
              </a:ext>
            </a:extLst>
          </p:cNvPr>
          <p:cNvSpPr>
            <a:spLocks xmlns:a="http://schemas.openxmlformats.org/drawingml/2006/main" noGrp="1"/>
          </p:cNvSpPr>
          <p:nvPr/>
        </p:nvSpPr>
        <p:spPr>
          <a:xfrm xmlns:a="http://schemas.openxmlformats.org/drawingml/2006/main">
            <a:off x="3714750" y="345757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Helper recovery share is ₹40. Gold resident share is ₹10, or Platinum ₹15. Remaining ₹50 or ₹45 is before other business expenses.</a:t>
            </a:r>
          </a:p>
        </p:txBody>
      </p:sp>
      <p:sp>
        <p:nvSpPr>
          <p:cNvPr id="9" name="">
            <a:extLst xmlns:a="http://schemas.openxmlformats.org/drawingml/2006/main">
              <a:ext uri="{FF2B5EF4-FFF2-40B4-BE49-F238E27FC236}">
                <a16:creationId xmlns:a16="http://schemas.microsoft.com/office/drawing/2014/main" id="{E5FAD314-1B42-407A-9293-C30B8514003F}"/>
              </a:ext>
            </a:extLst>
          </p:cNvPr>
          <p:cNvSpPr>
            <a:spLocks xmlns:a="http://schemas.openxmlformats.org/drawingml/2006/main" noGrp="1"/>
          </p:cNvSpPr>
          <p:nvPr/>
        </p:nvSpPr>
        <p:spPr>
          <a:xfrm xmlns:a="http://schemas.openxmlformats.org/drawingml/2006/main">
            <a:off x="628650" y="462915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₹100 attributable support received</a:t>
            </a:r>
          </a:p>
        </p:txBody>
      </p:sp>
      <p:sp>
        <p:nvSpPr>
          <p:cNvPr id="10" name="">
            <a:extLst xmlns:a="http://schemas.openxmlformats.org/drawingml/2006/main">
              <a:ext uri="{FF2B5EF4-FFF2-40B4-BE49-F238E27FC236}">
                <a16:creationId xmlns:a16="http://schemas.microsoft.com/office/drawing/2014/main" id="{EC804702-56EE-4C66-A2A1-EEF1B629E61C}"/>
              </a:ext>
            </a:extLst>
          </p:cNvPr>
          <p:cNvSpPr>
            <a:spLocks xmlns:a="http://schemas.openxmlformats.org/drawingml/2006/main" noGrp="1"/>
          </p:cNvSpPr>
          <p:nvPr/>
        </p:nvSpPr>
        <p:spPr>
          <a:xfrm xmlns:a="http://schemas.openxmlformats.org/drawingml/2006/main">
            <a:off x="3714750" y="462915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Resident credit policy allocates ₹50 after completed processing, receipt and credit records. No projected grant appears as savings.</a:t>
            </a:r>
          </a:p>
        </p:txBody>
      </p:sp>
    </p:spTree>
    <p:extLst>
      <p:ext uri="{BB962C8B-B14F-4D97-AF65-F5344CB8AC3E}">
        <p14:creationId xmlns:p14="http://schemas.microsoft.com/office/powerpoint/2010/main" val="1126033481"/>
      </p:ext>
    </p:extLst>
  </p:cSld>
</p:sld>
</file>

<file path=ppt/slides/slide31.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DC75400-3BE5-4BB5-AE87-179BE825BEEC}"/>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Sources and evidence</a:t>
            </a:r>
          </a:p>
        </p:txBody>
      </p:sp>
      <p:sp>
        <p:nvSpPr>
          <p:cNvPr id="3" name="">
            <a:extLst xmlns:a="http://schemas.openxmlformats.org/drawingml/2006/main">
              <a:ext uri="{FF2B5EF4-FFF2-40B4-BE49-F238E27FC236}">
                <a16:creationId xmlns:a16="http://schemas.microsoft.com/office/drawing/2014/main" id="{62A0E1A0-F257-479C-8764-8CC251E22492}"/>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The pitch uses project records and official scheme information.</a:t>
            </a:r>
          </a:p>
        </p:txBody>
      </p:sp>
      <p:sp>
        <p:nvSpPr>
          <p:cNvPr id="4" name="">
            <a:extLst xmlns:a="http://schemas.openxmlformats.org/drawingml/2006/main">
              <a:ext uri="{FF2B5EF4-FFF2-40B4-BE49-F238E27FC236}">
                <a16:creationId xmlns:a16="http://schemas.microsoft.com/office/drawing/2014/main" id="{C898E4BF-E7C2-45A2-8FED-067B23E53797}"/>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31</a:t>
            </a:r>
          </a:p>
        </p:txBody>
      </p:sp>
      <p:sp>
        <p:nvSpPr>
          <p:cNvPr id="5" name="">
            <a:extLst xmlns:a="http://schemas.openxmlformats.org/drawingml/2006/main">
              <a:ext uri="{FF2B5EF4-FFF2-40B4-BE49-F238E27FC236}">
                <a16:creationId xmlns:a16="http://schemas.microsoft.com/office/drawing/2014/main" id="{322F500D-3E93-4165-81DE-BABEC7B0527A}"/>
              </a:ext>
            </a:extLst>
          </p:cNvPr>
          <p:cNvSpPr>
            <a:spLocks xmlns:a="http://schemas.openxmlformats.org/drawingml/2006/main" noGrp="1"/>
          </p:cNvSpPr>
          <p:nvPr/>
        </p:nvSpPr>
        <p:spPr>
          <a:xfrm xmlns:a="http://schemas.openxmlformats.org/drawingml/2006/main">
            <a:off x="628650" y="23812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0"/>
                </a:solidFill>
              </a:defRPr>
            </a:defPPr>
            <a:lvl1pPr>
              <a:defRPr sz="2175" b="1">
                <a:solidFill>
                  <a:srgbClr val="173F30"/>
                </a:solidFill>
              </a:defRPr>
            </a:lvl1pPr>
            <a:lvl2pPr>
              <a:defRPr sz="2175" b="1">
                <a:solidFill>
                  <a:srgbClr val="173F30"/>
                </a:solidFill>
              </a:defRPr>
            </a:lvl2pPr>
            <a:lvl3pPr>
              <a:defRPr sz="2175" b="1">
                <a:solidFill>
                  <a:srgbClr val="173F30"/>
                </a:solidFill>
              </a:defRPr>
            </a:lvl3pPr>
            <a:lvl4pPr>
              <a:defRPr sz="2175" b="1">
                <a:solidFill>
                  <a:srgbClr val="173F30"/>
                </a:solidFill>
              </a:defRPr>
            </a:lvl4pPr>
            <a:lvl5pPr>
              <a:defRPr sz="2175" b="1">
                <a:solidFill>
                  <a:srgbClr val="173F30"/>
                </a:solidFill>
              </a:defRPr>
            </a:lvl5pPr>
            <a:lvl6pPr>
              <a:defRPr sz="2175" b="1">
                <a:solidFill>
                  <a:srgbClr val="173F30"/>
                </a:solidFill>
              </a:defRPr>
            </a:lvl6pPr>
            <a:lvl7pPr>
              <a:defRPr sz="2175" b="1">
                <a:solidFill>
                  <a:srgbClr val="173F30"/>
                </a:solidFill>
              </a:defRPr>
            </a:lvl7pPr>
            <a:lvl8pPr>
              <a:defRPr sz="2175" b="1">
                <a:solidFill>
                  <a:srgbClr val="173F30"/>
                </a:solidFill>
              </a:defRPr>
            </a:lvl8pPr>
            <a:lvl9pPr>
              <a:defRPr sz="2175" b="1">
                <a:solidFill>
                  <a:srgbClr val="173F30"/>
                </a:solidFill>
              </a:defRPr>
            </a:lvl9pPr>
          </a:lstStyle>
          <a:p xmlns:a="http://schemas.openxmlformats.org/drawingml/2006/main">
            <a:pPr>
              <a:defRPr sz="2175" b="1">
                <a:solidFill>
                  <a:srgbClr val="173F30"/>
                </a:solidFill>
              </a:defRPr>
            </a:pPr>
            <a:r>
              <a:rPr sz="2175" b="1">
                <a:solidFill>
                  <a:srgbClr val="173F30"/>
                </a:solidFill>
              </a:rPr>
              <a:t>Product and business rules</a:t>
            </a:r>
          </a:p>
        </p:txBody>
      </p:sp>
      <p:sp>
        <p:nvSpPr>
          <p:cNvPr id="6" name="">
            <a:extLst xmlns:a="http://schemas.openxmlformats.org/drawingml/2006/main">
              <a:ext uri="{FF2B5EF4-FFF2-40B4-BE49-F238E27FC236}">
                <a16:creationId xmlns:a16="http://schemas.microsoft.com/office/drawing/2014/main" id="{5FD389DA-9F65-40B1-BBC5-514666C54517}"/>
              </a:ext>
            </a:extLst>
          </p:cNvPr>
          <p:cNvSpPr>
            <a:spLocks xmlns:a="http://schemas.openxmlformats.org/drawingml/2006/main" noGrp="1"/>
          </p:cNvSpPr>
          <p:nvPr/>
        </p:nvSpPr>
        <p:spPr>
          <a:xfrm xmlns:a="http://schemas.openxmlformats.org/drawingml/2006/main">
            <a:off x="628650" y="30480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Current app catalog and pricing logic</a:t>
            </a:r>
          </a:p>
          <a:p xmlns:a="http://schemas.openxmlformats.org/drawingml/2006/main">
            <a:pPr>
              <a:defRPr sz="1875" b="0">
                <a:solidFill>
                  <a:srgbClr val="66766D"/>
                </a:solidFill>
              </a:defRPr>
            </a:pPr>
            <a:r>
              <a:rPr sz="1875" b="0">
                <a:solidFill>
                  <a:srgbClr val="66766D"/>
                </a:solidFill>
              </a:rPr>
              <a:t>Helper pay and benefit accounting</a:t>
            </a:r>
          </a:p>
          <a:p xmlns:a="http://schemas.openxmlformats.org/drawingml/2006/main">
            <a:pPr>
              <a:defRPr sz="1875" b="0">
                <a:solidFill>
                  <a:srgbClr val="66766D"/>
                </a:solidFill>
              </a:defRPr>
            </a:pPr>
            <a:r>
              <a:rPr sz="1875" b="0">
                <a:solidFill>
                  <a:srgbClr val="66766D"/>
                </a:solidFill>
              </a:rPr>
              <a:t>Certificate eligibility and edge-case audit</a:t>
            </a:r>
          </a:p>
        </p:txBody>
      </p:sp>
      <p:sp>
        <p:nvSpPr>
          <p:cNvPr id="7" name="">
            <a:extLst xmlns:a="http://schemas.openxmlformats.org/drawingml/2006/main">
              <a:ext uri="{FF2B5EF4-FFF2-40B4-BE49-F238E27FC236}">
                <a16:creationId xmlns:a16="http://schemas.microsoft.com/office/drawing/2014/main" id="{946773B8-0620-432F-996D-CA70DB7B1B7C}"/>
              </a:ext>
            </a:extLst>
          </p:cNvPr>
          <p:cNvSpPr>
            <a:spLocks xmlns:a="http://schemas.openxmlformats.org/drawingml/2006/main" noGrp="1"/>
          </p:cNvSpPr>
          <p:nvPr/>
        </p:nvSpPr>
        <p:spPr>
          <a:xfrm xmlns:a="http://schemas.openxmlformats.org/drawingml/2006/main">
            <a:off x="6572250" y="2381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0"/>
                </a:solidFill>
              </a:defRPr>
            </a:defPPr>
            <a:lvl1pPr>
              <a:defRPr sz="2175" b="1">
                <a:solidFill>
                  <a:srgbClr val="173F30"/>
                </a:solidFill>
              </a:defRPr>
            </a:lvl1pPr>
            <a:lvl2pPr>
              <a:defRPr sz="2175" b="1">
                <a:solidFill>
                  <a:srgbClr val="173F30"/>
                </a:solidFill>
              </a:defRPr>
            </a:lvl2pPr>
            <a:lvl3pPr>
              <a:defRPr sz="2175" b="1">
                <a:solidFill>
                  <a:srgbClr val="173F30"/>
                </a:solidFill>
              </a:defRPr>
            </a:lvl3pPr>
            <a:lvl4pPr>
              <a:defRPr sz="2175" b="1">
                <a:solidFill>
                  <a:srgbClr val="173F30"/>
                </a:solidFill>
              </a:defRPr>
            </a:lvl4pPr>
            <a:lvl5pPr>
              <a:defRPr sz="2175" b="1">
                <a:solidFill>
                  <a:srgbClr val="173F30"/>
                </a:solidFill>
              </a:defRPr>
            </a:lvl5pPr>
            <a:lvl6pPr>
              <a:defRPr sz="2175" b="1">
                <a:solidFill>
                  <a:srgbClr val="173F30"/>
                </a:solidFill>
              </a:defRPr>
            </a:lvl6pPr>
            <a:lvl7pPr>
              <a:defRPr sz="2175" b="1">
                <a:solidFill>
                  <a:srgbClr val="173F30"/>
                </a:solidFill>
              </a:defRPr>
            </a:lvl7pPr>
            <a:lvl8pPr>
              <a:defRPr sz="2175" b="1">
                <a:solidFill>
                  <a:srgbClr val="173F30"/>
                </a:solidFill>
              </a:defRPr>
            </a:lvl8pPr>
            <a:lvl9pPr>
              <a:defRPr sz="2175" b="1">
                <a:solidFill>
                  <a:srgbClr val="173F30"/>
                </a:solidFill>
              </a:defRPr>
            </a:lvl9pPr>
          </a:lstStyle>
          <a:p xmlns:a="http://schemas.openxmlformats.org/drawingml/2006/main">
            <a:pPr>
              <a:defRPr sz="2175" b="1">
                <a:solidFill>
                  <a:srgbClr val="173F30"/>
                </a:solidFill>
              </a:defRPr>
            </a:pPr>
            <a:r>
              <a:rPr sz="2175" b="1">
                <a:solidFill>
                  <a:srgbClr val="173F30"/>
                </a:solidFill>
              </a:rPr>
              <a:t>Model evidence</a:t>
            </a:r>
          </a:p>
        </p:txBody>
      </p:sp>
      <p:sp>
        <p:nvSpPr>
          <p:cNvPr id="8" name="">
            <a:extLst xmlns:a="http://schemas.openxmlformats.org/drawingml/2006/main">
              <a:ext uri="{FF2B5EF4-FFF2-40B4-BE49-F238E27FC236}">
                <a16:creationId xmlns:a16="http://schemas.microsoft.com/office/drawing/2014/main" id="{0501E224-1A40-4A96-B4DD-E1838C68C2E2}"/>
              </a:ext>
            </a:extLst>
          </p:cNvPr>
          <p:cNvSpPr>
            <a:spLocks xmlns:a="http://schemas.openxmlformats.org/drawingml/2006/main" noGrp="1"/>
          </p:cNvSpPr>
          <p:nvPr/>
        </p:nvSpPr>
        <p:spPr>
          <a:xfrm xmlns:a="http://schemas.openxmlformats.org/drawingml/2006/main">
            <a:off x="6572250" y="304800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Household-v2 results and model card</a:t>
            </a:r>
          </a:p>
          <a:p xmlns:a="http://schemas.openxmlformats.org/drawingml/2006/main">
            <a:pPr>
              <a:defRPr sz="1875" b="0">
                <a:solidFill>
                  <a:srgbClr val="66766D"/>
                </a:solidFill>
              </a:defRPr>
            </a:pPr>
            <a:r>
              <a:rPr sz="1875" b="0">
                <a:solidFill>
                  <a:srgbClr val="66766D"/>
                </a:solidFill>
              </a:rPr>
              <a:t>TU Wien dataset, CC BY 4.0</a:t>
            </a:r>
          </a:p>
          <a:p xmlns:a="http://schemas.openxmlformats.org/drawingml/2006/main">
            <a:pPr>
              <a:defRPr sz="1875" b="0">
                <a:solidFill>
                  <a:srgbClr val="66766D"/>
                </a:solidFill>
              </a:defRPr>
            </a:pPr>
            <a:r>
              <a:rPr sz="1875" b="0">
                <a:solidFill>
                  <a:srgbClr val="66766D"/>
                </a:solidFill>
              </a:rPr>
              <a:t>doi.org/10.48436/27k90-dvw73</a:t>
            </a:r>
          </a:p>
        </p:txBody>
      </p:sp>
      <p:sp>
        <p:nvSpPr>
          <p:cNvPr id="9" name="">
            <a:extLst xmlns:a="http://schemas.openxmlformats.org/drawingml/2006/main">
              <a:ext uri="{FF2B5EF4-FFF2-40B4-BE49-F238E27FC236}">
                <a16:creationId xmlns:a16="http://schemas.microsoft.com/office/drawing/2014/main" id="{39F46B43-62D5-468F-A5E1-F27610CD79C1}"/>
              </a:ext>
            </a:extLst>
          </p:cNvPr>
          <p:cNvSpPr>
            <a:spLocks xmlns:a="http://schemas.openxmlformats.org/drawingml/2006/main" noGrp="1"/>
          </p:cNvSpPr>
          <p:nvPr/>
        </p:nvSpPr>
        <p:spPr>
          <a:xfrm xmlns:a="http://schemas.openxmlformats.org/drawingml/2006/main">
            <a:off x="628650" y="52387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Government sources: PIB and the implementing departments. GOBARdhan, SBM–Urban 2.0, MDA, NAMASTE and the 2022 startup challenge.</a:t>
            </a:r>
          </a:p>
        </p:txBody>
      </p:sp>
    </p:spTree>
    <p:extLst>
      <p:ext uri="{BB962C8B-B14F-4D97-AF65-F5344CB8AC3E}">
        <p14:creationId xmlns:p14="http://schemas.microsoft.com/office/powerpoint/2010/main" val="2810208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2026-10-24T03:57:46.6850000Z</dcterms:created>
  <dcterms:modified xsi:type="dcterms:W3CDTF">2026-10-24T03:57:46.6850000Z</dcterms:modified>
</coreProperties>
</file>