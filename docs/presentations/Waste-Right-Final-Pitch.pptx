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247aa9dd49b44a1" /><Relationship Type="http://schemas.openxmlformats.org/officeDocument/2006/relationships/extended-properties" Target="/docProps/app.xml" Id="R4d517b7b69334e33" /><Relationship Type="http://schemas.openxmlformats.org/officeDocument/2006/relationships/officeDocument" Target="/ppt/presentation.xml" Id="Rd84de4e0068f4be8" /></Relationships>
</file>

<file path=ppt/presentation.xml><?xml version="1.0" encoding="utf-8"?>
<p:presentation xmlns:p="http://schemas.openxmlformats.org/presentationml/2006/main">
  <p:sldMasterIdLst>
    <p:sldMasterId xmlns:r="http://schemas.openxmlformats.org/officeDocument/2006/relationships" id="2147483648" r:id="Rde20ac2e1f504f3a"/>
  </p:sldMasterIdLst>
  <p:notesMasterIdLst>
    <p:notesMasterId xmlns:r="http://schemas.openxmlformats.org/officeDocument/2006/relationships" r:id="Rcca31ee1ed2b415f"/>
  </p:notesMasterIdLst>
  <p:sldIdLst>
    <p:sldId xmlns:r="http://schemas.openxmlformats.org/officeDocument/2006/relationships" id="256" r:id="Ra393d993042041a6"/>
    <p:sldId xmlns:r="http://schemas.openxmlformats.org/officeDocument/2006/relationships" id="257" r:id="Rba5ca7d004ff4c7e"/>
    <p:sldId xmlns:r="http://schemas.openxmlformats.org/officeDocument/2006/relationships" id="258" r:id="Rcf0119d8fffe4863"/>
    <p:sldId xmlns:r="http://schemas.openxmlformats.org/officeDocument/2006/relationships" id="259" r:id="Raf59839806ed477d"/>
    <p:sldId xmlns:r="http://schemas.openxmlformats.org/officeDocument/2006/relationships" id="260" r:id="R89bc65d4f188448d"/>
    <p:sldId xmlns:r="http://schemas.openxmlformats.org/officeDocument/2006/relationships" id="261" r:id="Rdecc9c5765da4746"/>
    <p:sldId xmlns:r="http://schemas.openxmlformats.org/officeDocument/2006/relationships" id="262" r:id="R7a32ad95f25f48c3"/>
    <p:sldId xmlns:r="http://schemas.openxmlformats.org/officeDocument/2006/relationships" id="263" r:id="Rf28adad35ee54cc1"/>
    <p:sldId xmlns:r="http://schemas.openxmlformats.org/officeDocument/2006/relationships" id="264" r:id="R092fda8c219940e8"/>
    <p:sldId xmlns:r="http://schemas.openxmlformats.org/officeDocument/2006/relationships" id="265" r:id="R50922aa10ec94143"/>
    <p:sldId xmlns:r="http://schemas.openxmlformats.org/officeDocument/2006/relationships" id="266" r:id="Rd6a440434b4449d9"/>
    <p:sldId xmlns:r="http://schemas.openxmlformats.org/officeDocument/2006/relationships" id="267" r:id="R8f59da3fec6b44b9"/>
    <p:sldId xmlns:r="http://schemas.openxmlformats.org/officeDocument/2006/relationships" id="268" r:id="R3168ccbb0b1f4b73"/>
    <p:sldId xmlns:r="http://schemas.openxmlformats.org/officeDocument/2006/relationships" id="269" r:id="R8448a57f6efe4b7d"/>
    <p:sldId xmlns:r="http://schemas.openxmlformats.org/officeDocument/2006/relationships" id="270" r:id="R8572e11072464747"/>
    <p:sldId xmlns:r="http://schemas.openxmlformats.org/officeDocument/2006/relationships" id="271" r:id="R5e9e35ca74844e7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a9dec326fe04c8b" /><Relationship Type="http://schemas.openxmlformats.org/officeDocument/2006/relationships/slideMaster" Target="/ppt/slideMasters/slideMaster1.xml" Id="Rde20ac2e1f504f3a" /><Relationship Type="http://schemas.openxmlformats.org/officeDocument/2006/relationships/notesMaster" Target="/ppt/notesMasters/notesMaster1.xml" Id="Rcca31ee1ed2b415f" /><Relationship Type="http://schemas.openxmlformats.org/officeDocument/2006/relationships/presProps" Target="/ppt/presProps.xml" Id="Rc6a1e08440574d8a" /><Relationship Type="http://schemas.openxmlformats.org/officeDocument/2006/relationships/tableStyles" Target="/ppt/tableStyles.xml" Id="R620fba3f1ca44941" /><Relationship Type="http://schemas.openxmlformats.org/officeDocument/2006/relationships/slide" Target="/ppt/slides/slide1.xml" Id="Ra393d993042041a6" /><Relationship Type="http://schemas.openxmlformats.org/officeDocument/2006/relationships/slide" Target="/ppt/slides/slide2.xml" Id="Rba5ca7d004ff4c7e" /><Relationship Type="http://schemas.openxmlformats.org/officeDocument/2006/relationships/slide" Target="/ppt/slides/slide3.xml" Id="Rcf0119d8fffe4863" /><Relationship Type="http://schemas.openxmlformats.org/officeDocument/2006/relationships/slide" Target="/ppt/slides/slide4.xml" Id="Raf59839806ed477d" /><Relationship Type="http://schemas.openxmlformats.org/officeDocument/2006/relationships/slide" Target="/ppt/slides/slide5.xml" Id="R89bc65d4f188448d" /><Relationship Type="http://schemas.openxmlformats.org/officeDocument/2006/relationships/slide" Target="/ppt/slides/slide6.xml" Id="Rdecc9c5765da4746" /><Relationship Type="http://schemas.openxmlformats.org/officeDocument/2006/relationships/slide" Target="/ppt/slides/slide7.xml" Id="R7a32ad95f25f48c3" /><Relationship Type="http://schemas.openxmlformats.org/officeDocument/2006/relationships/slide" Target="/ppt/slides/slide8.xml" Id="Rf28adad35ee54cc1" /><Relationship Type="http://schemas.openxmlformats.org/officeDocument/2006/relationships/slide" Target="/ppt/slides/slide9.xml" Id="R092fda8c219940e8" /><Relationship Type="http://schemas.openxmlformats.org/officeDocument/2006/relationships/slide" Target="/ppt/slides/slide10.xml" Id="R50922aa10ec94143" /><Relationship Type="http://schemas.openxmlformats.org/officeDocument/2006/relationships/slide" Target="/ppt/slides/slide11.xml" Id="Rd6a440434b4449d9" /><Relationship Type="http://schemas.openxmlformats.org/officeDocument/2006/relationships/slide" Target="/ppt/slides/slide12.xml" Id="R8f59da3fec6b44b9" /><Relationship Type="http://schemas.openxmlformats.org/officeDocument/2006/relationships/slide" Target="/ppt/slides/slide13.xml" Id="R3168ccbb0b1f4b73" /><Relationship Type="http://schemas.openxmlformats.org/officeDocument/2006/relationships/slide" Target="/ppt/slides/slide14.xml" Id="R8448a57f6efe4b7d" /><Relationship Type="http://schemas.openxmlformats.org/officeDocument/2006/relationships/slide" Target="/ppt/slides/slide15.xml" Id="R8572e11072464747" /><Relationship Type="http://schemas.openxmlformats.org/officeDocument/2006/relationships/slide" Target="/ppt/slides/slide16.xml" Id="R5e9e35ca74844e7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07763f2a7e446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963e9430de45d1" /><Relationship Type="http://schemas.openxmlformats.org/officeDocument/2006/relationships/notesMaster" Target="/ppt/notesMasters/notesMaster1.xml" Id="R6b0649c010834cf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984b4e7cc842a4" /><Relationship Type="http://schemas.openxmlformats.org/officeDocument/2006/relationships/notesMaster" Target="/ppt/notesMasters/notesMaster1.xml" Id="Rbe89491fa399482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a41f462d160491d" /><Relationship Type="http://schemas.openxmlformats.org/officeDocument/2006/relationships/notesMaster" Target="/ppt/notesMasters/notesMaster1.xml" Id="Ra3a70a1b603c49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3c0f08310ea346b2" /><Relationship Type="http://schemas.openxmlformats.org/officeDocument/2006/relationships/notesMaster" Target="/ppt/notesMasters/notesMaster1.xml" Id="R824854f8cbd545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e9c57e3450354800" /><Relationship Type="http://schemas.openxmlformats.org/officeDocument/2006/relationships/notesMaster" Target="/ppt/notesMasters/notesMaster1.xml" Id="R51145b917bec44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654293d67324d38" /><Relationship Type="http://schemas.openxmlformats.org/officeDocument/2006/relationships/notesMaster" Target="/ppt/notesMasters/notesMaster1.xml" Id="R690fd64e8865475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682964f8397405b" /><Relationship Type="http://schemas.openxmlformats.org/officeDocument/2006/relationships/notesMaster" Target="/ppt/notesMasters/notesMaster1.xml" Id="Rbd4ef97a94bd4cf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7e6337a6db845c5" /><Relationship Type="http://schemas.openxmlformats.org/officeDocument/2006/relationships/notesMaster" Target="/ppt/notesMasters/notesMaster1.xml" Id="Recb466fa721747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fb827385504d91" /><Relationship Type="http://schemas.openxmlformats.org/officeDocument/2006/relationships/notesMaster" Target="/ppt/notesMasters/notesMaster1.xml" Id="Rc09ba8bbb39a489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a0262bdffac4e55" /><Relationship Type="http://schemas.openxmlformats.org/officeDocument/2006/relationships/notesMaster" Target="/ppt/notesMasters/notesMaster1.xml" Id="R897d5efab7f5470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88626e755874a4e" /><Relationship Type="http://schemas.openxmlformats.org/officeDocument/2006/relationships/notesMaster" Target="/ppt/notesMasters/notesMaster1.xml" Id="R9c481fab3d5c482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c38a131db14e2c" /><Relationship Type="http://schemas.openxmlformats.org/officeDocument/2006/relationships/notesMaster" Target="/ppt/notesMasters/notesMaster1.xml" Id="R734c12a005244e6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10469e18f1e498a" /><Relationship Type="http://schemas.openxmlformats.org/officeDocument/2006/relationships/notesMaster" Target="/ppt/notesMasters/notesMaster1.xml" Id="R64078195b8f1475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a8a0986b2041d4" /><Relationship Type="http://schemas.openxmlformats.org/officeDocument/2006/relationships/notesMaster" Target="/ppt/notesMasters/notesMaster1.xml" Id="Raedb18e3ab3c40e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620a3ae46ca4b85" /><Relationship Type="http://schemas.openxmlformats.org/officeDocument/2006/relationships/notesMaster" Target="/ppt/notesMasters/notesMaster1.xml" Id="Rb568cd2d09414c4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b733ab902a7488c" /><Relationship Type="http://schemas.openxmlformats.org/officeDocument/2006/relationships/notesMaster" Target="/ppt/notesMasters/notesMaster1.xml" Id="R751561a25df0421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Cover artwork is an AI-generated illustration, not a photograph or product screenshot.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The supplied problem statement identifies uncertainty around mixed materials and disposal. These pain points describe the product problem, not measured survey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The post-confirmation composer, helper weighing and resident approval flow are implemented. Collection remains subject to helper availability.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Actual local product screenshot, camera off. Upstream AI processes submitted frames. The app does not retain image frames. Automatic scanning is bounded rather than continuous per-frame streaming. Physical phone-camera performance is not claimed as validated.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This is an illustrative uncertainty scenario, not a claim that a specific cup is recyclable. Local-guide controls are removed from the current resident interface. The app does not claim universal local disposal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Use last pickup never copies the previous date, measured weight or charge. Location capture is optional and requires permission. Availability of a chosen time depends on a helper accepting the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Source: current catalog.ts. Prices/counts follow owner requirements. Basic cap and 10%/15% shares are current configurable pilot defaults. These are proposed service offers, not validated profitable prices.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Illustrative arithmetic using the implemented ₹15 base and ₹5/kg rate, not an actual customer bill. Evening: ₹5 + ₹1 for unsegregated waste + ₹1 if measured weight exceeds 2 kg, capped at ₹7. Extra charges follow receipt approval.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Helper signup does not grant collector authority. Operations approval is required. Earnings and payout references are database records, not automatic bank transfers or guaranteed income. Address/location details are revealed to a helper only after 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pilot operating model. Receiving partners and accepted material grades must be agreed before launch. The current prototype records collection weights and settlements, but does not prove downstream processing or environmental impact. Source: owner business-model requirements and current Operations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Source: service.ts and activity/streak implementation. Multiple scans on one day do not earn extra points. A scan does not establish that recycling occurred and no environmental impact is claimed. Location leaderboard is opt-in.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Business-model description, not a forecast or financial guarantee. Processing/buyer contracts and local material prices remain to be validated. No fixed commodity price or the superseded 35/40/15/10 revenue split is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Planning illustration only, not traction or forecast. Arithmetic: 20×599 + 10×699 = 18,970. 20×14 + 10×24 = 520. 18,970/520 = 36.4808. Excludes sorting/surge/recovery income, taxes and every operating expense. Shared-route consolidation is a proposed operating practice, not a claim that automated route optimization exists.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Implementation status inspected in the repository. MongoDB persists accounts and service records. Local automated checks cover authorization, booking/receipt state and synthetic payment signature/replay handling. A provider credential read check succeeded. A completed real gateway transaction, public webhook delivery and physical phone-camera performance are not asserted. Custom-model training is deferred.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Pilot proposal, not an active partnership or existing customer count. Proposed mix for the economics illustration is 20 Gold and 10 Platinum. No diversion, carbon savings, sales or adoption claim is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Waste Right product requirements supplied by the project owner in this conversation. Current implementation: web-app/src/lib/catalog.ts, pickup-pricing.ts, service.ts and application components, inspected 23 October 2026. Closing request is for a bounded operational pilot. The pitch describes a working local hackathon prototype and a proposed service model, with no invented traction or profitability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92b631bb8cf4c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6032f48b27b412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dd9fac6250742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4eed237c45843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29d4716f459451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de8e12c9c2142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DF19D6-5B43-4078-B747-DDAB88D43D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80BED1-4EC2-4D28-B3F3-D1FE89DF716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D4E2FF1-F816-48F9-8E5B-CE1C71113F16}"/>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CD2FCF2-2EB8-40A1-A4CC-D71554BB26B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82AEFE-2EA1-415C-9041-52066F2EFE6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62F9A24-B286-492A-8FEA-754D3AFD49B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B3C333-2F27-4744-9507-D0266A563D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A475233-ACFA-425B-B48D-9D94E369153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28A2798-03FE-43F3-9C9F-9D36DAAEC4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2D62320-1122-4725-891F-C6B471D03C5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978bb8f2084147" /><Relationship Type="http://schemas.openxmlformats.org/officeDocument/2006/relationships/slideLayout" Target="/ppt/slideLayouts/slideLayout1.xml" Id="Rc71505564b174042" /><Relationship Type="http://schemas.openxmlformats.org/officeDocument/2006/relationships/slideLayout" Target="/ppt/slideLayouts/slideLayout2.xml" Id="R7f03c0b6c13d4abe" /><Relationship Type="http://schemas.openxmlformats.org/officeDocument/2006/relationships/slideLayout" Target="/ppt/slideLayouts/slideLayout3.xml" Id="R1fe0817837fb47e9" /><Relationship Type="http://schemas.openxmlformats.org/officeDocument/2006/relationships/slideLayout" Target="/ppt/slideLayouts/slideLayout4.xml" Id="R401f98bdb04746a2" /><Relationship Type="http://schemas.openxmlformats.org/officeDocument/2006/relationships/slideLayout" Target="/ppt/slideLayouts/slideLayout5.xml" Id="R380d22324bcd41f9" /><Relationship Type="http://schemas.openxmlformats.org/officeDocument/2006/relationships/slideLayout" Target="/ppt/slideLayouts/slideLayout6.xml" Id="R8871a92f51434e5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71505564b174042"/>
    <p:sldLayoutId xmlns:r="http://schemas.openxmlformats.org/officeDocument/2006/relationships" id="2147483650" r:id="R7f03c0b6c13d4abe"/>
    <p:sldLayoutId xmlns:r="http://schemas.openxmlformats.org/officeDocument/2006/relationships" id="2147483651" r:id="R1fe0817837fb47e9"/>
    <p:sldLayoutId xmlns:r="http://schemas.openxmlformats.org/officeDocument/2006/relationships" id="2147483652" r:id="R401f98bdb04746a2"/>
    <p:sldLayoutId xmlns:r="http://schemas.openxmlformats.org/officeDocument/2006/relationships" id="2147483653" r:id="R380d22324bcd41f9"/>
    <p:sldLayoutId xmlns:r="http://schemas.openxmlformats.org/officeDocument/2006/relationships" id="2147483654" r:id="R8871a92f51434e5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9f4b48522684d5c" /><Relationship Type="http://schemas.openxmlformats.org/officeDocument/2006/relationships/image" Target="/ppt/media/image.png" Id="Rc1a8e3cb61154d83" /><Relationship Type="http://schemas.openxmlformats.org/officeDocument/2006/relationships/notesSlide" Target="/ppt/notesSlides/notesSlide1.xml" Id="R7e8dfa3726324dd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326263c5eaa4422" /><Relationship Type="http://schemas.openxmlformats.org/officeDocument/2006/relationships/notesSlide" Target="/ppt/notesSlides/notesSlide2.xml" Id="R0ed6c5f5880142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99427cdf99e49bf" /><Relationship Type="http://schemas.openxmlformats.org/officeDocument/2006/relationships/notesSlide" Target="/ppt/notesSlides/notesSlide3.xml" Id="Rfca00d85ef1b44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2e28e7c90551440c" /><Relationship Type="http://schemas.openxmlformats.org/officeDocument/2006/relationships/image" Target="/ppt/media/image.jpeg" Id="Rd0a6d79a02bd46f4" /><Relationship Type="http://schemas.openxmlformats.org/officeDocument/2006/relationships/notesSlide" Target="/ppt/notesSlides/notesSlide4.xml" Id="R2f0601fe59b7403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c456cdadadb4281" /><Relationship Type="http://schemas.openxmlformats.org/officeDocument/2006/relationships/notesSlide" Target="/ppt/notesSlides/notesSlide5.xml" Id="Rb346aff9e19844b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d65867fbf2b40cc" /><Relationship Type="http://schemas.openxmlformats.org/officeDocument/2006/relationships/notesSlide" Target="/ppt/notesSlides/notesSlide6.xml" Id="R0e67a6a34ce1471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651586baccd4d32" /><Relationship Type="http://schemas.openxmlformats.org/officeDocument/2006/relationships/notesSlide" Target="/ppt/notesSlides/notesSlide7.xml" Id="R054aa3b27f2c400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a6c066ed00436a" /><Relationship Type="http://schemas.openxmlformats.org/officeDocument/2006/relationships/notesSlide" Target="/ppt/notesSlides/notesSlide8.xml" Id="R25468f3721474d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806e88c525345f2" /><Relationship Type="http://schemas.openxmlformats.org/officeDocument/2006/relationships/notesSlide" Target="/ppt/notesSlides/notesSlide9.xml" Id="R4029c2c1de8648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c89bc58764f49be" /><Relationship Type="http://schemas.openxmlformats.org/officeDocument/2006/relationships/notesSlide" Target="/ppt/notesSlides/notesSlide10.xml" Id="R487ec78063c949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e86d0003e6491f" /><Relationship Type="http://schemas.openxmlformats.org/officeDocument/2006/relationships/notesSlide" Target="/ppt/notesSlides/notesSlide11.xml" Id="R7c0c84fc026d40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381b45d74d14405" /><Relationship Type="http://schemas.openxmlformats.org/officeDocument/2006/relationships/notesSlide" Target="/ppt/notesSlides/notesSlide12.xml" Id="R0c6d0090c92e45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50691ade37b4ac0" /><Relationship Type="http://schemas.openxmlformats.org/officeDocument/2006/relationships/notesSlide" Target="/ppt/notesSlides/notesSlide13.xml" Id="Rfdbc58c5e69f415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54919e8e9f344a8" /><Relationship Type="http://schemas.openxmlformats.org/officeDocument/2006/relationships/notesSlide" Target="/ppt/notesSlides/notesSlide14.xml" Id="R64ef2481b7574f1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13a85475800435f" /><Relationship Type="http://schemas.openxmlformats.org/officeDocument/2006/relationships/notesSlide" Target="/ppt/notesSlides/notesSlide15.xml" Id="Rbd830d9cb4d945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96d1b7297294a1f" /><Relationship Type="http://schemas.openxmlformats.org/officeDocument/2006/relationships/notesSlide" Target="/ppt/notesSlides/notesSlide16.xml" Id="R4f7317c72a8a4a42" /></Relationships>
</file>

<file path=ppt/slides/slide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D7C8CC9-941F-489A-A2ED-3C1BD2712389}"/>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Waste Right</a:t>
            </a:r>
          </a:p>
        </p:txBody>
      </p:sp>
      <p:sp>
        <p:nvSpPr>
          <p:cNvPr id="3" name="">
            <a:extLst xmlns:a="http://schemas.openxmlformats.org/drawingml/2006/main">
              <a:ext uri="{FF2B5EF4-FFF2-40B4-BE49-F238E27FC236}">
                <a16:creationId xmlns:a16="http://schemas.microsoft.com/office/drawing/2014/main" id="{FE19C90C-ADAB-446B-97D1-3608FBF56010}"/>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00EEF2F4-78BF-491B-B37E-4C8FDA4001B3}"/>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01</a:t>
            </a:r>
          </a:p>
        </p:txBody>
      </p:sp>
      <p:sp>
        <p:nvSpPr>
          <p:cNvPr id="5" name="">
            <a:extLst xmlns:a="http://schemas.openxmlformats.org/drawingml/2006/main">
              <a:ext uri="{FF2B5EF4-FFF2-40B4-BE49-F238E27FC236}">
                <a16:creationId xmlns:a16="http://schemas.microsoft.com/office/drawing/2014/main" id="{8BF97CFE-18A1-4302-9DEE-45A60B7513A2}"/>
              </a:ext>
            </a:extLst>
          </p:cNvPr>
          <p:cNvSpPr>
            <a:spLocks xmlns:a="http://schemas.openxmlformats.org/drawingml/2006/main" noGrp="1"/>
          </p:cNvSpPr>
          <p:nvPr/>
        </p:nvSpPr>
        <p:spPr>
          <a:xfrm xmlns:a="http://schemas.openxmlformats.org/drawingml/2006/main">
            <a:off x="619125" y="2047875"/>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193F30"/>
                </a:solidFill>
              </a:defRPr>
            </a:defPPr>
            <a:lvl1pPr>
              <a:defRPr sz="4650" b="1">
                <a:solidFill>
                  <a:srgbClr val="193F30"/>
                </a:solidFill>
              </a:defRPr>
            </a:lvl1pPr>
            <a:lvl2pPr>
              <a:defRPr sz="4650" b="1">
                <a:solidFill>
                  <a:srgbClr val="193F30"/>
                </a:solidFill>
              </a:defRPr>
            </a:lvl2pPr>
            <a:lvl3pPr>
              <a:defRPr sz="4650" b="1">
                <a:solidFill>
                  <a:srgbClr val="193F30"/>
                </a:solidFill>
              </a:defRPr>
            </a:lvl3pPr>
            <a:lvl4pPr>
              <a:defRPr sz="4650" b="1">
                <a:solidFill>
                  <a:srgbClr val="193F30"/>
                </a:solidFill>
              </a:defRPr>
            </a:lvl4pPr>
            <a:lvl5pPr>
              <a:defRPr sz="4650" b="1">
                <a:solidFill>
                  <a:srgbClr val="193F30"/>
                </a:solidFill>
              </a:defRPr>
            </a:lvl5pPr>
            <a:lvl6pPr>
              <a:defRPr sz="4650" b="1">
                <a:solidFill>
                  <a:srgbClr val="193F30"/>
                </a:solidFill>
              </a:defRPr>
            </a:lvl6pPr>
            <a:lvl7pPr>
              <a:defRPr sz="4650" b="1">
                <a:solidFill>
                  <a:srgbClr val="193F30"/>
                </a:solidFill>
              </a:defRPr>
            </a:lvl7pPr>
            <a:lvl8pPr>
              <a:defRPr sz="4650" b="1">
                <a:solidFill>
                  <a:srgbClr val="193F30"/>
                </a:solidFill>
              </a:defRPr>
            </a:lvl8pPr>
            <a:lvl9pPr>
              <a:defRPr sz="4650" b="1">
                <a:solidFill>
                  <a:srgbClr val="193F30"/>
                </a:solidFill>
              </a:defRPr>
            </a:lvl9pPr>
          </a:lstStyle>
          <a:p xmlns:a="http://schemas.openxmlformats.org/drawingml/2006/main">
            <a:pPr>
              <a:defRPr sz="4650" b="1">
                <a:solidFill>
                  <a:srgbClr val="193F30"/>
                </a:solidFill>
              </a:defRPr>
            </a:pPr>
            <a:r>
              <a:rPr sz="4650" b="1">
                <a:solidFill>
                  <a:srgbClr val="193F30"/>
                </a:solidFill>
              </a:rPr>
              <a:t>Everyday waste.</a:t>
            </a:r>
          </a:p>
          <a:p xmlns:a="http://schemas.openxmlformats.org/drawingml/2006/main">
            <a:pPr>
              <a:defRPr sz="4650" b="1">
                <a:solidFill>
                  <a:srgbClr val="193F30"/>
                </a:solidFill>
              </a:defRPr>
            </a:pPr>
            <a:r>
              <a:rPr sz="4650" b="1">
                <a:solidFill>
                  <a:srgbClr val="193F30"/>
                </a:solidFill>
              </a:rPr>
              <a:t>One simpler pickup.</a:t>
            </a:r>
          </a:p>
        </p:txBody>
      </p:sp>
      <p:sp>
        <p:nvSpPr>
          <p:cNvPr id="6" name="">
            <a:extLst xmlns:a="http://schemas.openxmlformats.org/drawingml/2006/main">
              <a:ext uri="{FF2B5EF4-FFF2-40B4-BE49-F238E27FC236}">
                <a16:creationId xmlns:a16="http://schemas.microsoft.com/office/drawing/2014/main" id="{1B7A823F-AD5B-4166-9621-0E9901AB9CD2}"/>
              </a:ext>
            </a:extLst>
          </p:cNvPr>
          <p:cNvSpPr>
            <a:spLocks xmlns:a="http://schemas.openxmlformats.org/drawingml/2006/main" noGrp="1"/>
          </p:cNvSpPr>
          <p:nvPr/>
        </p:nvSpPr>
        <p:spPr>
          <a:xfrm xmlns:a="http://schemas.openxmlformats.org/drawingml/2006/main">
            <a:off x="619125" y="4191000"/>
            <a:ext cx="5238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17468"/>
                </a:solidFill>
              </a:defRPr>
            </a:defPPr>
            <a:lvl1pPr>
              <a:defRPr sz="2175" b="0">
                <a:solidFill>
                  <a:srgbClr val="617468"/>
                </a:solidFill>
              </a:defRPr>
            </a:lvl1pPr>
            <a:lvl2pPr>
              <a:defRPr sz="2175" b="0">
                <a:solidFill>
                  <a:srgbClr val="617468"/>
                </a:solidFill>
              </a:defRPr>
            </a:lvl2pPr>
            <a:lvl3pPr>
              <a:defRPr sz="2175" b="0">
                <a:solidFill>
                  <a:srgbClr val="617468"/>
                </a:solidFill>
              </a:defRPr>
            </a:lvl3pPr>
            <a:lvl4pPr>
              <a:defRPr sz="2175" b="0">
                <a:solidFill>
                  <a:srgbClr val="617468"/>
                </a:solidFill>
              </a:defRPr>
            </a:lvl4pPr>
            <a:lvl5pPr>
              <a:defRPr sz="2175" b="0">
                <a:solidFill>
                  <a:srgbClr val="617468"/>
                </a:solidFill>
              </a:defRPr>
            </a:lvl5pPr>
            <a:lvl6pPr>
              <a:defRPr sz="2175" b="0">
                <a:solidFill>
                  <a:srgbClr val="617468"/>
                </a:solidFill>
              </a:defRPr>
            </a:lvl6pPr>
            <a:lvl7pPr>
              <a:defRPr sz="2175" b="0">
                <a:solidFill>
                  <a:srgbClr val="617468"/>
                </a:solidFill>
              </a:defRPr>
            </a:lvl7pPr>
            <a:lvl8pPr>
              <a:defRPr sz="2175" b="0">
                <a:solidFill>
                  <a:srgbClr val="617468"/>
                </a:solidFill>
              </a:defRPr>
            </a:lvl8pPr>
            <a:lvl9pPr>
              <a:defRPr sz="2175" b="0">
                <a:solidFill>
                  <a:srgbClr val="617468"/>
                </a:solidFill>
              </a:defRPr>
            </a:lvl9pPr>
          </a:lstStyle>
          <a:p xmlns:a="http://schemas.openxmlformats.org/drawingml/2006/main">
            <a:pPr>
              <a:defRPr sz="2175" b="0">
                <a:solidFill>
                  <a:srgbClr val="617468"/>
                </a:solidFill>
              </a:defRPr>
            </a:pPr>
            <a:r>
              <a:rPr sz="2175" b="0">
                <a:solidFill>
                  <a:srgbClr val="617468"/>
                </a:solidFill>
              </a:rPr>
              <a:t>Phone-camera identification and doorstep collection, with the resident in control.</a:t>
            </a:r>
          </a:p>
        </p:txBody>
      </p:sp>
      <p:sp>
        <p:nvSpPr>
          <p:cNvPr id="7" name="">
            <a:extLst xmlns:a="http://schemas.openxmlformats.org/drawingml/2006/main">
              <a:ext uri="{FF2B5EF4-FFF2-40B4-BE49-F238E27FC236}">
                <a16:creationId xmlns:a16="http://schemas.microsoft.com/office/drawing/2014/main" id="{002817A9-6819-49CC-9CD6-3126542875FC}"/>
              </a:ext>
            </a:extLst>
          </p:cNvPr>
          <p:cNvSpPr>
            <a:spLocks xmlns:a="http://schemas.openxmlformats.org/drawingml/2006/main" noGrp="1"/>
          </p:cNvSpPr>
          <p:nvPr/>
        </p:nvSpPr>
        <p:spPr>
          <a:xfrm xmlns:a="http://schemas.openxmlformats.org/drawingml/2006/main">
            <a:off x="619125" y="5638800"/>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6860A5"/>
                </a:solidFill>
              </a:defRPr>
            </a:defPPr>
            <a:lvl1pPr>
              <a:defRPr sz="2175" b="1">
                <a:solidFill>
                  <a:srgbClr val="6860A5"/>
                </a:solidFill>
              </a:defRPr>
            </a:lvl1pPr>
            <a:lvl2pPr>
              <a:defRPr sz="2175" b="1">
                <a:solidFill>
                  <a:srgbClr val="6860A5"/>
                </a:solidFill>
              </a:defRPr>
            </a:lvl2pPr>
            <a:lvl3pPr>
              <a:defRPr sz="2175" b="1">
                <a:solidFill>
                  <a:srgbClr val="6860A5"/>
                </a:solidFill>
              </a:defRPr>
            </a:lvl3pPr>
            <a:lvl4pPr>
              <a:defRPr sz="2175" b="1">
                <a:solidFill>
                  <a:srgbClr val="6860A5"/>
                </a:solidFill>
              </a:defRPr>
            </a:lvl4pPr>
            <a:lvl5pPr>
              <a:defRPr sz="2175" b="1">
                <a:solidFill>
                  <a:srgbClr val="6860A5"/>
                </a:solidFill>
              </a:defRPr>
            </a:lvl5pPr>
            <a:lvl6pPr>
              <a:defRPr sz="2175" b="1">
                <a:solidFill>
                  <a:srgbClr val="6860A5"/>
                </a:solidFill>
              </a:defRPr>
            </a:lvl6pPr>
            <a:lvl7pPr>
              <a:defRPr sz="2175" b="1">
                <a:solidFill>
                  <a:srgbClr val="6860A5"/>
                </a:solidFill>
              </a:defRPr>
            </a:lvl7pPr>
            <a:lvl8pPr>
              <a:defRPr sz="2175" b="1">
                <a:solidFill>
                  <a:srgbClr val="6860A5"/>
                </a:solidFill>
              </a:defRPr>
            </a:lvl8pPr>
            <a:lvl9pPr>
              <a:defRPr sz="2175" b="1">
                <a:solidFill>
                  <a:srgbClr val="6860A5"/>
                </a:solidFill>
              </a:defRPr>
            </a:lvl9pPr>
          </a:lstStyle>
          <a:p xmlns:a="http://schemas.openxmlformats.org/drawingml/2006/main">
            <a:pPr>
              <a:defRPr sz="2175" b="1">
                <a:solidFill>
                  <a:srgbClr val="6860A5"/>
                </a:solidFill>
              </a:defRPr>
            </a:pPr>
            <a:r>
              <a:rPr sz="2175" b="1">
                <a:solidFill>
                  <a:srgbClr val="6860A5"/>
                </a:solidFill>
              </a:rPr>
              <a:t>Pickups from ₹15</a:t>
            </a:r>
          </a:p>
        </p:txBody>
      </p:sp>
      <p:pic>
        <p:nvPicPr>
          <p:cNvPr id="8" name="">
            <a:extLst xmlns:a="http://schemas.openxmlformats.org/drawingml/2006/main">
              <a:ext uri="{FF2B5EF4-FFF2-40B4-BE49-F238E27FC236}">
                <a16:creationId xmlns:a16="http://schemas.microsoft.com/office/drawing/2014/main" id="{30CB0804-E6F8-4D6E-9C1E-BE80C27B1410}"/>
              </a:ext>
            </a:extLst>
          </p:cNvPr>
          <p:cNvPicPr>
            <a:picLocks xmlns:a="http://schemas.openxmlformats.org/drawingml/2006/main" noChangeAspect="1"/>
          </p:cNvPicPr>
          <p:nvPr/>
        </p:nvPicPr>
        <p:blipFill>
          <a:blip xmlns:r="http://schemas.openxmlformats.org/officeDocument/2006/relationships" xmlns:a="http://schemas.openxmlformats.org/drawingml/2006/main" r:embed="Rc1a8e3cb61154d83"/>
          <a:stretch xmlns:a="http://schemas.openxmlformats.org/drawingml/2006/main"/>
        </p:blipFill>
        <p:spPr>
          <a:xfrm xmlns:a="http://schemas.openxmlformats.org/drawingml/2006/main">
            <a:off x="6619875" y="1095375"/>
            <a:ext cx="4857750" cy="4857750"/>
          </a:xfrm>
          <a:prstGeom xmlns:a="http://schemas.openxmlformats.org/drawingml/2006/main" prst="rect">
            <a:avLst/>
          </a:prstGeom>
        </p:spPr>
      </p:pic>
    </p:spTree>
    <p:extLst>
      <p:ext uri="{BB962C8B-B14F-4D97-AF65-F5344CB8AC3E}">
        <p14:creationId xmlns:p14="http://schemas.microsoft.com/office/powerpoint/2010/main" val="421804994"/>
      </p:ext>
    </p:extLst>
  </p:cSld>
</p:sld>
</file>

<file path=ppt/slides/slide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4FAF39D-DEAD-4DEC-B1F7-7E1224103756}"/>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Sorting and collection create separate hurdles</a:t>
            </a:r>
          </a:p>
        </p:txBody>
      </p:sp>
      <p:sp>
        <p:nvSpPr>
          <p:cNvPr id="3" name="">
            <a:extLst xmlns:a="http://schemas.openxmlformats.org/drawingml/2006/main">
              <a:ext uri="{FF2B5EF4-FFF2-40B4-BE49-F238E27FC236}">
                <a16:creationId xmlns:a16="http://schemas.microsoft.com/office/drawing/2014/main" id="{97A6BD02-A0E3-4985-A0D7-38984C2618CB}"/>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389ACBD8-AF44-4692-B482-4F09F7FB6493}"/>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02</a:t>
            </a:r>
          </a:p>
        </p:txBody>
      </p:sp>
      <p:sp>
        <p:nvSpPr>
          <p:cNvPr id="5" name="">
            <a:extLst xmlns:a="http://schemas.openxmlformats.org/drawingml/2006/main">
              <a:ext uri="{FF2B5EF4-FFF2-40B4-BE49-F238E27FC236}">
                <a16:creationId xmlns:a16="http://schemas.microsoft.com/office/drawing/2014/main" id="{A5C1BDA7-31E5-4A2A-99D4-806943A86088}"/>
              </a:ext>
            </a:extLst>
          </p:cNvPr>
          <p:cNvSpPr>
            <a:spLocks xmlns:a="http://schemas.openxmlformats.org/drawingml/2006/main" noGrp="1"/>
          </p:cNvSpPr>
          <p:nvPr/>
        </p:nvSpPr>
        <p:spPr>
          <a:xfrm xmlns:a="http://schemas.openxmlformats.org/drawingml/2006/main">
            <a:off x="619125" y="2000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“What is this made of?”</a:t>
            </a:r>
          </a:p>
        </p:txBody>
      </p:sp>
      <p:sp>
        <p:nvSpPr>
          <p:cNvPr id="6" name="">
            <a:extLst xmlns:a="http://schemas.openxmlformats.org/drawingml/2006/main">
              <a:ext uri="{FF2B5EF4-FFF2-40B4-BE49-F238E27FC236}">
                <a16:creationId xmlns:a16="http://schemas.microsoft.com/office/drawing/2014/main" id="{4F4C24CF-5FEF-4A76-8FD0-E3880E03F685}"/>
              </a:ext>
            </a:extLst>
          </p:cNvPr>
          <p:cNvSpPr>
            <a:spLocks xmlns:a="http://schemas.openxmlformats.org/drawingml/2006/main" noGrp="1"/>
          </p:cNvSpPr>
          <p:nvPr/>
        </p:nvSpPr>
        <p:spPr>
          <a:xfrm xmlns:a="http://schemas.openxmlformats.org/drawingml/2006/main">
            <a:off x="619125" y="26193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A bottle may look simple. A lined cup, dirty container or mixed wrapper needs a closer look.</a:t>
            </a:r>
          </a:p>
        </p:txBody>
      </p:sp>
      <p:sp>
        <p:nvSpPr>
          <p:cNvPr id="7" name="">
            <a:extLst xmlns:a="http://schemas.openxmlformats.org/drawingml/2006/main">
              <a:ext uri="{FF2B5EF4-FFF2-40B4-BE49-F238E27FC236}">
                <a16:creationId xmlns:a16="http://schemas.microsoft.com/office/drawing/2014/main" id="{A8FCD8E1-7F96-42C1-AFF0-93E10A44AC1D}"/>
              </a:ext>
            </a:extLst>
          </p:cNvPr>
          <p:cNvSpPr>
            <a:spLocks xmlns:a="http://schemas.openxmlformats.org/drawingml/2006/main" noGrp="1"/>
          </p:cNvSpPr>
          <p:nvPr/>
        </p:nvSpPr>
        <p:spPr>
          <a:xfrm xmlns:a="http://schemas.openxmlformats.org/drawingml/2006/main">
            <a:off x="6667500" y="2000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“How do I get it collected?”</a:t>
            </a:r>
          </a:p>
        </p:txBody>
      </p:sp>
      <p:sp>
        <p:nvSpPr>
          <p:cNvPr id="8" name="">
            <a:extLst xmlns:a="http://schemas.openxmlformats.org/drawingml/2006/main">
              <a:ext uri="{FF2B5EF4-FFF2-40B4-BE49-F238E27FC236}">
                <a16:creationId xmlns:a16="http://schemas.microsoft.com/office/drawing/2014/main" id="{3D54B42D-87CB-4094-AFDB-8FEC56423BDE}"/>
              </a:ext>
            </a:extLst>
          </p:cNvPr>
          <p:cNvSpPr>
            <a:spLocks xmlns:a="http://schemas.openxmlformats.org/drawingml/2006/main" noGrp="1"/>
          </p:cNvSpPr>
          <p:nvPr/>
        </p:nvSpPr>
        <p:spPr>
          <a:xfrm xmlns:a="http://schemas.openxmlformats.org/drawingml/2006/main">
            <a:off x="6667500" y="26193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The resident still needs a pickup time, a clear fee and someone to verify the handover.</a:t>
            </a:r>
          </a:p>
        </p:txBody>
      </p:sp>
      <p:sp>
        <p:nvSpPr>
          <p:cNvPr id="9" name="">
            <a:extLst xmlns:a="http://schemas.openxmlformats.org/drawingml/2006/main">
              <a:ext uri="{FF2B5EF4-FFF2-40B4-BE49-F238E27FC236}">
                <a16:creationId xmlns:a16="http://schemas.microsoft.com/office/drawing/2014/main" id="{DCCC021A-6B76-4422-B48C-EC930F68B8C9}"/>
              </a:ext>
            </a:extLst>
          </p:cNvPr>
          <p:cNvSpPr>
            <a:spLocks xmlns:a="http://schemas.openxmlformats.org/drawingml/2006/main" noGrp="1"/>
          </p:cNvSpPr>
          <p:nvPr/>
        </p:nvSpPr>
        <p:spPr>
          <a:xfrm xmlns:a="http://schemas.openxmlformats.org/drawingml/2006/main">
            <a:off x="619125" y="49530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1">
                <a:solidFill>
                  <a:srgbClr val="6860A5"/>
                </a:solidFill>
              </a:defRPr>
            </a:defPPr>
            <a:lvl1pPr>
              <a:defRPr sz="2625" b="1">
                <a:solidFill>
                  <a:srgbClr val="6860A5"/>
                </a:solidFill>
              </a:defRPr>
            </a:lvl1pPr>
            <a:lvl2pPr>
              <a:defRPr sz="2625" b="1">
                <a:solidFill>
                  <a:srgbClr val="6860A5"/>
                </a:solidFill>
              </a:defRPr>
            </a:lvl2pPr>
            <a:lvl3pPr>
              <a:defRPr sz="2625" b="1">
                <a:solidFill>
                  <a:srgbClr val="6860A5"/>
                </a:solidFill>
              </a:defRPr>
            </a:lvl3pPr>
            <a:lvl4pPr>
              <a:defRPr sz="2625" b="1">
                <a:solidFill>
                  <a:srgbClr val="6860A5"/>
                </a:solidFill>
              </a:defRPr>
            </a:lvl4pPr>
            <a:lvl5pPr>
              <a:defRPr sz="2625" b="1">
                <a:solidFill>
                  <a:srgbClr val="6860A5"/>
                </a:solidFill>
              </a:defRPr>
            </a:lvl5pPr>
            <a:lvl6pPr>
              <a:defRPr sz="2625" b="1">
                <a:solidFill>
                  <a:srgbClr val="6860A5"/>
                </a:solidFill>
              </a:defRPr>
            </a:lvl6pPr>
            <a:lvl7pPr>
              <a:defRPr sz="2625" b="1">
                <a:solidFill>
                  <a:srgbClr val="6860A5"/>
                </a:solidFill>
              </a:defRPr>
            </a:lvl7pPr>
            <a:lvl8pPr>
              <a:defRPr sz="2625" b="1">
                <a:solidFill>
                  <a:srgbClr val="6860A5"/>
                </a:solidFill>
              </a:defRPr>
            </a:lvl8pPr>
            <a:lvl9pPr>
              <a:defRPr sz="2625" b="1">
                <a:solidFill>
                  <a:srgbClr val="6860A5"/>
                </a:solidFill>
              </a:defRPr>
            </a:lvl9pPr>
          </a:lstStyle>
          <a:p xmlns:a="http://schemas.openxmlformats.org/drawingml/2006/main">
            <a:pPr>
              <a:defRPr sz="2625" b="1">
                <a:solidFill>
                  <a:srgbClr val="6860A5"/>
                </a:solidFill>
              </a:defRPr>
            </a:pPr>
            <a:r>
              <a:rPr sz="2625" b="1">
                <a:solidFill>
                  <a:srgbClr val="6860A5"/>
                </a:solidFill>
              </a:rPr>
              <a:t>Waste Right connects identification to a collection request in the same flow.</a:t>
            </a:r>
          </a:p>
        </p:txBody>
      </p:sp>
    </p:spTree>
    <p:extLst>
      <p:ext uri="{BB962C8B-B14F-4D97-AF65-F5344CB8AC3E}">
        <p14:creationId xmlns:p14="http://schemas.microsoft.com/office/powerpoint/2010/main" val="1812780979"/>
      </p:ext>
    </p:extLst>
  </p:cSld>
</p:sld>
</file>

<file path=ppt/slides/slide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784A90-7F23-4208-8518-9D50FE2CB27A}"/>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The resident journey</a:t>
            </a:r>
          </a:p>
        </p:txBody>
      </p:sp>
      <p:sp>
        <p:nvSpPr>
          <p:cNvPr id="3" name="">
            <a:extLst xmlns:a="http://schemas.openxmlformats.org/drawingml/2006/main">
              <a:ext uri="{FF2B5EF4-FFF2-40B4-BE49-F238E27FC236}">
                <a16:creationId xmlns:a16="http://schemas.microsoft.com/office/drawing/2014/main" id="{D45CE00D-1CDF-4DDA-AAD2-38D320A513C2}"/>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72FDC167-C863-4769-8D8D-943AADD11DE6}"/>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03</a:t>
            </a:r>
          </a:p>
        </p:txBody>
      </p:sp>
      <p:sp>
        <p:nvSpPr>
          <p:cNvPr id="5" name="">
            <a:extLst xmlns:a="http://schemas.openxmlformats.org/drawingml/2006/main">
              <a:ext uri="{FF2B5EF4-FFF2-40B4-BE49-F238E27FC236}">
                <a16:creationId xmlns:a16="http://schemas.microsoft.com/office/drawing/2014/main" id="{DCC48A56-D039-4776-A6B5-C26948BC828D}"/>
              </a:ext>
            </a:extLst>
          </p:cNvPr>
          <p:cNvSpPr>
            <a:spLocks xmlns:a="http://schemas.openxmlformats.org/drawingml/2006/main" noGrp="1"/>
          </p:cNvSpPr>
          <p:nvPr/>
        </p:nvSpPr>
        <p:spPr>
          <a:xfrm xmlns:a="http://schemas.openxmlformats.org/drawingml/2006/main">
            <a:off x="619125" y="20002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6860A5"/>
                </a:solidFill>
              </a:defRPr>
            </a:defPPr>
            <a:lvl1pPr>
              <a:defRPr sz="3300" b="1">
                <a:solidFill>
                  <a:srgbClr val="6860A5"/>
                </a:solidFill>
              </a:defRPr>
            </a:lvl1pPr>
            <a:lvl2pPr>
              <a:defRPr sz="3300" b="1">
                <a:solidFill>
                  <a:srgbClr val="6860A5"/>
                </a:solidFill>
              </a:defRPr>
            </a:lvl2pPr>
            <a:lvl3pPr>
              <a:defRPr sz="3300" b="1">
                <a:solidFill>
                  <a:srgbClr val="6860A5"/>
                </a:solidFill>
              </a:defRPr>
            </a:lvl3pPr>
            <a:lvl4pPr>
              <a:defRPr sz="3300" b="1">
                <a:solidFill>
                  <a:srgbClr val="6860A5"/>
                </a:solidFill>
              </a:defRPr>
            </a:lvl4pPr>
            <a:lvl5pPr>
              <a:defRPr sz="3300" b="1">
                <a:solidFill>
                  <a:srgbClr val="6860A5"/>
                </a:solidFill>
              </a:defRPr>
            </a:lvl5pPr>
            <a:lvl6pPr>
              <a:defRPr sz="3300" b="1">
                <a:solidFill>
                  <a:srgbClr val="6860A5"/>
                </a:solidFill>
              </a:defRPr>
            </a:lvl6pPr>
            <a:lvl7pPr>
              <a:defRPr sz="3300" b="1">
                <a:solidFill>
                  <a:srgbClr val="6860A5"/>
                </a:solidFill>
              </a:defRPr>
            </a:lvl7pPr>
            <a:lvl8pPr>
              <a:defRPr sz="3300" b="1">
                <a:solidFill>
                  <a:srgbClr val="6860A5"/>
                </a:solidFill>
              </a:defRPr>
            </a:lvl8pPr>
            <a:lvl9pPr>
              <a:defRPr sz="3300" b="1">
                <a:solidFill>
                  <a:srgbClr val="6860A5"/>
                </a:solidFill>
              </a:defRPr>
            </a:lvl9pPr>
          </a:lstStyle>
          <a:p xmlns:a="http://schemas.openxmlformats.org/drawingml/2006/main">
            <a:pPr>
              <a:defRPr sz="3300" b="1">
                <a:solidFill>
                  <a:srgbClr val="6860A5"/>
                </a:solidFill>
              </a:defRPr>
            </a:pPr>
            <a:r>
              <a:rPr sz="3300" b="1">
                <a:solidFill>
                  <a:srgbClr val="6860A5"/>
                </a:solidFill>
              </a:rPr>
              <a:t>01</a:t>
            </a:r>
          </a:p>
        </p:txBody>
      </p:sp>
      <p:sp>
        <p:nvSpPr>
          <p:cNvPr id="6" name="">
            <a:extLst xmlns:a="http://schemas.openxmlformats.org/drawingml/2006/main">
              <a:ext uri="{FF2B5EF4-FFF2-40B4-BE49-F238E27FC236}">
                <a16:creationId xmlns:a16="http://schemas.microsoft.com/office/drawing/2014/main" id="{709F990A-2481-4513-A5FF-242A9A587A34}"/>
              </a:ext>
            </a:extLst>
          </p:cNvPr>
          <p:cNvSpPr>
            <a:spLocks xmlns:a="http://schemas.openxmlformats.org/drawingml/2006/main" noGrp="1"/>
          </p:cNvSpPr>
          <p:nvPr/>
        </p:nvSpPr>
        <p:spPr>
          <a:xfrm xmlns:a="http://schemas.openxmlformats.org/drawingml/2006/main">
            <a:off x="619125" y="28575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Scan</a:t>
            </a:r>
          </a:p>
        </p:txBody>
      </p:sp>
      <p:sp>
        <p:nvSpPr>
          <p:cNvPr id="7" name="">
            <a:extLst xmlns:a="http://schemas.openxmlformats.org/drawingml/2006/main">
              <a:ext uri="{FF2B5EF4-FFF2-40B4-BE49-F238E27FC236}">
                <a16:creationId xmlns:a16="http://schemas.microsoft.com/office/drawing/2014/main" id="{1A92E155-32F0-4C1C-AE9D-98B89DBD5380}"/>
              </a:ext>
            </a:extLst>
          </p:cNvPr>
          <p:cNvSpPr>
            <a:spLocks xmlns:a="http://schemas.openxmlformats.org/drawingml/2006/main" noGrp="1"/>
          </p:cNvSpPr>
          <p:nvPr/>
        </p:nvSpPr>
        <p:spPr>
          <a:xfrm xmlns:a="http://schemas.openxmlformats.org/drawingml/2006/main">
            <a:off x="619125" y="36195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Use the phone camera. A photo or text description also works.</a:t>
            </a:r>
          </a:p>
        </p:txBody>
      </p:sp>
      <p:sp>
        <p:nvSpPr>
          <p:cNvPr id="8" name="">
            <a:extLst xmlns:a="http://schemas.openxmlformats.org/drawingml/2006/main">
              <a:ext uri="{FF2B5EF4-FFF2-40B4-BE49-F238E27FC236}">
                <a16:creationId xmlns:a16="http://schemas.microsoft.com/office/drawing/2014/main" id="{DD310A62-BD16-4400-B7C1-A54847EAE9F8}"/>
              </a:ext>
            </a:extLst>
          </p:cNvPr>
          <p:cNvSpPr>
            <a:spLocks xmlns:a="http://schemas.openxmlformats.org/drawingml/2006/main" noGrp="1"/>
          </p:cNvSpPr>
          <p:nvPr/>
        </p:nvSpPr>
        <p:spPr>
          <a:xfrm xmlns:a="http://schemas.openxmlformats.org/drawingml/2006/main">
            <a:off x="3429000" y="20002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6860A5"/>
                </a:solidFill>
              </a:defRPr>
            </a:defPPr>
            <a:lvl1pPr>
              <a:defRPr sz="3300" b="1">
                <a:solidFill>
                  <a:srgbClr val="6860A5"/>
                </a:solidFill>
              </a:defRPr>
            </a:lvl1pPr>
            <a:lvl2pPr>
              <a:defRPr sz="3300" b="1">
                <a:solidFill>
                  <a:srgbClr val="6860A5"/>
                </a:solidFill>
              </a:defRPr>
            </a:lvl2pPr>
            <a:lvl3pPr>
              <a:defRPr sz="3300" b="1">
                <a:solidFill>
                  <a:srgbClr val="6860A5"/>
                </a:solidFill>
              </a:defRPr>
            </a:lvl3pPr>
            <a:lvl4pPr>
              <a:defRPr sz="3300" b="1">
                <a:solidFill>
                  <a:srgbClr val="6860A5"/>
                </a:solidFill>
              </a:defRPr>
            </a:lvl4pPr>
            <a:lvl5pPr>
              <a:defRPr sz="3300" b="1">
                <a:solidFill>
                  <a:srgbClr val="6860A5"/>
                </a:solidFill>
              </a:defRPr>
            </a:lvl5pPr>
            <a:lvl6pPr>
              <a:defRPr sz="3300" b="1">
                <a:solidFill>
                  <a:srgbClr val="6860A5"/>
                </a:solidFill>
              </a:defRPr>
            </a:lvl6pPr>
            <a:lvl7pPr>
              <a:defRPr sz="3300" b="1">
                <a:solidFill>
                  <a:srgbClr val="6860A5"/>
                </a:solidFill>
              </a:defRPr>
            </a:lvl7pPr>
            <a:lvl8pPr>
              <a:defRPr sz="3300" b="1">
                <a:solidFill>
                  <a:srgbClr val="6860A5"/>
                </a:solidFill>
              </a:defRPr>
            </a:lvl8pPr>
            <a:lvl9pPr>
              <a:defRPr sz="3300" b="1">
                <a:solidFill>
                  <a:srgbClr val="6860A5"/>
                </a:solidFill>
              </a:defRPr>
            </a:lvl9pPr>
          </a:lstStyle>
          <a:p xmlns:a="http://schemas.openxmlformats.org/drawingml/2006/main">
            <a:pPr>
              <a:defRPr sz="3300" b="1">
                <a:solidFill>
                  <a:srgbClr val="6860A5"/>
                </a:solidFill>
              </a:defRPr>
            </a:pPr>
            <a:r>
              <a:rPr sz="3300" b="1">
                <a:solidFill>
                  <a:srgbClr val="6860A5"/>
                </a:solidFill>
              </a:rPr>
              <a:t>02</a:t>
            </a:r>
          </a:p>
        </p:txBody>
      </p:sp>
      <p:sp>
        <p:nvSpPr>
          <p:cNvPr id="9" name="">
            <a:extLst xmlns:a="http://schemas.openxmlformats.org/drawingml/2006/main">
              <a:ext uri="{FF2B5EF4-FFF2-40B4-BE49-F238E27FC236}">
                <a16:creationId xmlns:a16="http://schemas.microsoft.com/office/drawing/2014/main" id="{DFC77075-A3D9-4A5E-AE4F-100E3E9C142D}"/>
              </a:ext>
            </a:extLst>
          </p:cNvPr>
          <p:cNvSpPr>
            <a:spLocks xmlns:a="http://schemas.openxmlformats.org/drawingml/2006/main" noGrp="1"/>
          </p:cNvSpPr>
          <p:nvPr/>
        </p:nvSpPr>
        <p:spPr>
          <a:xfrm xmlns:a="http://schemas.openxmlformats.org/drawingml/2006/main">
            <a:off x="3429000" y="28575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Confirm</a:t>
            </a:r>
          </a:p>
        </p:txBody>
      </p:sp>
      <p:sp>
        <p:nvSpPr>
          <p:cNvPr id="10" name="">
            <a:extLst xmlns:a="http://schemas.openxmlformats.org/drawingml/2006/main">
              <a:ext uri="{FF2B5EF4-FFF2-40B4-BE49-F238E27FC236}">
                <a16:creationId xmlns:a16="http://schemas.microsoft.com/office/drawing/2014/main" id="{AD992443-F35E-46BA-B000-A4DC429D3652}"/>
              </a:ext>
            </a:extLst>
          </p:cNvPr>
          <p:cNvSpPr>
            <a:spLocks xmlns:a="http://schemas.openxmlformats.org/drawingml/2006/main" noGrp="1"/>
          </p:cNvSpPr>
          <p:nvPr/>
        </p:nvSpPr>
        <p:spPr>
          <a:xfrm xmlns:a="http://schemas.openxmlformats.org/drawingml/2006/main">
            <a:off x="3429000" y="36195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Review the suggested items. Correct or remove anything inaccurate.</a:t>
            </a:r>
          </a:p>
        </p:txBody>
      </p:sp>
      <p:sp>
        <p:nvSpPr>
          <p:cNvPr id="11" name="">
            <a:extLst xmlns:a="http://schemas.openxmlformats.org/drawingml/2006/main">
              <a:ext uri="{FF2B5EF4-FFF2-40B4-BE49-F238E27FC236}">
                <a16:creationId xmlns:a16="http://schemas.microsoft.com/office/drawing/2014/main" id="{E132450B-E389-4890-83F3-5421C8B600F3}"/>
              </a:ext>
            </a:extLst>
          </p:cNvPr>
          <p:cNvSpPr>
            <a:spLocks xmlns:a="http://schemas.openxmlformats.org/drawingml/2006/main" noGrp="1"/>
          </p:cNvSpPr>
          <p:nvPr/>
        </p:nvSpPr>
        <p:spPr>
          <a:xfrm xmlns:a="http://schemas.openxmlformats.org/drawingml/2006/main">
            <a:off x="6238875" y="20002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6860A5"/>
                </a:solidFill>
              </a:defRPr>
            </a:defPPr>
            <a:lvl1pPr>
              <a:defRPr sz="3300" b="1">
                <a:solidFill>
                  <a:srgbClr val="6860A5"/>
                </a:solidFill>
              </a:defRPr>
            </a:lvl1pPr>
            <a:lvl2pPr>
              <a:defRPr sz="3300" b="1">
                <a:solidFill>
                  <a:srgbClr val="6860A5"/>
                </a:solidFill>
              </a:defRPr>
            </a:lvl2pPr>
            <a:lvl3pPr>
              <a:defRPr sz="3300" b="1">
                <a:solidFill>
                  <a:srgbClr val="6860A5"/>
                </a:solidFill>
              </a:defRPr>
            </a:lvl3pPr>
            <a:lvl4pPr>
              <a:defRPr sz="3300" b="1">
                <a:solidFill>
                  <a:srgbClr val="6860A5"/>
                </a:solidFill>
              </a:defRPr>
            </a:lvl4pPr>
            <a:lvl5pPr>
              <a:defRPr sz="3300" b="1">
                <a:solidFill>
                  <a:srgbClr val="6860A5"/>
                </a:solidFill>
              </a:defRPr>
            </a:lvl5pPr>
            <a:lvl6pPr>
              <a:defRPr sz="3300" b="1">
                <a:solidFill>
                  <a:srgbClr val="6860A5"/>
                </a:solidFill>
              </a:defRPr>
            </a:lvl6pPr>
            <a:lvl7pPr>
              <a:defRPr sz="3300" b="1">
                <a:solidFill>
                  <a:srgbClr val="6860A5"/>
                </a:solidFill>
              </a:defRPr>
            </a:lvl7pPr>
            <a:lvl8pPr>
              <a:defRPr sz="3300" b="1">
                <a:solidFill>
                  <a:srgbClr val="6860A5"/>
                </a:solidFill>
              </a:defRPr>
            </a:lvl8pPr>
            <a:lvl9pPr>
              <a:defRPr sz="3300" b="1">
                <a:solidFill>
                  <a:srgbClr val="6860A5"/>
                </a:solidFill>
              </a:defRPr>
            </a:lvl9pPr>
          </a:lstStyle>
          <a:p xmlns:a="http://schemas.openxmlformats.org/drawingml/2006/main">
            <a:pPr>
              <a:defRPr sz="3300" b="1">
                <a:solidFill>
                  <a:srgbClr val="6860A5"/>
                </a:solidFill>
              </a:defRPr>
            </a:pPr>
            <a:r>
              <a:rPr sz="3300" b="1">
                <a:solidFill>
                  <a:srgbClr val="6860A5"/>
                </a:solidFill>
              </a:rPr>
              <a:t>03</a:t>
            </a:r>
          </a:p>
        </p:txBody>
      </p:sp>
      <p:sp>
        <p:nvSpPr>
          <p:cNvPr id="12" name="">
            <a:extLst xmlns:a="http://schemas.openxmlformats.org/drawingml/2006/main">
              <a:ext uri="{FF2B5EF4-FFF2-40B4-BE49-F238E27FC236}">
                <a16:creationId xmlns:a16="http://schemas.microsoft.com/office/drawing/2014/main" id="{D5AEB71C-8996-4F85-BAC2-4AB0135DABED}"/>
              </a:ext>
            </a:extLst>
          </p:cNvPr>
          <p:cNvSpPr>
            <a:spLocks xmlns:a="http://schemas.openxmlformats.org/drawingml/2006/main" noGrp="1"/>
          </p:cNvSpPr>
          <p:nvPr/>
        </p:nvSpPr>
        <p:spPr>
          <a:xfrm xmlns:a="http://schemas.openxmlformats.org/drawingml/2006/main">
            <a:off x="6238875" y="28575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Schedule</a:t>
            </a:r>
          </a:p>
        </p:txBody>
      </p:sp>
      <p:sp>
        <p:nvSpPr>
          <p:cNvPr id="13" name="">
            <a:extLst xmlns:a="http://schemas.openxmlformats.org/drawingml/2006/main">
              <a:ext uri="{FF2B5EF4-FFF2-40B4-BE49-F238E27FC236}">
                <a16:creationId xmlns:a16="http://schemas.microsoft.com/office/drawing/2014/main" id="{ADE9F17C-61E0-43A8-B749-D09EBE56A784}"/>
              </a:ext>
            </a:extLst>
          </p:cNvPr>
          <p:cNvSpPr>
            <a:spLocks xmlns:a="http://schemas.openxmlformats.org/drawingml/2006/main" noGrp="1"/>
          </p:cNvSpPr>
          <p:nvPr/>
        </p:nvSpPr>
        <p:spPr>
          <a:xfrm xmlns:a="http://schemas.openxmlformats.org/drawingml/2006/main">
            <a:off x="6238875" y="36195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Choose a date and time. Check the fee and collection address.</a:t>
            </a:r>
          </a:p>
        </p:txBody>
      </p:sp>
      <p:sp>
        <p:nvSpPr>
          <p:cNvPr id="14" name="">
            <a:extLst xmlns:a="http://schemas.openxmlformats.org/drawingml/2006/main">
              <a:ext uri="{FF2B5EF4-FFF2-40B4-BE49-F238E27FC236}">
                <a16:creationId xmlns:a16="http://schemas.microsoft.com/office/drawing/2014/main" id="{3466D6AD-CFC1-4C26-BB2F-D2BB732EB084}"/>
              </a:ext>
            </a:extLst>
          </p:cNvPr>
          <p:cNvSpPr>
            <a:spLocks xmlns:a="http://schemas.openxmlformats.org/drawingml/2006/main" noGrp="1"/>
          </p:cNvSpPr>
          <p:nvPr/>
        </p:nvSpPr>
        <p:spPr>
          <a:xfrm xmlns:a="http://schemas.openxmlformats.org/drawingml/2006/main">
            <a:off x="9048750" y="200025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6860A5"/>
                </a:solidFill>
              </a:defRPr>
            </a:defPPr>
            <a:lvl1pPr>
              <a:defRPr sz="3300" b="1">
                <a:solidFill>
                  <a:srgbClr val="6860A5"/>
                </a:solidFill>
              </a:defRPr>
            </a:lvl1pPr>
            <a:lvl2pPr>
              <a:defRPr sz="3300" b="1">
                <a:solidFill>
                  <a:srgbClr val="6860A5"/>
                </a:solidFill>
              </a:defRPr>
            </a:lvl2pPr>
            <a:lvl3pPr>
              <a:defRPr sz="3300" b="1">
                <a:solidFill>
                  <a:srgbClr val="6860A5"/>
                </a:solidFill>
              </a:defRPr>
            </a:lvl3pPr>
            <a:lvl4pPr>
              <a:defRPr sz="3300" b="1">
                <a:solidFill>
                  <a:srgbClr val="6860A5"/>
                </a:solidFill>
              </a:defRPr>
            </a:lvl4pPr>
            <a:lvl5pPr>
              <a:defRPr sz="3300" b="1">
                <a:solidFill>
                  <a:srgbClr val="6860A5"/>
                </a:solidFill>
              </a:defRPr>
            </a:lvl5pPr>
            <a:lvl6pPr>
              <a:defRPr sz="3300" b="1">
                <a:solidFill>
                  <a:srgbClr val="6860A5"/>
                </a:solidFill>
              </a:defRPr>
            </a:lvl6pPr>
            <a:lvl7pPr>
              <a:defRPr sz="3300" b="1">
                <a:solidFill>
                  <a:srgbClr val="6860A5"/>
                </a:solidFill>
              </a:defRPr>
            </a:lvl7pPr>
            <a:lvl8pPr>
              <a:defRPr sz="3300" b="1">
                <a:solidFill>
                  <a:srgbClr val="6860A5"/>
                </a:solidFill>
              </a:defRPr>
            </a:lvl8pPr>
            <a:lvl9pPr>
              <a:defRPr sz="3300" b="1">
                <a:solidFill>
                  <a:srgbClr val="6860A5"/>
                </a:solidFill>
              </a:defRPr>
            </a:lvl9pPr>
          </a:lstStyle>
          <a:p xmlns:a="http://schemas.openxmlformats.org/drawingml/2006/main">
            <a:pPr>
              <a:defRPr sz="3300" b="1">
                <a:solidFill>
                  <a:srgbClr val="6860A5"/>
                </a:solidFill>
              </a:defRPr>
            </a:pPr>
            <a:r>
              <a:rPr sz="3300" b="1">
                <a:solidFill>
                  <a:srgbClr val="6860A5"/>
                </a:solidFill>
              </a:rPr>
              <a:t>04</a:t>
            </a:r>
          </a:p>
        </p:txBody>
      </p:sp>
      <p:sp>
        <p:nvSpPr>
          <p:cNvPr id="15" name="">
            <a:extLst xmlns:a="http://schemas.openxmlformats.org/drawingml/2006/main">
              <a:ext uri="{FF2B5EF4-FFF2-40B4-BE49-F238E27FC236}">
                <a16:creationId xmlns:a16="http://schemas.microsoft.com/office/drawing/2014/main" id="{B598E3C8-EB40-46FC-B060-DBD0449BCF55}"/>
              </a:ext>
            </a:extLst>
          </p:cNvPr>
          <p:cNvSpPr>
            <a:spLocks xmlns:a="http://schemas.openxmlformats.org/drawingml/2006/main" noGrp="1"/>
          </p:cNvSpPr>
          <p:nvPr/>
        </p:nvSpPr>
        <p:spPr>
          <a:xfrm xmlns:a="http://schemas.openxmlformats.org/drawingml/2006/main">
            <a:off x="9048750" y="285750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Review receipt</a:t>
            </a:r>
          </a:p>
        </p:txBody>
      </p:sp>
      <p:sp>
        <p:nvSpPr>
          <p:cNvPr id="16" name="">
            <a:extLst xmlns:a="http://schemas.openxmlformats.org/drawingml/2006/main">
              <a:ext uri="{FF2B5EF4-FFF2-40B4-BE49-F238E27FC236}">
                <a16:creationId xmlns:a16="http://schemas.microsoft.com/office/drawing/2014/main" id="{1E87DF3C-89D3-475B-9B02-1B19A8769E1E}"/>
              </a:ext>
            </a:extLst>
          </p:cNvPr>
          <p:cNvSpPr>
            <a:spLocks xmlns:a="http://schemas.openxmlformats.org/drawingml/2006/main" noGrp="1"/>
          </p:cNvSpPr>
          <p:nvPr/>
        </p:nvSpPr>
        <p:spPr>
          <a:xfrm xmlns:a="http://schemas.openxmlformats.org/drawingml/2006/main">
            <a:off x="9048750" y="3619500"/>
            <a:ext cx="2286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The helper measures the waste. Approve or dispute the receipt.</a:t>
            </a:r>
          </a:p>
        </p:txBody>
      </p:sp>
    </p:spTree>
    <p:extLst>
      <p:ext uri="{BB962C8B-B14F-4D97-AF65-F5344CB8AC3E}">
        <p14:creationId xmlns:p14="http://schemas.microsoft.com/office/powerpoint/2010/main" val="1322936439"/>
      </p:ext>
    </p:extLst>
  </p:cSld>
</p:sld>
</file>

<file path=ppt/slides/slide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F491962-3A7D-4E53-B790-F06537E50A0E}"/>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The phone camera is the starting point</a:t>
            </a:r>
          </a:p>
        </p:txBody>
      </p:sp>
      <p:sp>
        <p:nvSpPr>
          <p:cNvPr id="3" name="">
            <a:extLst xmlns:a="http://schemas.openxmlformats.org/drawingml/2006/main">
              <a:ext uri="{FF2B5EF4-FFF2-40B4-BE49-F238E27FC236}">
                <a16:creationId xmlns:a16="http://schemas.microsoft.com/office/drawing/2014/main" id="{62981D1E-ACD7-4B1C-AD6E-6086074B07AC}"/>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B7BA459B-A047-49B0-8407-2ED12E61246B}"/>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04</a:t>
            </a:r>
          </a:p>
        </p:txBody>
      </p:sp>
      <p:sp>
        <p:nvSpPr>
          <p:cNvPr id="5" name="">
            <a:extLst xmlns:a="http://schemas.openxmlformats.org/drawingml/2006/main">
              <a:ext uri="{FF2B5EF4-FFF2-40B4-BE49-F238E27FC236}">
                <a16:creationId xmlns:a16="http://schemas.microsoft.com/office/drawing/2014/main" id="{383139B6-CF27-421E-80E3-55CA76BC6424}"/>
              </a:ext>
            </a:extLst>
          </p:cNvPr>
          <p:cNvSpPr>
            <a:spLocks xmlns:a="http://schemas.openxmlformats.org/drawingml/2006/main" noGrp="1"/>
          </p:cNvSpPr>
          <p:nvPr/>
        </p:nvSpPr>
        <p:spPr>
          <a:xfrm xmlns:a="http://schemas.openxmlformats.org/drawingml/2006/main">
            <a:off x="619125" y="19526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F30"/>
                </a:solidFill>
              </a:defRPr>
            </a:defPPr>
            <a:lvl1pPr>
              <a:defRPr sz="2400" b="1">
                <a:solidFill>
                  <a:srgbClr val="193F30"/>
                </a:solidFill>
              </a:defRPr>
            </a:lvl1pPr>
            <a:lvl2pPr>
              <a:defRPr sz="2400" b="1">
                <a:solidFill>
                  <a:srgbClr val="193F30"/>
                </a:solidFill>
              </a:defRPr>
            </a:lvl2pPr>
            <a:lvl3pPr>
              <a:defRPr sz="2400" b="1">
                <a:solidFill>
                  <a:srgbClr val="193F30"/>
                </a:solidFill>
              </a:defRPr>
            </a:lvl3pPr>
            <a:lvl4pPr>
              <a:defRPr sz="2400" b="1">
                <a:solidFill>
                  <a:srgbClr val="193F30"/>
                </a:solidFill>
              </a:defRPr>
            </a:lvl4pPr>
            <a:lvl5pPr>
              <a:defRPr sz="2400" b="1">
                <a:solidFill>
                  <a:srgbClr val="193F30"/>
                </a:solidFill>
              </a:defRPr>
            </a:lvl5pPr>
            <a:lvl6pPr>
              <a:defRPr sz="2400" b="1">
                <a:solidFill>
                  <a:srgbClr val="193F30"/>
                </a:solidFill>
              </a:defRPr>
            </a:lvl6pPr>
            <a:lvl7pPr>
              <a:defRPr sz="2400" b="1">
                <a:solidFill>
                  <a:srgbClr val="193F30"/>
                </a:solidFill>
              </a:defRPr>
            </a:lvl7pPr>
            <a:lvl8pPr>
              <a:defRPr sz="2400" b="1">
                <a:solidFill>
                  <a:srgbClr val="193F30"/>
                </a:solidFill>
              </a:defRPr>
            </a:lvl8pPr>
            <a:lvl9pPr>
              <a:defRPr sz="2400" b="1">
                <a:solidFill>
                  <a:srgbClr val="193F30"/>
                </a:solidFill>
              </a:defRPr>
            </a:lvl9pPr>
          </a:lstStyle>
          <a:p xmlns:a="http://schemas.openxmlformats.org/drawingml/2006/main">
            <a:pPr>
              <a:defRPr sz="2400" b="1">
                <a:solidFill>
                  <a:srgbClr val="193F30"/>
                </a:solidFill>
              </a:defRPr>
            </a:pPr>
            <a:r>
              <a:rPr sz="2400" b="1">
                <a:solidFill>
                  <a:srgbClr val="193F30"/>
                </a:solidFill>
              </a:rPr>
              <a:t>Show several items together</a:t>
            </a:r>
          </a:p>
        </p:txBody>
      </p:sp>
      <p:sp>
        <p:nvSpPr>
          <p:cNvPr id="6" name="">
            <a:extLst xmlns:a="http://schemas.openxmlformats.org/drawingml/2006/main">
              <a:ext uri="{FF2B5EF4-FFF2-40B4-BE49-F238E27FC236}">
                <a16:creationId xmlns:a16="http://schemas.microsoft.com/office/drawing/2014/main" id="{FFDA508C-E805-45DF-93F7-E2B496B3F51C}"/>
              </a:ext>
            </a:extLst>
          </p:cNvPr>
          <p:cNvSpPr>
            <a:spLocks xmlns:a="http://schemas.openxmlformats.org/drawingml/2006/main" noGrp="1"/>
          </p:cNvSpPr>
          <p:nvPr/>
        </p:nvSpPr>
        <p:spPr>
          <a:xfrm xmlns:a="http://schemas.openxmlformats.org/drawingml/2006/main">
            <a:off x="619125" y="2667000"/>
            <a:ext cx="4857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7468"/>
                </a:solidFill>
              </a:defRPr>
            </a:defPPr>
            <a:lvl1pPr>
              <a:defRPr sz="2025" b="0">
                <a:solidFill>
                  <a:srgbClr val="617468"/>
                </a:solidFill>
              </a:defRPr>
            </a:lvl1pPr>
            <a:lvl2pPr>
              <a:defRPr sz="2025" b="0">
                <a:solidFill>
                  <a:srgbClr val="617468"/>
                </a:solidFill>
              </a:defRPr>
            </a:lvl2pPr>
            <a:lvl3pPr>
              <a:defRPr sz="2025" b="0">
                <a:solidFill>
                  <a:srgbClr val="617468"/>
                </a:solidFill>
              </a:defRPr>
            </a:lvl3pPr>
            <a:lvl4pPr>
              <a:defRPr sz="2025" b="0">
                <a:solidFill>
                  <a:srgbClr val="617468"/>
                </a:solidFill>
              </a:defRPr>
            </a:lvl4pPr>
            <a:lvl5pPr>
              <a:defRPr sz="2025" b="0">
                <a:solidFill>
                  <a:srgbClr val="617468"/>
                </a:solidFill>
              </a:defRPr>
            </a:lvl5pPr>
            <a:lvl6pPr>
              <a:defRPr sz="2025" b="0">
                <a:solidFill>
                  <a:srgbClr val="617468"/>
                </a:solidFill>
              </a:defRPr>
            </a:lvl6pPr>
            <a:lvl7pPr>
              <a:defRPr sz="2025" b="0">
                <a:solidFill>
                  <a:srgbClr val="617468"/>
                </a:solidFill>
              </a:defRPr>
            </a:lvl7pPr>
            <a:lvl8pPr>
              <a:defRPr sz="2025" b="0">
                <a:solidFill>
                  <a:srgbClr val="617468"/>
                </a:solidFill>
              </a:defRPr>
            </a:lvl8pPr>
            <a:lvl9pPr>
              <a:defRPr sz="2025" b="0">
                <a:solidFill>
                  <a:srgbClr val="617468"/>
                </a:solidFill>
              </a:defRPr>
            </a:lvl9pPr>
          </a:lstStyle>
          <a:p xmlns:a="http://schemas.openxmlformats.org/drawingml/2006/main">
            <a:pPr>
              <a:defRPr sz="2025" b="0">
                <a:solidFill>
                  <a:srgbClr val="617468"/>
                </a:solidFill>
              </a:defRPr>
            </a:pPr>
            <a:r>
              <a:rPr sz="2025" b="0">
                <a:solidFill>
                  <a:srgbClr val="617468"/>
                </a:solidFill>
              </a:rPr>
              <a:t>AI suggests the visible materials. Text recognition reads English packaging labels to help identify the item.</a:t>
            </a:r>
          </a:p>
        </p:txBody>
      </p:sp>
      <p:sp>
        <p:nvSpPr>
          <p:cNvPr id="7" name="">
            <a:extLst xmlns:a="http://schemas.openxmlformats.org/drawingml/2006/main">
              <a:ext uri="{FF2B5EF4-FFF2-40B4-BE49-F238E27FC236}">
                <a16:creationId xmlns:a16="http://schemas.microsoft.com/office/drawing/2014/main" id="{2CF87173-4B1D-4B08-A036-5F4D9F1251F7}"/>
              </a:ext>
            </a:extLst>
          </p:cNvPr>
          <p:cNvSpPr>
            <a:spLocks xmlns:a="http://schemas.openxmlformats.org/drawingml/2006/main" noGrp="1"/>
          </p:cNvSpPr>
          <p:nvPr/>
        </p:nvSpPr>
        <p:spPr>
          <a:xfrm xmlns:a="http://schemas.openxmlformats.org/drawingml/2006/main">
            <a:off x="619125" y="4000500"/>
            <a:ext cx="4857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Automatic mode waits 15 seconds after each analysis, with up to 8 scans per session.</a:t>
            </a:r>
          </a:p>
        </p:txBody>
      </p:sp>
      <p:sp>
        <p:nvSpPr>
          <p:cNvPr id="8" name="">
            <a:extLst xmlns:a="http://schemas.openxmlformats.org/drawingml/2006/main">
              <a:ext uri="{FF2B5EF4-FFF2-40B4-BE49-F238E27FC236}">
                <a16:creationId xmlns:a16="http://schemas.microsoft.com/office/drawing/2014/main" id="{50C7B51C-C84E-40EC-8BF7-0CDB95CC6217}"/>
              </a:ext>
            </a:extLst>
          </p:cNvPr>
          <p:cNvSpPr>
            <a:spLocks xmlns:a="http://schemas.openxmlformats.org/drawingml/2006/main" noGrp="1"/>
          </p:cNvSpPr>
          <p:nvPr/>
        </p:nvSpPr>
        <p:spPr>
          <a:xfrm xmlns:a="http://schemas.openxmlformats.org/drawingml/2006/main">
            <a:off x="619125" y="5381625"/>
            <a:ext cx="4857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6860A5"/>
                </a:solidFill>
              </a:defRPr>
            </a:defPPr>
            <a:lvl1pPr>
              <a:defRPr sz="1650" b="0">
                <a:solidFill>
                  <a:srgbClr val="6860A5"/>
                </a:solidFill>
              </a:defRPr>
            </a:lvl1pPr>
            <a:lvl2pPr>
              <a:defRPr sz="1650" b="0">
                <a:solidFill>
                  <a:srgbClr val="6860A5"/>
                </a:solidFill>
              </a:defRPr>
            </a:lvl2pPr>
            <a:lvl3pPr>
              <a:defRPr sz="1650" b="0">
                <a:solidFill>
                  <a:srgbClr val="6860A5"/>
                </a:solidFill>
              </a:defRPr>
            </a:lvl3pPr>
            <a:lvl4pPr>
              <a:defRPr sz="1650" b="0">
                <a:solidFill>
                  <a:srgbClr val="6860A5"/>
                </a:solidFill>
              </a:defRPr>
            </a:lvl4pPr>
            <a:lvl5pPr>
              <a:defRPr sz="1650" b="0">
                <a:solidFill>
                  <a:srgbClr val="6860A5"/>
                </a:solidFill>
              </a:defRPr>
            </a:lvl5pPr>
            <a:lvl6pPr>
              <a:defRPr sz="1650" b="0">
                <a:solidFill>
                  <a:srgbClr val="6860A5"/>
                </a:solidFill>
              </a:defRPr>
            </a:lvl6pPr>
            <a:lvl7pPr>
              <a:defRPr sz="1650" b="0">
                <a:solidFill>
                  <a:srgbClr val="6860A5"/>
                </a:solidFill>
              </a:defRPr>
            </a:lvl7pPr>
            <a:lvl8pPr>
              <a:defRPr sz="1650" b="0">
                <a:solidFill>
                  <a:srgbClr val="6860A5"/>
                </a:solidFill>
              </a:defRPr>
            </a:lvl8pPr>
            <a:lvl9pPr>
              <a:defRPr sz="1650" b="0">
                <a:solidFill>
                  <a:srgbClr val="6860A5"/>
                </a:solidFill>
              </a:defRPr>
            </a:lvl9pPr>
          </a:lstStyle>
          <a:p xmlns:a="http://schemas.openxmlformats.org/drawingml/2006/main">
            <a:pPr>
              <a:defRPr sz="1650" b="0">
                <a:solidFill>
                  <a:srgbClr val="6860A5"/>
                </a:solidFill>
              </a:defRPr>
            </a:pPr>
            <a:r>
              <a:rPr sz="1650" b="0">
                <a:solidFill>
                  <a:srgbClr val="6860A5"/>
                </a:solidFill>
              </a:rPr>
              <a:t>Camera access requires permission. The app does not save the image frames.</a:t>
            </a:r>
          </a:p>
        </p:txBody>
      </p:sp>
      <p:pic>
        <p:nvPicPr>
          <p:cNvPr id="9" name="">
            <a:extLst xmlns:a="http://schemas.openxmlformats.org/drawingml/2006/main">
              <a:ext uri="{FF2B5EF4-FFF2-40B4-BE49-F238E27FC236}">
                <a16:creationId xmlns:a16="http://schemas.microsoft.com/office/drawing/2014/main" id="{5AF65949-8DF9-49D7-B14E-658C45A7A0E3}"/>
              </a:ext>
            </a:extLst>
          </p:cNvPr>
          <p:cNvPicPr>
            <a:picLocks xmlns:a="http://schemas.openxmlformats.org/drawingml/2006/main" noChangeAspect="1"/>
          </p:cNvPicPr>
          <p:nvPr/>
        </p:nvPicPr>
        <p:blipFill>
          <a:blip xmlns:r="http://schemas.openxmlformats.org/officeDocument/2006/relationships" xmlns:a="http://schemas.openxmlformats.org/drawingml/2006/main" r:embed="Rd0a6d79a02bd46f4"/>
          <a:stretch xmlns:a="http://schemas.openxmlformats.org/drawingml/2006/main"/>
        </p:blipFill>
        <p:spPr>
          <a:xfrm xmlns:a="http://schemas.openxmlformats.org/drawingml/2006/main">
            <a:off x="6106065" y="1666875"/>
            <a:ext cx="5361495" cy="4333875"/>
          </a:xfrm>
          <a:prstGeom xmlns:a="http://schemas.openxmlformats.org/drawingml/2006/main" prst="rect">
            <a:avLst/>
          </a:prstGeom>
        </p:spPr>
      </p:pic>
    </p:spTree>
    <p:extLst>
      <p:ext uri="{BB962C8B-B14F-4D97-AF65-F5344CB8AC3E}">
        <p14:creationId xmlns:p14="http://schemas.microsoft.com/office/powerpoint/2010/main" val="1655544448"/>
      </p:ext>
    </p:extLst>
  </p:cSld>
</p:sld>
</file>

<file path=ppt/slides/slide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75901C0-3E50-4084-AD80-2E9B4572FB0E}"/>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People resolve uncertain identification</a:t>
            </a:r>
          </a:p>
        </p:txBody>
      </p:sp>
      <p:sp>
        <p:nvSpPr>
          <p:cNvPr id="3" name="">
            <a:extLst xmlns:a="http://schemas.openxmlformats.org/drawingml/2006/main">
              <a:ext uri="{FF2B5EF4-FFF2-40B4-BE49-F238E27FC236}">
                <a16:creationId xmlns:a16="http://schemas.microsoft.com/office/drawing/2014/main" id="{C3A90048-619E-4D30-B9E3-0CE3B7C8F901}"/>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979A42D6-6348-431D-B01B-E12870F6C658}"/>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05</a:t>
            </a:r>
          </a:p>
        </p:txBody>
      </p:sp>
      <p:sp>
        <p:nvSpPr>
          <p:cNvPr id="5" name="">
            <a:extLst xmlns:a="http://schemas.openxmlformats.org/drawingml/2006/main">
              <a:ext uri="{FF2B5EF4-FFF2-40B4-BE49-F238E27FC236}">
                <a16:creationId xmlns:a16="http://schemas.microsoft.com/office/drawing/2014/main" id="{815B5CB4-BC91-4F81-84E6-361A953BEFA6}"/>
              </a:ext>
            </a:extLst>
          </p:cNvPr>
          <p:cNvSpPr>
            <a:spLocks xmlns:a="http://schemas.openxmlformats.org/drawingml/2006/main" noGrp="1"/>
          </p:cNvSpPr>
          <p:nvPr/>
        </p:nvSpPr>
        <p:spPr>
          <a:xfrm xmlns:a="http://schemas.openxmlformats.org/drawingml/2006/main">
            <a:off x="619125" y="1952625"/>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75" b="1">
                <a:solidFill>
                  <a:srgbClr val="6860A5"/>
                </a:solidFill>
              </a:defRPr>
            </a:defPPr>
            <a:lvl1pPr>
              <a:defRPr sz="2775" b="1">
                <a:solidFill>
                  <a:srgbClr val="6860A5"/>
                </a:solidFill>
              </a:defRPr>
            </a:lvl1pPr>
            <a:lvl2pPr>
              <a:defRPr sz="2775" b="1">
                <a:solidFill>
                  <a:srgbClr val="6860A5"/>
                </a:solidFill>
              </a:defRPr>
            </a:lvl2pPr>
            <a:lvl3pPr>
              <a:defRPr sz="2775" b="1">
                <a:solidFill>
                  <a:srgbClr val="6860A5"/>
                </a:solidFill>
              </a:defRPr>
            </a:lvl3pPr>
            <a:lvl4pPr>
              <a:defRPr sz="2775" b="1">
                <a:solidFill>
                  <a:srgbClr val="6860A5"/>
                </a:solidFill>
              </a:defRPr>
            </a:lvl4pPr>
            <a:lvl5pPr>
              <a:defRPr sz="2775" b="1">
                <a:solidFill>
                  <a:srgbClr val="6860A5"/>
                </a:solidFill>
              </a:defRPr>
            </a:lvl5pPr>
            <a:lvl6pPr>
              <a:defRPr sz="2775" b="1">
                <a:solidFill>
                  <a:srgbClr val="6860A5"/>
                </a:solidFill>
              </a:defRPr>
            </a:lvl6pPr>
            <a:lvl7pPr>
              <a:defRPr sz="2775" b="1">
                <a:solidFill>
                  <a:srgbClr val="6860A5"/>
                </a:solidFill>
              </a:defRPr>
            </a:lvl7pPr>
            <a:lvl8pPr>
              <a:defRPr sz="2775" b="1">
                <a:solidFill>
                  <a:srgbClr val="6860A5"/>
                </a:solidFill>
              </a:defRPr>
            </a:lvl8pPr>
            <a:lvl9pPr>
              <a:defRPr sz="2775" b="1">
                <a:solidFill>
                  <a:srgbClr val="6860A5"/>
                </a:solidFill>
              </a:defRPr>
            </a:lvl9pPr>
          </a:lstStyle>
          <a:p xmlns:a="http://schemas.openxmlformats.org/drawingml/2006/main">
            <a:pPr>
              <a:defRPr sz="2775" b="1">
                <a:solidFill>
                  <a:srgbClr val="6860A5"/>
                </a:solidFill>
              </a:defRPr>
            </a:pPr>
            <a:r>
              <a:rPr sz="2775" b="1">
                <a:solidFill>
                  <a:srgbClr val="6860A5"/>
                </a:solidFill>
              </a:rPr>
              <a:t>Example: a takeaway cup</a:t>
            </a:r>
          </a:p>
        </p:txBody>
      </p:sp>
      <p:sp>
        <p:nvSpPr>
          <p:cNvPr id="6" name="">
            <a:extLst xmlns:a="http://schemas.openxmlformats.org/drawingml/2006/main">
              <a:ext uri="{FF2B5EF4-FFF2-40B4-BE49-F238E27FC236}">
                <a16:creationId xmlns:a16="http://schemas.microsoft.com/office/drawing/2014/main" id="{01589F30-9ED8-4E86-B00D-3EDB0257D575}"/>
              </a:ext>
            </a:extLst>
          </p:cNvPr>
          <p:cNvSpPr>
            <a:spLocks xmlns:a="http://schemas.openxmlformats.org/drawingml/2006/main" noGrp="1"/>
          </p:cNvSpPr>
          <p:nvPr/>
        </p:nvSpPr>
        <p:spPr>
          <a:xfrm xmlns:a="http://schemas.openxmlformats.org/drawingml/2006/main">
            <a:off x="619125" y="3000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What the app asks</a:t>
            </a:r>
          </a:p>
        </p:txBody>
      </p:sp>
      <p:sp>
        <p:nvSpPr>
          <p:cNvPr id="7" name="">
            <a:extLst xmlns:a="http://schemas.openxmlformats.org/drawingml/2006/main">
              <a:ext uri="{FF2B5EF4-FFF2-40B4-BE49-F238E27FC236}">
                <a16:creationId xmlns:a16="http://schemas.microsoft.com/office/drawing/2014/main" id="{34003211-57C4-421A-AB0E-39F078AFEF1A}"/>
              </a:ext>
            </a:extLst>
          </p:cNvPr>
          <p:cNvSpPr>
            <a:spLocks xmlns:a="http://schemas.openxmlformats.org/drawingml/2006/main" noGrp="1"/>
          </p:cNvSpPr>
          <p:nvPr/>
        </p:nvSpPr>
        <p:spPr>
          <a:xfrm xmlns:a="http://schemas.openxmlformats.org/drawingml/2006/main">
            <a:off x="619125" y="3619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Does it have a lining? Is there residue? Does it need special handling?</a:t>
            </a:r>
          </a:p>
        </p:txBody>
      </p:sp>
      <p:sp>
        <p:nvSpPr>
          <p:cNvPr id="8" name="">
            <a:extLst xmlns:a="http://schemas.openxmlformats.org/drawingml/2006/main">
              <a:ext uri="{FF2B5EF4-FFF2-40B4-BE49-F238E27FC236}">
                <a16:creationId xmlns:a16="http://schemas.microsoft.com/office/drawing/2014/main" id="{257BBB5F-4B34-4962-958D-E66EBACDFB02}"/>
              </a:ext>
            </a:extLst>
          </p:cNvPr>
          <p:cNvSpPr>
            <a:spLocks xmlns:a="http://schemas.openxmlformats.org/drawingml/2006/main" noGrp="1"/>
          </p:cNvSpPr>
          <p:nvPr/>
        </p:nvSpPr>
        <p:spPr>
          <a:xfrm xmlns:a="http://schemas.openxmlformats.org/drawingml/2006/main">
            <a:off x="6667500" y="3000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What the resident controls</a:t>
            </a:r>
          </a:p>
        </p:txBody>
      </p:sp>
      <p:sp>
        <p:nvSpPr>
          <p:cNvPr id="9" name="">
            <a:extLst xmlns:a="http://schemas.openxmlformats.org/drawingml/2006/main">
              <a:ext uri="{FF2B5EF4-FFF2-40B4-BE49-F238E27FC236}">
                <a16:creationId xmlns:a16="http://schemas.microsoft.com/office/drawing/2014/main" id="{0296D6FE-C9D1-4295-AC96-3273BE7279D5}"/>
              </a:ext>
            </a:extLst>
          </p:cNvPr>
          <p:cNvSpPr>
            <a:spLocks xmlns:a="http://schemas.openxmlformats.org/drawingml/2006/main" noGrp="1"/>
          </p:cNvSpPr>
          <p:nvPr/>
        </p:nvSpPr>
        <p:spPr>
          <a:xfrm xmlns:a="http://schemas.openxmlformats.org/drawingml/2006/main">
            <a:off x="6667500" y="3619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Keep or remove suggested items. Correct the material and condition before confirming.</a:t>
            </a:r>
          </a:p>
        </p:txBody>
      </p:sp>
      <p:sp>
        <p:nvSpPr>
          <p:cNvPr id="10" name="">
            <a:extLst xmlns:a="http://schemas.openxmlformats.org/drawingml/2006/main">
              <a:ext uri="{FF2B5EF4-FFF2-40B4-BE49-F238E27FC236}">
                <a16:creationId xmlns:a16="http://schemas.microsoft.com/office/drawing/2014/main" id="{24BA5D32-7560-4E6D-A88A-FE1A72A7848F}"/>
              </a:ext>
            </a:extLst>
          </p:cNvPr>
          <p:cNvSpPr>
            <a:spLocks xmlns:a="http://schemas.openxmlformats.org/drawingml/2006/main" noGrp="1"/>
          </p:cNvSpPr>
          <p:nvPr/>
        </p:nvSpPr>
        <p:spPr>
          <a:xfrm xmlns:a="http://schemas.openxmlformats.org/drawingml/2006/main">
            <a:off x="619125" y="542925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93F30"/>
                </a:solidFill>
              </a:defRPr>
            </a:defPPr>
            <a:lvl1pPr>
              <a:defRPr sz="2175" b="1">
                <a:solidFill>
                  <a:srgbClr val="193F30"/>
                </a:solidFill>
              </a:defRPr>
            </a:lvl1pPr>
            <a:lvl2pPr>
              <a:defRPr sz="2175" b="1">
                <a:solidFill>
                  <a:srgbClr val="193F30"/>
                </a:solidFill>
              </a:defRPr>
            </a:lvl2pPr>
            <a:lvl3pPr>
              <a:defRPr sz="2175" b="1">
                <a:solidFill>
                  <a:srgbClr val="193F30"/>
                </a:solidFill>
              </a:defRPr>
            </a:lvl3pPr>
            <a:lvl4pPr>
              <a:defRPr sz="2175" b="1">
                <a:solidFill>
                  <a:srgbClr val="193F30"/>
                </a:solidFill>
              </a:defRPr>
            </a:lvl4pPr>
            <a:lvl5pPr>
              <a:defRPr sz="2175" b="1">
                <a:solidFill>
                  <a:srgbClr val="193F30"/>
                </a:solidFill>
              </a:defRPr>
            </a:lvl5pPr>
            <a:lvl6pPr>
              <a:defRPr sz="2175" b="1">
                <a:solidFill>
                  <a:srgbClr val="193F30"/>
                </a:solidFill>
              </a:defRPr>
            </a:lvl6pPr>
            <a:lvl7pPr>
              <a:defRPr sz="2175" b="1">
                <a:solidFill>
                  <a:srgbClr val="193F30"/>
                </a:solidFill>
              </a:defRPr>
            </a:lvl7pPr>
            <a:lvl8pPr>
              <a:defRPr sz="2175" b="1">
                <a:solidFill>
                  <a:srgbClr val="193F30"/>
                </a:solidFill>
              </a:defRPr>
            </a:lvl8pPr>
            <a:lvl9pPr>
              <a:defRPr sz="2175" b="1">
                <a:solidFill>
                  <a:srgbClr val="193F30"/>
                </a:solidFill>
              </a:defRPr>
            </a:lvl9pPr>
          </a:lstStyle>
          <a:p xmlns:a="http://schemas.openxmlformats.org/drawingml/2006/main">
            <a:pPr>
              <a:defRPr sz="2175" b="1">
                <a:solidFill>
                  <a:srgbClr val="193F30"/>
                </a:solidFill>
              </a:defRPr>
            </a:pPr>
            <a:r>
              <a:rPr sz="2175" b="1">
                <a:solidFill>
                  <a:srgbClr val="193F30"/>
                </a:solidFill>
              </a:rPr>
              <a:t>Unclear or specialist waste does not enter ordinary instant pickup.</a:t>
            </a:r>
          </a:p>
        </p:txBody>
      </p:sp>
    </p:spTree>
    <p:extLst>
      <p:ext uri="{BB962C8B-B14F-4D97-AF65-F5344CB8AC3E}">
        <p14:creationId xmlns:p14="http://schemas.microsoft.com/office/powerpoint/2010/main" val="228460201"/>
      </p:ext>
    </p:extLst>
  </p:cSld>
</p:sld>
</file>

<file path=ppt/slides/slide6.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81A98343-3F09-4661-B304-66A803CAE0B6}"/>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Scheduling starts immediately after confirmation</a:t>
            </a:r>
          </a:p>
        </p:txBody>
      </p:sp>
      <p:sp>
        <p:nvSpPr>
          <p:cNvPr id="3" name="">
            <a:extLst xmlns:a="http://schemas.openxmlformats.org/drawingml/2006/main">
              <a:ext uri="{FF2B5EF4-FFF2-40B4-BE49-F238E27FC236}">
                <a16:creationId xmlns:a16="http://schemas.microsoft.com/office/drawing/2014/main" id="{202A251D-0E91-4F13-A8A0-AD24C75ACAA7}"/>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C5BCCE67-4BC2-4BDA-ACD5-4D9F5B97E44D}"/>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06</a:t>
            </a:r>
          </a:p>
        </p:txBody>
      </p:sp>
      <p:sp>
        <p:nvSpPr>
          <p:cNvPr id="5" name="">
            <a:extLst xmlns:a="http://schemas.openxmlformats.org/drawingml/2006/main">
              <a:ext uri="{FF2B5EF4-FFF2-40B4-BE49-F238E27FC236}">
                <a16:creationId xmlns:a16="http://schemas.microsoft.com/office/drawing/2014/main" id="{9201CF6C-083F-4BB7-85FD-B892EF095715}"/>
              </a:ext>
            </a:extLst>
          </p:cNvPr>
          <p:cNvSpPr>
            <a:spLocks xmlns:a="http://schemas.openxmlformats.org/drawingml/2006/main" noGrp="1"/>
          </p:cNvSpPr>
          <p:nvPr/>
        </p:nvSpPr>
        <p:spPr>
          <a:xfrm xmlns:a="http://schemas.openxmlformats.org/drawingml/2006/main">
            <a:off x="619125" y="2000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Less repeated entry</a:t>
            </a:r>
          </a:p>
        </p:txBody>
      </p:sp>
      <p:sp>
        <p:nvSpPr>
          <p:cNvPr id="6" name="">
            <a:extLst xmlns:a="http://schemas.openxmlformats.org/drawingml/2006/main">
              <a:ext uri="{FF2B5EF4-FFF2-40B4-BE49-F238E27FC236}">
                <a16:creationId xmlns:a16="http://schemas.microsoft.com/office/drawing/2014/main" id="{EE8E7D39-60B9-475F-99F5-95C1D209986F}"/>
              </a:ext>
            </a:extLst>
          </p:cNvPr>
          <p:cNvSpPr>
            <a:spLocks xmlns:a="http://schemas.openxmlformats.org/drawingml/2006/main" noGrp="1"/>
          </p:cNvSpPr>
          <p:nvPr/>
        </p:nvSpPr>
        <p:spPr>
          <a:xfrm xmlns:a="http://schemas.openxmlformats.org/drawingml/2006/main">
            <a:off x="619125" y="26193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The saved address, available plan and reward credits load into the pickup form. “Use last pickup” reuses regular items and preferences.</a:t>
            </a:r>
          </a:p>
        </p:txBody>
      </p:sp>
      <p:sp>
        <p:nvSpPr>
          <p:cNvPr id="7" name="">
            <a:extLst xmlns:a="http://schemas.openxmlformats.org/drawingml/2006/main">
              <a:ext uri="{FF2B5EF4-FFF2-40B4-BE49-F238E27FC236}">
                <a16:creationId xmlns:a16="http://schemas.microsoft.com/office/drawing/2014/main" id="{934C2198-5932-447E-B57B-9DF1AF127DE5}"/>
              </a:ext>
            </a:extLst>
          </p:cNvPr>
          <p:cNvSpPr>
            <a:spLocks xmlns:a="http://schemas.openxmlformats.org/drawingml/2006/main" noGrp="1"/>
          </p:cNvSpPr>
          <p:nvPr/>
        </p:nvSpPr>
        <p:spPr>
          <a:xfrm xmlns:a="http://schemas.openxmlformats.org/drawingml/2006/main">
            <a:off x="6667500" y="2000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A time the resident chooses</a:t>
            </a:r>
          </a:p>
        </p:txBody>
      </p:sp>
      <p:sp>
        <p:nvSpPr>
          <p:cNvPr id="8" name="">
            <a:extLst xmlns:a="http://schemas.openxmlformats.org/drawingml/2006/main">
              <a:ext uri="{FF2B5EF4-FFF2-40B4-BE49-F238E27FC236}">
                <a16:creationId xmlns:a16="http://schemas.microsoft.com/office/drawing/2014/main" id="{6150D5C4-D45D-4A4D-8FD3-F7B76650B0EF}"/>
              </a:ext>
            </a:extLst>
          </p:cNvPr>
          <p:cNvSpPr>
            <a:spLocks xmlns:a="http://schemas.openxmlformats.org/drawingml/2006/main" noGrp="1"/>
          </p:cNvSpPr>
          <p:nvPr/>
        </p:nvSpPr>
        <p:spPr>
          <a:xfrm xmlns:a="http://schemas.openxmlformats.org/drawingml/2006/main">
            <a:off x="6667500" y="26193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7 am to before 2 pm, or 5 pm through 7 pm, India time. The 2–5 pm break stays unavailable.</a:t>
            </a:r>
          </a:p>
        </p:txBody>
      </p:sp>
      <p:sp>
        <p:nvSpPr>
          <p:cNvPr id="9" name="">
            <a:extLst xmlns:a="http://schemas.openxmlformats.org/drawingml/2006/main">
              <a:ext uri="{FF2B5EF4-FFF2-40B4-BE49-F238E27FC236}">
                <a16:creationId xmlns:a16="http://schemas.microsoft.com/office/drawing/2014/main" id="{17A9B7AE-490E-40B4-B824-A6FE141F9995}"/>
              </a:ext>
            </a:extLst>
          </p:cNvPr>
          <p:cNvSpPr>
            <a:spLocks xmlns:a="http://schemas.openxmlformats.org/drawingml/2006/main" noGrp="1"/>
          </p:cNvSpPr>
          <p:nvPr/>
        </p:nvSpPr>
        <p:spPr>
          <a:xfrm xmlns:a="http://schemas.openxmlformats.org/drawingml/2006/main">
            <a:off x="619125" y="5000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6860A5"/>
                </a:solidFill>
              </a:defRPr>
            </a:defPPr>
            <a:lvl1pPr>
              <a:defRPr sz="2850" b="1">
                <a:solidFill>
                  <a:srgbClr val="6860A5"/>
                </a:solidFill>
              </a:defRPr>
            </a:lvl1pPr>
            <a:lvl2pPr>
              <a:defRPr sz="2850" b="1">
                <a:solidFill>
                  <a:srgbClr val="6860A5"/>
                </a:solidFill>
              </a:defRPr>
            </a:lvl2pPr>
            <a:lvl3pPr>
              <a:defRPr sz="2850" b="1">
                <a:solidFill>
                  <a:srgbClr val="6860A5"/>
                </a:solidFill>
              </a:defRPr>
            </a:lvl3pPr>
            <a:lvl4pPr>
              <a:defRPr sz="2850" b="1">
                <a:solidFill>
                  <a:srgbClr val="6860A5"/>
                </a:solidFill>
              </a:defRPr>
            </a:lvl4pPr>
            <a:lvl5pPr>
              <a:defRPr sz="2850" b="1">
                <a:solidFill>
                  <a:srgbClr val="6860A5"/>
                </a:solidFill>
              </a:defRPr>
            </a:lvl5pPr>
            <a:lvl6pPr>
              <a:defRPr sz="2850" b="1">
                <a:solidFill>
                  <a:srgbClr val="6860A5"/>
                </a:solidFill>
              </a:defRPr>
            </a:lvl6pPr>
            <a:lvl7pPr>
              <a:defRPr sz="2850" b="1">
                <a:solidFill>
                  <a:srgbClr val="6860A5"/>
                </a:solidFill>
              </a:defRPr>
            </a:lvl7pPr>
            <a:lvl8pPr>
              <a:defRPr sz="2850" b="1">
                <a:solidFill>
                  <a:srgbClr val="6860A5"/>
                </a:solidFill>
              </a:defRPr>
            </a:lvl8pPr>
            <a:lvl9pPr>
              <a:defRPr sz="2850" b="1">
                <a:solidFill>
                  <a:srgbClr val="6860A5"/>
                </a:solidFill>
              </a:defRPr>
            </a:lvl9pPr>
          </a:lstStyle>
          <a:p xmlns:a="http://schemas.openxmlformats.org/drawingml/2006/main">
            <a:pPr>
              <a:defRPr sz="2850" b="1">
                <a:solidFill>
                  <a:srgbClr val="6860A5"/>
                </a:solidFill>
              </a:defRPr>
            </a:pPr>
            <a:r>
              <a:rPr sz="2850" b="1">
                <a:solidFill>
                  <a:srgbClr val="6860A5"/>
                </a:solidFill>
              </a:rPr>
              <a:t>No scale needed at home</a:t>
            </a:r>
          </a:p>
        </p:txBody>
      </p:sp>
      <p:sp>
        <p:nvSpPr>
          <p:cNvPr id="10" name="">
            <a:extLst xmlns:a="http://schemas.openxmlformats.org/drawingml/2006/main">
              <a:ext uri="{FF2B5EF4-FFF2-40B4-BE49-F238E27FC236}">
                <a16:creationId xmlns:a16="http://schemas.microsoft.com/office/drawing/2014/main" id="{94F9873D-04FC-4875-95DA-D7196AAB3576}"/>
              </a:ext>
            </a:extLst>
          </p:cNvPr>
          <p:cNvSpPr>
            <a:spLocks xmlns:a="http://schemas.openxmlformats.org/drawingml/2006/main" noGrp="1"/>
          </p:cNvSpPr>
          <p:nvPr/>
        </p:nvSpPr>
        <p:spPr>
          <a:xfrm xmlns:a="http://schemas.openxmlformats.org/drawingml/2006/main">
            <a:off x="619125" y="56673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The helper records weight at collection. The resident never enters an estimate.</a:t>
            </a:r>
          </a:p>
        </p:txBody>
      </p:sp>
    </p:spTree>
    <p:extLst>
      <p:ext uri="{BB962C8B-B14F-4D97-AF65-F5344CB8AC3E}">
        <p14:creationId xmlns:p14="http://schemas.microsoft.com/office/powerpoint/2010/main" val="1060604689"/>
      </p:ext>
    </p:extLst>
  </p:cSld>
</p:sld>
</file>

<file path=ppt/slides/slide7.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61A3459-C7C2-43B7-BF03-F31F9FF78F39}"/>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Three ways to pay for collection</a:t>
            </a:r>
          </a:p>
        </p:txBody>
      </p:sp>
      <p:sp>
        <p:nvSpPr>
          <p:cNvPr id="3" name="">
            <a:extLst xmlns:a="http://schemas.openxmlformats.org/drawingml/2006/main">
              <a:ext uri="{FF2B5EF4-FFF2-40B4-BE49-F238E27FC236}">
                <a16:creationId xmlns:a16="http://schemas.microsoft.com/office/drawing/2014/main" id="{95740D5B-9A66-45CA-A40B-C01D04AB105D}"/>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8F8887C8-CA38-4B7A-B88E-D345CAE5404B}"/>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07</a:t>
            </a:r>
          </a:p>
        </p:txBody>
      </p:sp>
      <p:graphicFrame>
        <p:nvGraphicFramePr>
          <p:cNvPr id="5" name="">
            <a:extLst xmlns:a="http://schemas.openxmlformats.org/drawingml/2006/main">
              <a:ext uri="{FF2B5EF4-FFF2-40B4-BE49-F238E27FC236}">
                <a16:creationId xmlns:a16="http://schemas.microsoft.com/office/drawing/2014/main" id="{7B852951-ACF8-4A37-9524-8E12877197BA}"/>
              </a:ext>
            </a:extLst>
          </p:cNvPr>
          <p:cNvGraphicFramePr/>
          <p:nvPr/>
        </p:nvGraphicFramePr>
        <p:xfrm>
          <a:off xmlns:a="http://schemas.openxmlformats.org/drawingml/2006/main" x="619125" y="1762125"/>
          <a:ext xmlns:a="http://schemas.openxmlformats.org/drawingml/2006/main" cx="10953750" cy="3429000"/>
        </p:xfrm>
        <a:graphic xmlns:a="http://schemas.openxmlformats.org/drawingml/2006/main">
          <a:graphicData uri="http://schemas.openxmlformats.org/drawingml/2006/table">
            <a:tbl>
              <a:tblPr/>
              <a:tblGrid>
                <a:gridCol w="3143250"/>
                <a:gridCol w="2571750"/>
                <a:gridCol w="2619375"/>
                <a:gridCol w="2619375"/>
              </a:tblGrid>
              <a:tr h="571500">
                <a:tc>
                  <a:txBody>
                    <a:bodyPr/>
                    <a:lstStyle/>
                    <a:p>
                      <a:r>
                        <a:rPr sz="2025" b="1">
                          <a:solidFill>
                            <a:srgbClr val="FFFFFF"/>
                          </a:solidFill>
                        </a:rPr>
                        <a:t/>
                      </a:r>
                    </a:p>
                  </a:txBody>
                  <a:tcPr marL="91440" marR="91440" marT="45720" marB="45720">
                    <a:lnL w="0">
                      <a:noFill/>
                    </a:lnL>
                    <a:lnR w="0">
                      <a:noFill/>
                    </a:lnR>
                    <a:lnT w="0">
                      <a:noFill/>
                    </a:lnT>
                    <a:lnB w="0">
                      <a:noFill/>
                    </a:lnB>
                    <a:solidFill>
                      <a:srgbClr val="193F30"/>
                    </a:solidFill>
                  </a:tcPr>
                </a:tc>
                <a:tc>
                  <a:txBody>
                    <a:bodyPr/>
                    <a:lstStyle/>
                    <a:p>
                      <a:r>
                        <a:rPr sz="2025" b="1">
                          <a:solidFill>
                            <a:srgbClr val="FFFFFF"/>
                          </a:solidFill>
                        </a:rPr>
                        <a:t>Basic</a:t>
                      </a:r>
                    </a:p>
                  </a:txBody>
                  <a:tcPr marL="91440" marR="91440" marT="45720" marB="45720">
                    <a:lnR w="0">
                      <a:noFill/>
                    </a:lnR>
                    <a:lnT w="0">
                      <a:noFill/>
                    </a:lnT>
                    <a:lnB w="0">
                      <a:noFill/>
                    </a:lnB>
                    <a:solidFill>
                      <a:srgbClr val="193F30"/>
                    </a:solidFill>
                  </a:tcPr>
                </a:tc>
                <a:tc>
                  <a:txBody>
                    <a:bodyPr/>
                    <a:lstStyle/>
                    <a:p>
                      <a:r>
                        <a:rPr sz="2025" b="1">
                          <a:solidFill>
                            <a:srgbClr val="FFFFFF"/>
                          </a:solidFill>
                        </a:rPr>
                        <a:t>Gold</a:t>
                      </a:r>
                    </a:p>
                  </a:txBody>
                  <a:tcPr marL="91440" marR="91440" marT="45720" marB="45720">
                    <a:lnR w="0">
                      <a:noFill/>
                    </a:lnR>
                    <a:lnT w="0">
                      <a:noFill/>
                    </a:lnT>
                    <a:lnB w="0">
                      <a:noFill/>
                    </a:lnB>
                    <a:solidFill>
                      <a:srgbClr val="193F30"/>
                    </a:solidFill>
                  </a:tcPr>
                </a:tc>
                <a:tc>
                  <a:txBody>
                    <a:bodyPr/>
                    <a:lstStyle/>
                    <a:p>
                      <a:r>
                        <a:rPr sz="2025" b="1">
                          <a:solidFill>
                            <a:srgbClr val="FFFFFF"/>
                          </a:solidFill>
                        </a:rPr>
                        <a:t>Platinum</a:t>
                      </a:r>
                    </a:p>
                  </a:txBody>
                  <a:tcPr marL="91440" marR="91440" marT="45720" marB="45720">
                    <a:lnR w="0">
                      <a:noFill/>
                    </a:lnR>
                    <a:lnT w="0">
                      <a:noFill/>
                    </a:lnT>
                    <a:lnB w="0">
                      <a:noFill/>
                    </a:lnB>
                    <a:solidFill>
                      <a:srgbClr val="193F30"/>
                    </a:solidFill>
                  </a:tcPr>
                </a:tc>
              </a:tr>
              <a:tr h="571500">
                <a:tc>
                  <a:txBody>
                    <a:bodyPr/>
                    <a:lstStyle/>
                    <a:p>
                      <a:r>
                        <a:rPr sz="1800" b="1">
                          <a:solidFill>
                            <a:srgbClr val="193F30"/>
                          </a:solidFill>
                        </a:rPr>
                        <a:t>Price</a:t>
                      </a:r>
                    </a:p>
                  </a:txBody>
                  <a:tcPr marL="91440" marR="91440" marT="45720" marB="45720">
                    <a:lnL w="0">
                      <a:noFill/>
                    </a:lnL>
                    <a:lnR w="0">
                      <a:noFill/>
                    </a:lnR>
                    <a:lnB w="0">
                      <a:noFill/>
                    </a:lnB>
                    <a:solidFill>
                      <a:srgbClr val="F7F8F3"/>
                    </a:solidFill>
                  </a:tcPr>
                </a:tc>
                <a:tc>
                  <a:txBody>
                    <a:bodyPr/>
                    <a:lstStyle/>
                    <a:p>
                      <a:r>
                        <a:rPr sz="1800" b="0">
                          <a:solidFill>
                            <a:srgbClr val="193F30"/>
                          </a:solidFill>
                        </a:rPr>
                        <a:t>₹15 / pickup</a:t>
                      </a:r>
                    </a:p>
                  </a:txBody>
                  <a:tcPr marL="91440" marR="91440" marT="45720" marB="45720">
                    <a:lnR w="0">
                      <a:noFill/>
                    </a:lnR>
                    <a:lnB w="0">
                      <a:noFill/>
                    </a:lnB>
                    <a:solidFill>
                      <a:srgbClr val="F7F8F3"/>
                    </a:solidFill>
                  </a:tcPr>
                </a:tc>
                <a:tc>
                  <a:txBody>
                    <a:bodyPr/>
                    <a:lstStyle/>
                    <a:p>
                      <a:r>
                        <a:rPr sz="1800" b="0">
                          <a:solidFill>
                            <a:srgbClr val="193F30"/>
                          </a:solidFill>
                        </a:rPr>
                        <a:t>₹599 / month</a:t>
                      </a:r>
                    </a:p>
                  </a:txBody>
                  <a:tcPr marL="91440" marR="91440" marT="45720" marB="45720">
                    <a:lnR w="0">
                      <a:noFill/>
                    </a:lnR>
                    <a:lnB w="0">
                      <a:noFill/>
                    </a:lnB>
                    <a:solidFill>
                      <a:srgbClr val="F7F8F3"/>
                    </a:solidFill>
                  </a:tcPr>
                </a:tc>
                <a:tc>
                  <a:txBody>
                    <a:bodyPr/>
                    <a:lstStyle/>
                    <a:p>
                      <a:r>
                        <a:rPr sz="1800" b="0">
                          <a:solidFill>
                            <a:srgbClr val="193F30"/>
                          </a:solidFill>
                        </a:rPr>
                        <a:t>₹699 / month</a:t>
                      </a:r>
                    </a:p>
                  </a:txBody>
                  <a:tcPr marL="91440" marR="91440" marT="45720" marB="45720">
                    <a:lnR w="0">
                      <a:noFill/>
                    </a:lnR>
                    <a:lnB w="0">
                      <a:noFill/>
                    </a:lnB>
                    <a:solidFill>
                      <a:srgbClr val="F7F8F3"/>
                    </a:solidFill>
                  </a:tcPr>
                </a:tc>
              </a:tr>
              <a:tr h="571500">
                <a:tc>
                  <a:txBody>
                    <a:bodyPr/>
                    <a:lstStyle/>
                    <a:p>
                      <a:r>
                        <a:rPr sz="1800" b="1">
                          <a:solidFill>
                            <a:srgbClr val="193F30"/>
                          </a:solidFill>
                        </a:rPr>
                        <a:t>Pickups included</a:t>
                      </a:r>
                    </a:p>
                  </a:txBody>
                  <a:tcPr marL="91440" marR="91440" marT="45720" marB="45720">
                    <a:lnL w="0">
                      <a:noFill/>
                    </a:lnL>
                    <a:lnR w="0">
                      <a:noFill/>
                    </a:lnR>
                    <a:lnB w="0">
                      <a:noFill/>
                    </a:lnB>
                    <a:solidFill>
                      <a:srgbClr val="EDF1E7"/>
                    </a:solidFill>
                  </a:tcPr>
                </a:tc>
                <a:tc>
                  <a:txBody>
                    <a:bodyPr/>
                    <a:lstStyle/>
                    <a:p>
                      <a:r>
                        <a:rPr sz="1800" b="0">
                          <a:solidFill>
                            <a:srgbClr val="193F30"/>
                          </a:solidFill>
                        </a:rPr>
                        <a:t>1</a:t>
                      </a:r>
                    </a:p>
                  </a:txBody>
                  <a:tcPr marL="91440" marR="91440" marT="45720" marB="45720">
                    <a:lnR w="0">
                      <a:noFill/>
                    </a:lnR>
                    <a:lnB w="0">
                      <a:noFill/>
                    </a:lnB>
                    <a:solidFill>
                      <a:srgbClr val="EDF1E7"/>
                    </a:solidFill>
                  </a:tcPr>
                </a:tc>
                <a:tc>
                  <a:txBody>
                    <a:bodyPr/>
                    <a:lstStyle/>
                    <a:p>
                      <a:r>
                        <a:rPr sz="1800" b="0">
                          <a:solidFill>
                            <a:srgbClr val="193F30"/>
                          </a:solidFill>
                        </a:rPr>
                        <a:t>14</a:t>
                      </a:r>
                    </a:p>
                  </a:txBody>
                  <a:tcPr marL="91440" marR="91440" marT="45720" marB="45720">
                    <a:lnR w="0">
                      <a:noFill/>
                    </a:lnR>
                    <a:lnB w="0">
                      <a:noFill/>
                    </a:lnB>
                    <a:solidFill>
                      <a:srgbClr val="EDF1E7"/>
                    </a:solidFill>
                  </a:tcPr>
                </a:tc>
                <a:tc>
                  <a:txBody>
                    <a:bodyPr/>
                    <a:lstStyle/>
                    <a:p>
                      <a:r>
                        <a:rPr sz="1800" b="0">
                          <a:solidFill>
                            <a:srgbClr val="193F30"/>
                          </a:solidFill>
                        </a:rPr>
                        <a:t>24</a:t>
                      </a:r>
                    </a:p>
                  </a:txBody>
                  <a:tcPr marL="91440" marR="91440" marT="45720" marB="45720">
                    <a:lnR w="0">
                      <a:noFill/>
                    </a:lnR>
                    <a:lnB w="0">
                      <a:noFill/>
                    </a:lnB>
                    <a:solidFill>
                      <a:srgbClr val="EDF1E7"/>
                    </a:solidFill>
                  </a:tcPr>
                </a:tc>
              </a:tr>
              <a:tr h="571500">
                <a:tc>
                  <a:txBody>
                    <a:bodyPr/>
                    <a:lstStyle/>
                    <a:p>
                      <a:r>
                        <a:rPr sz="1800" b="1">
                          <a:solidFill>
                            <a:srgbClr val="193F30"/>
                          </a:solidFill>
                        </a:rPr>
                        <a:t>Limit per pickup</a:t>
                      </a:r>
                    </a:p>
                  </a:txBody>
                  <a:tcPr marL="91440" marR="91440" marT="45720" marB="45720">
                    <a:lnL w="0">
                      <a:noFill/>
                    </a:lnL>
                    <a:lnR w="0">
                      <a:noFill/>
                    </a:lnR>
                    <a:lnB w="0">
                      <a:noFill/>
                    </a:lnB>
                    <a:solidFill>
                      <a:srgbClr val="F7F8F3"/>
                    </a:solidFill>
                  </a:tcPr>
                </a:tc>
                <a:tc>
                  <a:txBody>
                    <a:bodyPr/>
                    <a:lstStyle/>
                    <a:p>
                      <a:r>
                        <a:rPr sz="1800" b="0">
                          <a:solidFill>
                            <a:srgbClr val="193F30"/>
                          </a:solidFill>
                        </a:rPr>
                        <a:t>2 kg</a:t>
                      </a:r>
                    </a:p>
                  </a:txBody>
                  <a:tcPr marL="91440" marR="91440" marT="45720" marB="45720">
                    <a:lnR w="0">
                      <a:noFill/>
                    </a:lnR>
                    <a:lnB w="0">
                      <a:noFill/>
                    </a:lnB>
                    <a:solidFill>
                      <a:srgbClr val="F7F8F3"/>
                    </a:solidFill>
                  </a:tcPr>
                </a:tc>
                <a:tc>
                  <a:txBody>
                    <a:bodyPr/>
                    <a:lstStyle/>
                    <a:p>
                      <a:r>
                        <a:rPr sz="1800" b="0">
                          <a:solidFill>
                            <a:srgbClr val="193F30"/>
                          </a:solidFill>
                        </a:rPr>
                        <a:t>8 kg</a:t>
                      </a:r>
                    </a:p>
                  </a:txBody>
                  <a:tcPr marL="91440" marR="91440" marT="45720" marB="45720">
                    <a:lnR w="0">
                      <a:noFill/>
                    </a:lnR>
                    <a:lnB w="0">
                      <a:noFill/>
                    </a:lnB>
                    <a:solidFill>
                      <a:srgbClr val="F7F8F3"/>
                    </a:solidFill>
                  </a:tcPr>
                </a:tc>
                <a:tc>
                  <a:txBody>
                    <a:bodyPr/>
                    <a:lstStyle/>
                    <a:p>
                      <a:r>
                        <a:rPr sz="1800" b="0">
                          <a:solidFill>
                            <a:srgbClr val="193F30"/>
                          </a:solidFill>
                        </a:rPr>
                        <a:t>10 kg</a:t>
                      </a:r>
                    </a:p>
                  </a:txBody>
                  <a:tcPr marL="91440" marR="91440" marT="45720" marB="45720">
                    <a:lnR w="0">
                      <a:noFill/>
                    </a:lnR>
                    <a:lnB w="0">
                      <a:noFill/>
                    </a:lnB>
                    <a:solidFill>
                      <a:srgbClr val="F7F8F3"/>
                    </a:solidFill>
                  </a:tcPr>
                </a:tc>
              </a:tr>
              <a:tr h="571500">
                <a:tc>
                  <a:txBody>
                    <a:bodyPr/>
                    <a:lstStyle/>
                    <a:p>
                      <a:r>
                        <a:rPr sz="1800" b="1">
                          <a:solidFill>
                            <a:srgbClr val="193F30"/>
                          </a:solidFill>
                        </a:rPr>
                        <a:t>Monthly allowance</a:t>
                      </a:r>
                    </a:p>
                  </a:txBody>
                  <a:tcPr marL="91440" marR="91440" marT="45720" marB="45720">
                    <a:lnL w="0">
                      <a:noFill/>
                    </a:lnL>
                    <a:lnR w="0">
                      <a:noFill/>
                    </a:lnR>
                    <a:lnB w="0">
                      <a:noFill/>
                    </a:lnB>
                    <a:solidFill>
                      <a:srgbClr val="EDF1E7"/>
                    </a:solidFill>
                  </a:tcPr>
                </a:tc>
                <a:tc>
                  <a:txBody>
                    <a:bodyPr/>
                    <a:lstStyle/>
                    <a:p>
                      <a:r>
                        <a:rPr sz="1800" b="0">
                          <a:solidFill>
                            <a:srgbClr val="193F30"/>
                          </a:solidFill>
                        </a:rPr>
                        <a:t>Pay per pickup</a:t>
                      </a:r>
                    </a:p>
                  </a:txBody>
                  <a:tcPr marL="91440" marR="91440" marT="45720" marB="45720">
                    <a:lnR w="0">
                      <a:noFill/>
                    </a:lnR>
                    <a:lnB w="0">
                      <a:noFill/>
                    </a:lnB>
                    <a:solidFill>
                      <a:srgbClr val="EDF1E7"/>
                    </a:solidFill>
                  </a:tcPr>
                </a:tc>
                <a:tc>
                  <a:txBody>
                    <a:bodyPr/>
                    <a:lstStyle/>
                    <a:p>
                      <a:r>
                        <a:rPr sz="1800" b="0">
                          <a:solidFill>
                            <a:srgbClr val="193F30"/>
                          </a:solidFill>
                        </a:rPr>
                        <a:t>112 kg</a:t>
                      </a:r>
                    </a:p>
                  </a:txBody>
                  <a:tcPr marL="91440" marR="91440" marT="45720" marB="45720">
                    <a:lnR w="0">
                      <a:noFill/>
                    </a:lnR>
                    <a:lnB w="0">
                      <a:noFill/>
                    </a:lnB>
                    <a:solidFill>
                      <a:srgbClr val="EDF1E7"/>
                    </a:solidFill>
                  </a:tcPr>
                </a:tc>
                <a:tc>
                  <a:txBody>
                    <a:bodyPr/>
                    <a:lstStyle/>
                    <a:p>
                      <a:r>
                        <a:rPr sz="1800" b="0">
                          <a:solidFill>
                            <a:srgbClr val="193F30"/>
                          </a:solidFill>
                        </a:rPr>
                        <a:t>240 kg</a:t>
                      </a:r>
                    </a:p>
                  </a:txBody>
                  <a:tcPr marL="91440" marR="91440" marT="45720" marB="45720">
                    <a:lnR w="0">
                      <a:noFill/>
                    </a:lnR>
                    <a:lnB w="0">
                      <a:noFill/>
                    </a:lnB>
                    <a:solidFill>
                      <a:srgbClr val="EDF1E7"/>
                    </a:solidFill>
                  </a:tcPr>
                </a:tc>
              </a:tr>
              <a:tr h="571500">
                <a:tc>
                  <a:txBody>
                    <a:bodyPr/>
                    <a:lstStyle/>
                    <a:p>
                      <a:r>
                        <a:rPr sz="1800" b="1">
                          <a:solidFill>
                            <a:srgbClr val="193F30"/>
                          </a:solidFill>
                        </a:rPr>
                        <a:t>Recovery share</a:t>
                      </a:r>
                    </a:p>
                  </a:txBody>
                  <a:tcPr marL="91440" marR="91440" marT="45720" marB="45720">
                    <a:lnL w="0">
                      <a:noFill/>
                    </a:lnL>
                    <a:lnR w="0">
                      <a:noFill/>
                    </a:lnR>
                    <a:lnB w="0">
                      <a:noFill/>
                    </a:lnB>
                    <a:solidFill>
                      <a:srgbClr val="F7F8F3"/>
                    </a:solidFill>
                  </a:tcPr>
                </a:tc>
                <a:tc>
                  <a:txBody>
                    <a:bodyPr/>
                    <a:lstStyle/>
                    <a:p>
                      <a:r>
                        <a:rPr sz="1800" b="0">
                          <a:solidFill>
                            <a:srgbClr val="193F30"/>
                          </a:solidFill>
                        </a:rPr>
                        <a:t>None</a:t>
                      </a:r>
                    </a:p>
                  </a:txBody>
                  <a:tcPr marL="91440" marR="91440" marT="45720" marB="45720">
                    <a:lnR w="0">
                      <a:noFill/>
                    </a:lnR>
                    <a:lnB w="0">
                      <a:noFill/>
                    </a:lnB>
                    <a:solidFill>
                      <a:srgbClr val="F7F8F3"/>
                    </a:solidFill>
                  </a:tcPr>
                </a:tc>
                <a:tc>
                  <a:txBody>
                    <a:bodyPr/>
                    <a:lstStyle/>
                    <a:p>
                      <a:r>
                        <a:rPr sz="1800" b="0">
                          <a:solidFill>
                            <a:srgbClr val="193F30"/>
                          </a:solidFill>
                        </a:rPr>
                        <a:t>10%</a:t>
                      </a:r>
                    </a:p>
                  </a:txBody>
                  <a:tcPr marL="91440" marR="91440" marT="45720" marB="45720">
                    <a:lnR w="0">
                      <a:noFill/>
                    </a:lnR>
                    <a:lnB w="0">
                      <a:noFill/>
                    </a:lnB>
                    <a:solidFill>
                      <a:srgbClr val="F7F8F3"/>
                    </a:solidFill>
                  </a:tcPr>
                </a:tc>
                <a:tc>
                  <a:txBody>
                    <a:bodyPr/>
                    <a:lstStyle/>
                    <a:p>
                      <a:r>
                        <a:rPr sz="1800" b="0">
                          <a:solidFill>
                            <a:srgbClr val="193F30"/>
                          </a:solidFill>
                        </a:rPr>
                        <a:t>15%</a:t>
                      </a:r>
                    </a:p>
                  </a:txBody>
                  <a:tcPr marL="91440" marR="91440" marT="45720" marB="45720">
                    <a:lnR w="0">
                      <a:noFill/>
                    </a:lnR>
                    <a:lnB w="0">
                      <a:noFill/>
                    </a:lnB>
                    <a:solidFill>
                      <a:srgbClr val="F7F8F3"/>
                    </a:solidFill>
                  </a:tcPr>
                </a:tc>
              </a:tr>
            </a:tbl>
          </a:graphicData>
        </a:graphic>
      </p:graphicFrame>
      <p:sp>
        <p:nvSpPr>
          <p:cNvPr id="6" name="">
            <a:extLst xmlns:a="http://schemas.openxmlformats.org/drawingml/2006/main">
              <a:ext uri="{FF2B5EF4-FFF2-40B4-BE49-F238E27FC236}">
                <a16:creationId xmlns:a16="http://schemas.microsoft.com/office/drawing/2014/main" id="{EF9426B8-196B-41AD-BDB7-8021DBA1580B}"/>
              </a:ext>
            </a:extLst>
          </p:cNvPr>
          <p:cNvSpPr>
            <a:spLocks xmlns:a="http://schemas.openxmlformats.org/drawingml/2006/main" noGrp="1"/>
          </p:cNvSpPr>
          <p:nvPr/>
        </p:nvSpPr>
        <p:spPr>
          <a:xfrm xmlns:a="http://schemas.openxmlformats.org/drawingml/2006/main">
            <a:off x="619125" y="54292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17468"/>
                </a:solidFill>
              </a:defRPr>
            </a:defPPr>
            <a:lvl1pPr>
              <a:defRPr sz="1725" b="0">
                <a:solidFill>
                  <a:srgbClr val="617468"/>
                </a:solidFill>
              </a:defRPr>
            </a:lvl1pPr>
            <a:lvl2pPr>
              <a:defRPr sz="1725" b="0">
                <a:solidFill>
                  <a:srgbClr val="617468"/>
                </a:solidFill>
              </a:defRPr>
            </a:lvl2pPr>
            <a:lvl3pPr>
              <a:defRPr sz="1725" b="0">
                <a:solidFill>
                  <a:srgbClr val="617468"/>
                </a:solidFill>
              </a:defRPr>
            </a:lvl3pPr>
            <a:lvl4pPr>
              <a:defRPr sz="1725" b="0">
                <a:solidFill>
                  <a:srgbClr val="617468"/>
                </a:solidFill>
              </a:defRPr>
            </a:lvl4pPr>
            <a:lvl5pPr>
              <a:defRPr sz="1725" b="0">
                <a:solidFill>
                  <a:srgbClr val="617468"/>
                </a:solidFill>
              </a:defRPr>
            </a:lvl5pPr>
            <a:lvl6pPr>
              <a:defRPr sz="1725" b="0">
                <a:solidFill>
                  <a:srgbClr val="617468"/>
                </a:solidFill>
              </a:defRPr>
            </a:lvl6pPr>
            <a:lvl7pPr>
              <a:defRPr sz="1725" b="0">
                <a:solidFill>
                  <a:srgbClr val="617468"/>
                </a:solidFill>
              </a:defRPr>
            </a:lvl7pPr>
            <a:lvl8pPr>
              <a:defRPr sz="1725" b="0">
                <a:solidFill>
                  <a:srgbClr val="617468"/>
                </a:solidFill>
              </a:defRPr>
            </a:lvl8pPr>
            <a:lvl9pPr>
              <a:defRPr sz="1725" b="0">
                <a:solidFill>
                  <a:srgbClr val="617468"/>
                </a:solidFill>
              </a:defRPr>
            </a:lvl9pPr>
          </a:lstStyle>
          <a:p xmlns:a="http://schemas.openxmlformats.org/drawingml/2006/main">
            <a:pPr>
              <a:defRPr sz="1725" b="0">
                <a:solidFill>
                  <a:srgbClr val="617468"/>
                </a:solidFill>
              </a:defRPr>
            </a:pPr>
            <a:r>
              <a:rPr sz="1725" b="0">
                <a:solidFill>
                  <a:srgbClr val="617468"/>
                </a:solidFill>
              </a:rPr>
              <a:t>Monthly passes renew manually. Weight limits include metal.</a:t>
            </a:r>
          </a:p>
        </p:txBody>
      </p:sp>
      <p:sp>
        <p:nvSpPr>
          <p:cNvPr id="7" name="">
            <a:extLst xmlns:a="http://schemas.openxmlformats.org/drawingml/2006/main">
              <a:ext uri="{FF2B5EF4-FFF2-40B4-BE49-F238E27FC236}">
                <a16:creationId xmlns:a16="http://schemas.microsoft.com/office/drawing/2014/main" id="{5BF15293-EE20-4C7D-A386-7041E70D9753}"/>
              </a:ext>
            </a:extLst>
          </p:cNvPr>
          <p:cNvSpPr>
            <a:spLocks xmlns:a="http://schemas.openxmlformats.org/drawingml/2006/main" noGrp="1"/>
          </p:cNvSpPr>
          <p:nvPr/>
        </p:nvSpPr>
        <p:spPr>
          <a:xfrm xmlns:a="http://schemas.openxmlformats.org/drawingml/2006/main">
            <a:off x="619125" y="58578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617468"/>
                </a:solidFill>
              </a:defRPr>
            </a:defPPr>
            <a:lvl1pPr>
              <a:defRPr sz="1575" b="0">
                <a:solidFill>
                  <a:srgbClr val="617468"/>
                </a:solidFill>
              </a:defRPr>
            </a:lvl1pPr>
            <a:lvl2pPr>
              <a:defRPr sz="1575" b="0">
                <a:solidFill>
                  <a:srgbClr val="617468"/>
                </a:solidFill>
              </a:defRPr>
            </a:lvl2pPr>
            <a:lvl3pPr>
              <a:defRPr sz="1575" b="0">
                <a:solidFill>
                  <a:srgbClr val="617468"/>
                </a:solidFill>
              </a:defRPr>
            </a:lvl3pPr>
            <a:lvl4pPr>
              <a:defRPr sz="1575" b="0">
                <a:solidFill>
                  <a:srgbClr val="617468"/>
                </a:solidFill>
              </a:defRPr>
            </a:lvl4pPr>
            <a:lvl5pPr>
              <a:defRPr sz="1575" b="0">
                <a:solidFill>
                  <a:srgbClr val="617468"/>
                </a:solidFill>
              </a:defRPr>
            </a:lvl5pPr>
            <a:lvl6pPr>
              <a:defRPr sz="1575" b="0">
                <a:solidFill>
                  <a:srgbClr val="617468"/>
                </a:solidFill>
              </a:defRPr>
            </a:lvl6pPr>
            <a:lvl7pPr>
              <a:defRPr sz="1575" b="0">
                <a:solidFill>
                  <a:srgbClr val="617468"/>
                </a:solidFill>
              </a:defRPr>
            </a:lvl7pPr>
            <a:lvl8pPr>
              <a:defRPr sz="1575" b="0">
                <a:solidFill>
                  <a:srgbClr val="617468"/>
                </a:solidFill>
              </a:defRPr>
            </a:lvl8pPr>
            <a:lvl9pPr>
              <a:defRPr sz="1575" b="0">
                <a:solidFill>
                  <a:srgbClr val="617468"/>
                </a:solidFill>
              </a:defRPr>
            </a:lvl9pPr>
          </a:lstStyle>
          <a:p xmlns:a="http://schemas.openxmlformats.org/drawingml/2006/main">
            <a:pPr>
              <a:defRPr sz="1575" b="0">
                <a:solidFill>
                  <a:srgbClr val="617468"/>
                </a:solidFill>
              </a:defRPr>
            </a:pPr>
            <a:r>
              <a:rPr sz="1575" b="0">
                <a:solidFill>
                  <a:srgbClr val="617468"/>
                </a:solidFill>
              </a:rPr>
              <a:t>Recovery shares apply to positive net proceeds from accepted material, after documented direct costs.</a:t>
            </a:r>
          </a:p>
        </p:txBody>
      </p:sp>
    </p:spTree>
    <p:extLst>
      <p:ext uri="{BB962C8B-B14F-4D97-AF65-F5344CB8AC3E}">
        <p14:creationId xmlns:p14="http://schemas.microsoft.com/office/powerpoint/2010/main" val="1498304983"/>
      </p:ext>
    </p:extLst>
  </p:cSld>
</p:sld>
</file>

<file path=ppt/slides/slide8.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71AD0F-31E2-426A-AE89-CE4F406BE365}"/>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A clear price before and after collection</a:t>
            </a:r>
          </a:p>
        </p:txBody>
      </p:sp>
      <p:sp>
        <p:nvSpPr>
          <p:cNvPr id="3" name="">
            <a:extLst xmlns:a="http://schemas.openxmlformats.org/drawingml/2006/main">
              <a:ext uri="{FF2B5EF4-FFF2-40B4-BE49-F238E27FC236}">
                <a16:creationId xmlns:a16="http://schemas.microsoft.com/office/drawing/2014/main" id="{E85E3771-C62C-413A-9DDB-5F528CABD049}"/>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4656D7A7-F70E-401F-9678-0E9935278862}"/>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08</a:t>
            </a:r>
          </a:p>
        </p:txBody>
      </p:sp>
      <p:sp>
        <p:nvSpPr>
          <p:cNvPr id="5" name="">
            <a:extLst xmlns:a="http://schemas.openxmlformats.org/drawingml/2006/main">
              <a:ext uri="{FF2B5EF4-FFF2-40B4-BE49-F238E27FC236}">
                <a16:creationId xmlns:a16="http://schemas.microsoft.com/office/drawing/2014/main" id="{6DA79EAF-B759-464F-880D-E433163852AB}"/>
              </a:ext>
            </a:extLst>
          </p:cNvPr>
          <p:cNvSpPr>
            <a:spLocks xmlns:a="http://schemas.openxmlformats.org/drawingml/2006/main" noGrp="1"/>
          </p:cNvSpPr>
          <p:nvPr/>
        </p:nvSpPr>
        <p:spPr>
          <a:xfrm xmlns:a="http://schemas.openxmlformats.org/drawingml/2006/main">
            <a:off x="619125" y="176212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6860A5"/>
                </a:solidFill>
              </a:defRPr>
            </a:defPPr>
            <a:lvl1pPr>
              <a:defRPr sz="2550" b="1">
                <a:solidFill>
                  <a:srgbClr val="6860A5"/>
                </a:solidFill>
              </a:defRPr>
            </a:lvl1pPr>
            <a:lvl2pPr>
              <a:defRPr sz="2550" b="1">
                <a:solidFill>
                  <a:srgbClr val="6860A5"/>
                </a:solidFill>
              </a:defRPr>
            </a:lvl2pPr>
            <a:lvl3pPr>
              <a:defRPr sz="2550" b="1">
                <a:solidFill>
                  <a:srgbClr val="6860A5"/>
                </a:solidFill>
              </a:defRPr>
            </a:lvl3pPr>
            <a:lvl4pPr>
              <a:defRPr sz="2550" b="1">
                <a:solidFill>
                  <a:srgbClr val="6860A5"/>
                </a:solidFill>
              </a:defRPr>
            </a:lvl4pPr>
            <a:lvl5pPr>
              <a:defRPr sz="2550" b="1">
                <a:solidFill>
                  <a:srgbClr val="6860A5"/>
                </a:solidFill>
              </a:defRPr>
            </a:lvl5pPr>
            <a:lvl6pPr>
              <a:defRPr sz="2550" b="1">
                <a:solidFill>
                  <a:srgbClr val="6860A5"/>
                </a:solidFill>
              </a:defRPr>
            </a:lvl6pPr>
            <a:lvl7pPr>
              <a:defRPr sz="2550" b="1">
                <a:solidFill>
                  <a:srgbClr val="6860A5"/>
                </a:solidFill>
              </a:defRPr>
            </a:lvl7pPr>
            <a:lvl8pPr>
              <a:defRPr sz="2550" b="1">
                <a:solidFill>
                  <a:srgbClr val="6860A5"/>
                </a:solidFill>
              </a:defRPr>
            </a:lvl8pPr>
            <a:lvl9pPr>
              <a:defRPr sz="2550" b="1">
                <a:solidFill>
                  <a:srgbClr val="6860A5"/>
                </a:solidFill>
              </a:defRPr>
            </a:lvl9pPr>
          </a:lstStyle>
          <a:p xmlns:a="http://schemas.openxmlformats.org/drawingml/2006/main">
            <a:pPr>
              <a:defRPr sz="2550" b="1">
                <a:solidFill>
                  <a:srgbClr val="6860A5"/>
                </a:solidFill>
              </a:defRPr>
            </a:pPr>
            <a:r>
              <a:rPr sz="2550" b="1">
                <a:solidFill>
                  <a:srgbClr val="6860A5"/>
                </a:solidFill>
              </a:rPr>
              <a:t>Example: Basic pickup at 10 am</a:t>
            </a:r>
          </a:p>
        </p:txBody>
      </p:sp>
      <p:sp>
        <p:nvSpPr>
          <p:cNvPr id="6" name="">
            <a:extLst xmlns:a="http://schemas.openxmlformats.org/drawingml/2006/main">
              <a:ext uri="{FF2B5EF4-FFF2-40B4-BE49-F238E27FC236}">
                <a16:creationId xmlns:a16="http://schemas.microsoft.com/office/drawing/2014/main" id="{CF1E3BF5-4EC7-4F8D-A1CE-33132BC77C8E}"/>
              </a:ext>
            </a:extLst>
          </p:cNvPr>
          <p:cNvSpPr>
            <a:spLocks xmlns:a="http://schemas.openxmlformats.org/drawingml/2006/main" noGrp="1"/>
          </p:cNvSpPr>
          <p:nvPr/>
        </p:nvSpPr>
        <p:spPr>
          <a:xfrm xmlns:a="http://schemas.openxmlformats.org/drawingml/2006/main">
            <a:off x="619125" y="26193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3F30"/>
                </a:solidFill>
              </a:defRPr>
            </a:defPPr>
            <a:lvl1pPr>
              <a:defRPr sz="1800" b="1">
                <a:solidFill>
                  <a:srgbClr val="193F30"/>
                </a:solidFill>
              </a:defRPr>
            </a:lvl1pPr>
            <a:lvl2pPr>
              <a:defRPr sz="1800" b="1">
                <a:solidFill>
                  <a:srgbClr val="193F30"/>
                </a:solidFill>
              </a:defRPr>
            </a:lvl2pPr>
            <a:lvl3pPr>
              <a:defRPr sz="1800" b="1">
                <a:solidFill>
                  <a:srgbClr val="193F30"/>
                </a:solidFill>
              </a:defRPr>
            </a:lvl3pPr>
            <a:lvl4pPr>
              <a:defRPr sz="1800" b="1">
                <a:solidFill>
                  <a:srgbClr val="193F30"/>
                </a:solidFill>
              </a:defRPr>
            </a:lvl4pPr>
            <a:lvl5pPr>
              <a:defRPr sz="1800" b="1">
                <a:solidFill>
                  <a:srgbClr val="193F30"/>
                </a:solidFill>
              </a:defRPr>
            </a:lvl5pPr>
            <a:lvl6pPr>
              <a:defRPr sz="1800" b="1">
                <a:solidFill>
                  <a:srgbClr val="193F30"/>
                </a:solidFill>
              </a:defRPr>
            </a:lvl6pPr>
            <a:lvl7pPr>
              <a:defRPr sz="1800" b="1">
                <a:solidFill>
                  <a:srgbClr val="193F30"/>
                </a:solidFill>
              </a:defRPr>
            </a:lvl7pPr>
            <a:lvl8pPr>
              <a:defRPr sz="1800" b="1">
                <a:solidFill>
                  <a:srgbClr val="193F30"/>
                </a:solidFill>
              </a:defRPr>
            </a:lvl8pPr>
            <a:lvl9pPr>
              <a:defRPr sz="1800" b="1">
                <a:solidFill>
                  <a:srgbClr val="193F30"/>
                </a:solidFill>
              </a:defRPr>
            </a:lvl9pPr>
          </a:lstStyle>
          <a:p xmlns:a="http://schemas.openxmlformats.org/drawingml/2006/main">
            <a:pPr>
              <a:defRPr sz="1800" b="1">
                <a:solidFill>
                  <a:srgbClr val="193F30"/>
                </a:solidFill>
              </a:defRPr>
            </a:pPr>
            <a:r>
              <a:rPr sz="1800" b="1">
                <a:solidFill>
                  <a:srgbClr val="193F30"/>
                </a:solidFill>
              </a:rPr>
              <a:t>At booking</a:t>
            </a:r>
          </a:p>
        </p:txBody>
      </p:sp>
      <p:sp>
        <p:nvSpPr>
          <p:cNvPr id="7" name="">
            <a:extLst xmlns:a="http://schemas.openxmlformats.org/drawingml/2006/main">
              <a:ext uri="{FF2B5EF4-FFF2-40B4-BE49-F238E27FC236}">
                <a16:creationId xmlns:a16="http://schemas.microsoft.com/office/drawing/2014/main" id="{C96ECC3A-744B-4051-A6B5-C9B086D5B1ED}"/>
              </a:ext>
            </a:extLst>
          </p:cNvPr>
          <p:cNvSpPr>
            <a:spLocks xmlns:a="http://schemas.openxmlformats.org/drawingml/2006/main" noGrp="1"/>
          </p:cNvSpPr>
          <p:nvPr/>
        </p:nvSpPr>
        <p:spPr>
          <a:xfrm xmlns:a="http://schemas.openxmlformats.org/drawingml/2006/main">
            <a:off x="2952750" y="26193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68"/>
                </a:solidFill>
              </a:defRPr>
            </a:defPPr>
            <a:lvl1pPr>
              <a:defRPr sz="1800" b="0">
                <a:solidFill>
                  <a:srgbClr val="617468"/>
                </a:solidFill>
              </a:defRPr>
            </a:lvl1pPr>
            <a:lvl2pPr>
              <a:defRPr sz="1800" b="0">
                <a:solidFill>
                  <a:srgbClr val="617468"/>
                </a:solidFill>
              </a:defRPr>
            </a:lvl2pPr>
            <a:lvl3pPr>
              <a:defRPr sz="1800" b="0">
                <a:solidFill>
                  <a:srgbClr val="617468"/>
                </a:solidFill>
              </a:defRPr>
            </a:lvl3pPr>
            <a:lvl4pPr>
              <a:defRPr sz="1800" b="0">
                <a:solidFill>
                  <a:srgbClr val="617468"/>
                </a:solidFill>
              </a:defRPr>
            </a:lvl4pPr>
            <a:lvl5pPr>
              <a:defRPr sz="1800" b="0">
                <a:solidFill>
                  <a:srgbClr val="617468"/>
                </a:solidFill>
              </a:defRPr>
            </a:lvl5pPr>
            <a:lvl6pPr>
              <a:defRPr sz="1800" b="0">
                <a:solidFill>
                  <a:srgbClr val="617468"/>
                </a:solidFill>
              </a:defRPr>
            </a:lvl6pPr>
            <a:lvl7pPr>
              <a:defRPr sz="1800" b="0">
                <a:solidFill>
                  <a:srgbClr val="617468"/>
                </a:solidFill>
              </a:defRPr>
            </a:lvl7pPr>
            <a:lvl8pPr>
              <a:defRPr sz="1800" b="0">
                <a:solidFill>
                  <a:srgbClr val="617468"/>
                </a:solidFill>
              </a:defRPr>
            </a:lvl8pPr>
            <a:lvl9pPr>
              <a:defRPr sz="1800" b="0">
                <a:solidFill>
                  <a:srgbClr val="617468"/>
                </a:solidFill>
              </a:defRPr>
            </a:lvl9pPr>
          </a:lstStyle>
          <a:p xmlns:a="http://schemas.openxmlformats.org/drawingml/2006/main">
            <a:pPr>
              <a:defRPr sz="1800" b="0">
                <a:solidFill>
                  <a:srgbClr val="617468"/>
                </a:solidFill>
              </a:defRPr>
            </a:pPr>
            <a:r>
              <a:rPr sz="1800" b="0">
                <a:solidFill>
                  <a:srgbClr val="617468"/>
                </a:solidFill>
              </a:rPr>
              <a:t>Pickup fee</a:t>
            </a:r>
          </a:p>
        </p:txBody>
      </p:sp>
      <p:sp>
        <p:nvSpPr>
          <p:cNvPr id="8" name="">
            <a:extLst xmlns:a="http://schemas.openxmlformats.org/drawingml/2006/main">
              <a:ext uri="{FF2B5EF4-FFF2-40B4-BE49-F238E27FC236}">
                <a16:creationId xmlns:a16="http://schemas.microsoft.com/office/drawing/2014/main" id="{C1A42C9B-4A4B-43CB-B29D-5DCE30F8D862}"/>
              </a:ext>
            </a:extLst>
          </p:cNvPr>
          <p:cNvSpPr>
            <a:spLocks xmlns:a="http://schemas.openxmlformats.org/drawingml/2006/main" noGrp="1"/>
          </p:cNvSpPr>
          <p:nvPr/>
        </p:nvSpPr>
        <p:spPr>
          <a:xfrm xmlns:a="http://schemas.openxmlformats.org/drawingml/2006/main">
            <a:off x="8953500" y="2619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6860A5"/>
                </a:solidFill>
              </a:defRPr>
            </a:defPPr>
            <a:lvl1pPr>
              <a:defRPr sz="1950" b="1">
                <a:solidFill>
                  <a:srgbClr val="6860A5"/>
                </a:solidFill>
              </a:defRPr>
            </a:lvl1pPr>
            <a:lvl2pPr>
              <a:defRPr sz="1950" b="1">
                <a:solidFill>
                  <a:srgbClr val="6860A5"/>
                </a:solidFill>
              </a:defRPr>
            </a:lvl2pPr>
            <a:lvl3pPr>
              <a:defRPr sz="1950" b="1">
                <a:solidFill>
                  <a:srgbClr val="6860A5"/>
                </a:solidFill>
              </a:defRPr>
            </a:lvl3pPr>
            <a:lvl4pPr>
              <a:defRPr sz="1950" b="1">
                <a:solidFill>
                  <a:srgbClr val="6860A5"/>
                </a:solidFill>
              </a:defRPr>
            </a:lvl4pPr>
            <a:lvl5pPr>
              <a:defRPr sz="1950" b="1">
                <a:solidFill>
                  <a:srgbClr val="6860A5"/>
                </a:solidFill>
              </a:defRPr>
            </a:lvl5pPr>
            <a:lvl6pPr>
              <a:defRPr sz="1950" b="1">
                <a:solidFill>
                  <a:srgbClr val="6860A5"/>
                </a:solidFill>
              </a:defRPr>
            </a:lvl6pPr>
            <a:lvl7pPr>
              <a:defRPr sz="1950" b="1">
                <a:solidFill>
                  <a:srgbClr val="6860A5"/>
                </a:solidFill>
              </a:defRPr>
            </a:lvl7pPr>
            <a:lvl8pPr>
              <a:defRPr sz="1950" b="1">
                <a:solidFill>
                  <a:srgbClr val="6860A5"/>
                </a:solidFill>
              </a:defRPr>
            </a:lvl8pPr>
            <a:lvl9pPr>
              <a:defRPr sz="1950" b="1">
                <a:solidFill>
                  <a:srgbClr val="6860A5"/>
                </a:solidFill>
              </a:defRPr>
            </a:lvl9pPr>
          </a:lstStyle>
          <a:p xmlns:a="http://schemas.openxmlformats.org/drawingml/2006/main">
            <a:pPr>
              <a:defRPr sz="1950" b="1">
                <a:solidFill>
                  <a:srgbClr val="6860A5"/>
                </a:solidFill>
              </a:defRPr>
            </a:pPr>
            <a:r>
              <a:rPr sz="1950" b="1">
                <a:solidFill>
                  <a:srgbClr val="6860A5"/>
                </a:solidFill>
              </a:rPr>
              <a:t>₹15</a:t>
            </a:r>
          </a:p>
        </p:txBody>
      </p:sp>
      <p:sp>
        <p:nvSpPr>
          <p:cNvPr id="9" name="">
            <a:extLst xmlns:a="http://schemas.openxmlformats.org/drawingml/2006/main">
              <a:ext uri="{FF2B5EF4-FFF2-40B4-BE49-F238E27FC236}">
                <a16:creationId xmlns:a16="http://schemas.microsoft.com/office/drawing/2014/main" id="{CEDEE331-CDC6-4FCC-AB33-9A9E9C45A17A}"/>
              </a:ext>
            </a:extLst>
          </p:cNvPr>
          <p:cNvSpPr>
            <a:spLocks xmlns:a="http://schemas.openxmlformats.org/drawingml/2006/main" noGrp="1"/>
          </p:cNvSpPr>
          <p:nvPr/>
        </p:nvSpPr>
        <p:spPr>
          <a:xfrm xmlns:a="http://schemas.openxmlformats.org/drawingml/2006/main">
            <a:off x="619125" y="33051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3F30"/>
                </a:solidFill>
              </a:defRPr>
            </a:defPPr>
            <a:lvl1pPr>
              <a:defRPr sz="1800" b="1">
                <a:solidFill>
                  <a:srgbClr val="193F30"/>
                </a:solidFill>
              </a:defRPr>
            </a:lvl1pPr>
            <a:lvl2pPr>
              <a:defRPr sz="1800" b="1">
                <a:solidFill>
                  <a:srgbClr val="193F30"/>
                </a:solidFill>
              </a:defRPr>
            </a:lvl2pPr>
            <a:lvl3pPr>
              <a:defRPr sz="1800" b="1">
                <a:solidFill>
                  <a:srgbClr val="193F30"/>
                </a:solidFill>
              </a:defRPr>
            </a:lvl3pPr>
            <a:lvl4pPr>
              <a:defRPr sz="1800" b="1">
                <a:solidFill>
                  <a:srgbClr val="193F30"/>
                </a:solidFill>
              </a:defRPr>
            </a:lvl4pPr>
            <a:lvl5pPr>
              <a:defRPr sz="1800" b="1">
                <a:solidFill>
                  <a:srgbClr val="193F30"/>
                </a:solidFill>
              </a:defRPr>
            </a:lvl5pPr>
            <a:lvl6pPr>
              <a:defRPr sz="1800" b="1">
                <a:solidFill>
                  <a:srgbClr val="193F30"/>
                </a:solidFill>
              </a:defRPr>
            </a:lvl6pPr>
            <a:lvl7pPr>
              <a:defRPr sz="1800" b="1">
                <a:solidFill>
                  <a:srgbClr val="193F30"/>
                </a:solidFill>
              </a:defRPr>
            </a:lvl7pPr>
            <a:lvl8pPr>
              <a:defRPr sz="1800" b="1">
                <a:solidFill>
                  <a:srgbClr val="193F30"/>
                </a:solidFill>
              </a:defRPr>
            </a:lvl8pPr>
            <a:lvl9pPr>
              <a:defRPr sz="1800" b="1">
                <a:solidFill>
                  <a:srgbClr val="193F30"/>
                </a:solidFill>
              </a:defRPr>
            </a:lvl9pPr>
          </a:lstStyle>
          <a:p xmlns:a="http://schemas.openxmlformats.org/drawingml/2006/main">
            <a:pPr>
              <a:defRPr sz="1800" b="1">
                <a:solidFill>
                  <a:srgbClr val="193F30"/>
                </a:solidFill>
              </a:defRPr>
            </a:pPr>
            <a:r>
              <a:rPr sz="1800" b="1">
                <a:solidFill>
                  <a:srgbClr val="193F30"/>
                </a:solidFill>
              </a:rPr>
              <a:t>At collection</a:t>
            </a:r>
          </a:p>
        </p:txBody>
      </p:sp>
      <p:sp>
        <p:nvSpPr>
          <p:cNvPr id="10" name="">
            <a:extLst xmlns:a="http://schemas.openxmlformats.org/drawingml/2006/main">
              <a:ext uri="{FF2B5EF4-FFF2-40B4-BE49-F238E27FC236}">
                <a16:creationId xmlns:a16="http://schemas.microsoft.com/office/drawing/2014/main" id="{1611DF92-436C-4234-BDBE-880C5BA0A32B}"/>
              </a:ext>
            </a:extLst>
          </p:cNvPr>
          <p:cNvSpPr>
            <a:spLocks xmlns:a="http://schemas.openxmlformats.org/drawingml/2006/main" noGrp="1"/>
          </p:cNvSpPr>
          <p:nvPr/>
        </p:nvSpPr>
        <p:spPr>
          <a:xfrm xmlns:a="http://schemas.openxmlformats.org/drawingml/2006/main">
            <a:off x="2952750" y="33051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68"/>
                </a:solidFill>
              </a:defRPr>
            </a:defPPr>
            <a:lvl1pPr>
              <a:defRPr sz="1800" b="0">
                <a:solidFill>
                  <a:srgbClr val="617468"/>
                </a:solidFill>
              </a:defRPr>
            </a:lvl1pPr>
            <a:lvl2pPr>
              <a:defRPr sz="1800" b="0">
                <a:solidFill>
                  <a:srgbClr val="617468"/>
                </a:solidFill>
              </a:defRPr>
            </a:lvl2pPr>
            <a:lvl3pPr>
              <a:defRPr sz="1800" b="0">
                <a:solidFill>
                  <a:srgbClr val="617468"/>
                </a:solidFill>
              </a:defRPr>
            </a:lvl3pPr>
            <a:lvl4pPr>
              <a:defRPr sz="1800" b="0">
                <a:solidFill>
                  <a:srgbClr val="617468"/>
                </a:solidFill>
              </a:defRPr>
            </a:lvl4pPr>
            <a:lvl5pPr>
              <a:defRPr sz="1800" b="0">
                <a:solidFill>
                  <a:srgbClr val="617468"/>
                </a:solidFill>
              </a:defRPr>
            </a:lvl5pPr>
            <a:lvl6pPr>
              <a:defRPr sz="1800" b="0">
                <a:solidFill>
                  <a:srgbClr val="617468"/>
                </a:solidFill>
              </a:defRPr>
            </a:lvl6pPr>
            <a:lvl7pPr>
              <a:defRPr sz="1800" b="0">
                <a:solidFill>
                  <a:srgbClr val="617468"/>
                </a:solidFill>
              </a:defRPr>
            </a:lvl7pPr>
            <a:lvl8pPr>
              <a:defRPr sz="1800" b="0">
                <a:solidFill>
                  <a:srgbClr val="617468"/>
                </a:solidFill>
              </a:defRPr>
            </a:lvl8pPr>
            <a:lvl9pPr>
              <a:defRPr sz="1800" b="0">
                <a:solidFill>
                  <a:srgbClr val="617468"/>
                </a:solidFill>
              </a:defRPr>
            </a:lvl9pPr>
          </a:lstStyle>
          <a:p xmlns:a="http://schemas.openxmlformats.org/drawingml/2006/main">
            <a:pPr>
              <a:defRPr sz="1800" b="0">
                <a:solidFill>
                  <a:srgbClr val="617468"/>
                </a:solidFill>
              </a:defRPr>
            </a:pPr>
            <a:r>
              <a:rPr sz="1800" b="0">
                <a:solidFill>
                  <a:srgbClr val="617468"/>
                </a:solidFill>
              </a:rPr>
              <a:t>Helper measures 2 kg of unsegregated waste</a:t>
            </a:r>
          </a:p>
        </p:txBody>
      </p:sp>
      <p:sp>
        <p:nvSpPr>
          <p:cNvPr id="11" name="">
            <a:extLst xmlns:a="http://schemas.openxmlformats.org/drawingml/2006/main">
              <a:ext uri="{FF2B5EF4-FFF2-40B4-BE49-F238E27FC236}">
                <a16:creationId xmlns:a16="http://schemas.microsoft.com/office/drawing/2014/main" id="{CBD600F1-D5C2-40E2-8429-1C75B5BDD97B}"/>
              </a:ext>
            </a:extLst>
          </p:cNvPr>
          <p:cNvSpPr>
            <a:spLocks xmlns:a="http://schemas.openxmlformats.org/drawingml/2006/main" noGrp="1"/>
          </p:cNvSpPr>
          <p:nvPr/>
        </p:nvSpPr>
        <p:spPr>
          <a:xfrm xmlns:a="http://schemas.openxmlformats.org/drawingml/2006/main">
            <a:off x="8953500" y="33051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6860A5"/>
                </a:solidFill>
              </a:defRPr>
            </a:defPPr>
            <a:lvl1pPr>
              <a:defRPr sz="1950" b="1">
                <a:solidFill>
                  <a:srgbClr val="6860A5"/>
                </a:solidFill>
              </a:defRPr>
            </a:lvl1pPr>
            <a:lvl2pPr>
              <a:defRPr sz="1950" b="1">
                <a:solidFill>
                  <a:srgbClr val="6860A5"/>
                </a:solidFill>
              </a:defRPr>
            </a:lvl2pPr>
            <a:lvl3pPr>
              <a:defRPr sz="1950" b="1">
                <a:solidFill>
                  <a:srgbClr val="6860A5"/>
                </a:solidFill>
              </a:defRPr>
            </a:lvl3pPr>
            <a:lvl4pPr>
              <a:defRPr sz="1950" b="1">
                <a:solidFill>
                  <a:srgbClr val="6860A5"/>
                </a:solidFill>
              </a:defRPr>
            </a:lvl4pPr>
            <a:lvl5pPr>
              <a:defRPr sz="1950" b="1">
                <a:solidFill>
                  <a:srgbClr val="6860A5"/>
                </a:solidFill>
              </a:defRPr>
            </a:lvl5pPr>
            <a:lvl6pPr>
              <a:defRPr sz="1950" b="1">
                <a:solidFill>
                  <a:srgbClr val="6860A5"/>
                </a:solidFill>
              </a:defRPr>
            </a:lvl6pPr>
            <a:lvl7pPr>
              <a:defRPr sz="1950" b="1">
                <a:solidFill>
                  <a:srgbClr val="6860A5"/>
                </a:solidFill>
              </a:defRPr>
            </a:lvl7pPr>
            <a:lvl8pPr>
              <a:defRPr sz="1950" b="1">
                <a:solidFill>
                  <a:srgbClr val="6860A5"/>
                </a:solidFill>
              </a:defRPr>
            </a:lvl8pPr>
            <a:lvl9pPr>
              <a:defRPr sz="1950" b="1">
                <a:solidFill>
                  <a:srgbClr val="6860A5"/>
                </a:solidFill>
              </a:defRPr>
            </a:lvl9pPr>
          </a:lstStyle>
          <a:p xmlns:a="http://schemas.openxmlformats.org/drawingml/2006/main">
            <a:pPr>
              <a:defRPr sz="1950" b="1">
                <a:solidFill>
                  <a:srgbClr val="6860A5"/>
                </a:solidFill>
              </a:defRPr>
            </a:pPr>
            <a:r>
              <a:rPr sz="1950" b="1">
                <a:solidFill>
                  <a:srgbClr val="6860A5"/>
                </a:solidFill>
              </a:rPr>
              <a:t>2 kg × ₹5 = ₹10</a:t>
            </a:r>
          </a:p>
        </p:txBody>
      </p:sp>
      <p:sp>
        <p:nvSpPr>
          <p:cNvPr id="12" name="">
            <a:extLst xmlns:a="http://schemas.openxmlformats.org/drawingml/2006/main">
              <a:ext uri="{FF2B5EF4-FFF2-40B4-BE49-F238E27FC236}">
                <a16:creationId xmlns:a16="http://schemas.microsoft.com/office/drawing/2014/main" id="{DF242F60-FDFE-41AA-8BC1-B43D86CCAF41}"/>
              </a:ext>
            </a:extLst>
          </p:cNvPr>
          <p:cNvSpPr>
            <a:spLocks xmlns:a="http://schemas.openxmlformats.org/drawingml/2006/main" noGrp="1"/>
          </p:cNvSpPr>
          <p:nvPr/>
        </p:nvSpPr>
        <p:spPr>
          <a:xfrm xmlns:a="http://schemas.openxmlformats.org/drawingml/2006/main">
            <a:off x="619125" y="39909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3F30"/>
                </a:solidFill>
              </a:defRPr>
            </a:defPPr>
            <a:lvl1pPr>
              <a:defRPr sz="1800" b="1">
                <a:solidFill>
                  <a:srgbClr val="193F30"/>
                </a:solidFill>
              </a:defRPr>
            </a:lvl1pPr>
            <a:lvl2pPr>
              <a:defRPr sz="1800" b="1">
                <a:solidFill>
                  <a:srgbClr val="193F30"/>
                </a:solidFill>
              </a:defRPr>
            </a:lvl2pPr>
            <a:lvl3pPr>
              <a:defRPr sz="1800" b="1">
                <a:solidFill>
                  <a:srgbClr val="193F30"/>
                </a:solidFill>
              </a:defRPr>
            </a:lvl3pPr>
            <a:lvl4pPr>
              <a:defRPr sz="1800" b="1">
                <a:solidFill>
                  <a:srgbClr val="193F30"/>
                </a:solidFill>
              </a:defRPr>
            </a:lvl4pPr>
            <a:lvl5pPr>
              <a:defRPr sz="1800" b="1">
                <a:solidFill>
                  <a:srgbClr val="193F30"/>
                </a:solidFill>
              </a:defRPr>
            </a:lvl5pPr>
            <a:lvl6pPr>
              <a:defRPr sz="1800" b="1">
                <a:solidFill>
                  <a:srgbClr val="193F30"/>
                </a:solidFill>
              </a:defRPr>
            </a:lvl6pPr>
            <a:lvl7pPr>
              <a:defRPr sz="1800" b="1">
                <a:solidFill>
                  <a:srgbClr val="193F30"/>
                </a:solidFill>
              </a:defRPr>
            </a:lvl7pPr>
            <a:lvl8pPr>
              <a:defRPr sz="1800" b="1">
                <a:solidFill>
                  <a:srgbClr val="193F30"/>
                </a:solidFill>
              </a:defRPr>
            </a:lvl8pPr>
            <a:lvl9pPr>
              <a:defRPr sz="1800" b="1">
                <a:solidFill>
                  <a:srgbClr val="193F30"/>
                </a:solidFill>
              </a:defRPr>
            </a:lvl9pPr>
          </a:lstStyle>
          <a:p xmlns:a="http://schemas.openxmlformats.org/drawingml/2006/main">
            <a:pPr>
              <a:defRPr sz="1800" b="1">
                <a:solidFill>
                  <a:srgbClr val="193F30"/>
                </a:solidFill>
              </a:defRPr>
            </a:pPr>
            <a:r>
              <a:rPr sz="1800" b="1">
                <a:solidFill>
                  <a:srgbClr val="193F30"/>
                </a:solidFill>
              </a:rPr>
              <a:t>After approval</a:t>
            </a:r>
          </a:p>
        </p:txBody>
      </p:sp>
      <p:sp>
        <p:nvSpPr>
          <p:cNvPr id="13" name="">
            <a:extLst xmlns:a="http://schemas.openxmlformats.org/drawingml/2006/main">
              <a:ext uri="{FF2B5EF4-FFF2-40B4-BE49-F238E27FC236}">
                <a16:creationId xmlns:a16="http://schemas.microsoft.com/office/drawing/2014/main" id="{866000D4-E8C4-4110-B6FF-F001DEA6CB25}"/>
              </a:ext>
            </a:extLst>
          </p:cNvPr>
          <p:cNvSpPr>
            <a:spLocks xmlns:a="http://schemas.openxmlformats.org/drawingml/2006/main" noGrp="1"/>
          </p:cNvSpPr>
          <p:nvPr/>
        </p:nvSpPr>
        <p:spPr>
          <a:xfrm xmlns:a="http://schemas.openxmlformats.org/drawingml/2006/main">
            <a:off x="2952750" y="39909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68"/>
                </a:solidFill>
              </a:defRPr>
            </a:defPPr>
            <a:lvl1pPr>
              <a:defRPr sz="1800" b="0">
                <a:solidFill>
                  <a:srgbClr val="617468"/>
                </a:solidFill>
              </a:defRPr>
            </a:lvl1pPr>
            <a:lvl2pPr>
              <a:defRPr sz="1800" b="0">
                <a:solidFill>
                  <a:srgbClr val="617468"/>
                </a:solidFill>
              </a:defRPr>
            </a:lvl2pPr>
            <a:lvl3pPr>
              <a:defRPr sz="1800" b="0">
                <a:solidFill>
                  <a:srgbClr val="617468"/>
                </a:solidFill>
              </a:defRPr>
            </a:lvl3pPr>
            <a:lvl4pPr>
              <a:defRPr sz="1800" b="0">
                <a:solidFill>
                  <a:srgbClr val="617468"/>
                </a:solidFill>
              </a:defRPr>
            </a:lvl4pPr>
            <a:lvl5pPr>
              <a:defRPr sz="1800" b="0">
                <a:solidFill>
                  <a:srgbClr val="617468"/>
                </a:solidFill>
              </a:defRPr>
            </a:lvl5pPr>
            <a:lvl6pPr>
              <a:defRPr sz="1800" b="0">
                <a:solidFill>
                  <a:srgbClr val="617468"/>
                </a:solidFill>
              </a:defRPr>
            </a:lvl6pPr>
            <a:lvl7pPr>
              <a:defRPr sz="1800" b="0">
                <a:solidFill>
                  <a:srgbClr val="617468"/>
                </a:solidFill>
              </a:defRPr>
            </a:lvl7pPr>
            <a:lvl8pPr>
              <a:defRPr sz="1800" b="0">
                <a:solidFill>
                  <a:srgbClr val="617468"/>
                </a:solidFill>
              </a:defRPr>
            </a:lvl8pPr>
            <a:lvl9pPr>
              <a:defRPr sz="1800" b="0">
                <a:solidFill>
                  <a:srgbClr val="617468"/>
                </a:solidFill>
              </a:defRPr>
            </a:lvl9pPr>
          </a:lstStyle>
          <a:p xmlns:a="http://schemas.openxmlformats.org/drawingml/2006/main">
            <a:pPr>
              <a:defRPr sz="1800" b="0">
                <a:solidFill>
                  <a:srgbClr val="617468"/>
                </a:solidFill>
              </a:defRPr>
            </a:pPr>
            <a:r>
              <a:rPr sz="1800" b="0">
                <a:solidFill>
                  <a:srgbClr val="617468"/>
                </a:solidFill>
              </a:rPr>
              <a:t>Resident approves the measured receipt</a:t>
            </a:r>
          </a:p>
        </p:txBody>
      </p:sp>
      <p:sp>
        <p:nvSpPr>
          <p:cNvPr id="14" name="">
            <a:extLst xmlns:a="http://schemas.openxmlformats.org/drawingml/2006/main">
              <a:ext uri="{FF2B5EF4-FFF2-40B4-BE49-F238E27FC236}">
                <a16:creationId xmlns:a16="http://schemas.microsoft.com/office/drawing/2014/main" id="{6FD703F6-1905-4319-A747-3B6DBD473953}"/>
              </a:ext>
            </a:extLst>
          </p:cNvPr>
          <p:cNvSpPr>
            <a:spLocks xmlns:a="http://schemas.openxmlformats.org/drawingml/2006/main" noGrp="1"/>
          </p:cNvSpPr>
          <p:nvPr/>
        </p:nvSpPr>
        <p:spPr>
          <a:xfrm xmlns:a="http://schemas.openxmlformats.org/drawingml/2006/main">
            <a:off x="8953500" y="39909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6860A5"/>
                </a:solidFill>
              </a:defRPr>
            </a:defPPr>
            <a:lvl1pPr>
              <a:defRPr sz="1950" b="1">
                <a:solidFill>
                  <a:srgbClr val="6860A5"/>
                </a:solidFill>
              </a:defRPr>
            </a:lvl1pPr>
            <a:lvl2pPr>
              <a:defRPr sz="1950" b="1">
                <a:solidFill>
                  <a:srgbClr val="6860A5"/>
                </a:solidFill>
              </a:defRPr>
            </a:lvl2pPr>
            <a:lvl3pPr>
              <a:defRPr sz="1950" b="1">
                <a:solidFill>
                  <a:srgbClr val="6860A5"/>
                </a:solidFill>
              </a:defRPr>
            </a:lvl3pPr>
            <a:lvl4pPr>
              <a:defRPr sz="1950" b="1">
                <a:solidFill>
                  <a:srgbClr val="6860A5"/>
                </a:solidFill>
              </a:defRPr>
            </a:lvl4pPr>
            <a:lvl5pPr>
              <a:defRPr sz="1950" b="1">
                <a:solidFill>
                  <a:srgbClr val="6860A5"/>
                </a:solidFill>
              </a:defRPr>
            </a:lvl5pPr>
            <a:lvl6pPr>
              <a:defRPr sz="1950" b="1">
                <a:solidFill>
                  <a:srgbClr val="6860A5"/>
                </a:solidFill>
              </a:defRPr>
            </a:lvl6pPr>
            <a:lvl7pPr>
              <a:defRPr sz="1950" b="1">
                <a:solidFill>
                  <a:srgbClr val="6860A5"/>
                </a:solidFill>
              </a:defRPr>
            </a:lvl7pPr>
            <a:lvl8pPr>
              <a:defRPr sz="1950" b="1">
                <a:solidFill>
                  <a:srgbClr val="6860A5"/>
                </a:solidFill>
              </a:defRPr>
            </a:lvl8pPr>
            <a:lvl9pPr>
              <a:defRPr sz="1950" b="1">
                <a:solidFill>
                  <a:srgbClr val="6860A5"/>
                </a:solidFill>
              </a:defRPr>
            </a:lvl9pPr>
          </a:lstStyle>
          <a:p xmlns:a="http://schemas.openxmlformats.org/drawingml/2006/main">
            <a:pPr>
              <a:defRPr sz="1950" b="1">
                <a:solidFill>
                  <a:srgbClr val="6860A5"/>
                </a:solidFill>
              </a:defRPr>
            </a:pPr>
            <a:r>
              <a:rPr sz="1950" b="1">
                <a:solidFill>
                  <a:srgbClr val="6860A5"/>
                </a:solidFill>
              </a:rPr>
              <a:t>₹10 extra</a:t>
            </a:r>
          </a:p>
        </p:txBody>
      </p:sp>
      <p:sp>
        <p:nvSpPr>
          <p:cNvPr id="15" name="">
            <a:extLst xmlns:a="http://schemas.openxmlformats.org/drawingml/2006/main">
              <a:ext uri="{FF2B5EF4-FFF2-40B4-BE49-F238E27FC236}">
                <a16:creationId xmlns:a16="http://schemas.microsoft.com/office/drawing/2014/main" id="{A2F85CD9-DB5B-413C-B89F-89CCBBE4C186}"/>
              </a:ext>
            </a:extLst>
          </p:cNvPr>
          <p:cNvSpPr>
            <a:spLocks xmlns:a="http://schemas.openxmlformats.org/drawingml/2006/main" noGrp="1"/>
          </p:cNvSpPr>
          <p:nvPr/>
        </p:nvSpPr>
        <p:spPr>
          <a:xfrm xmlns:a="http://schemas.openxmlformats.org/drawingml/2006/main">
            <a:off x="619125" y="4676775"/>
            <a:ext cx="219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3F30"/>
                </a:solidFill>
              </a:defRPr>
            </a:defPPr>
            <a:lvl1pPr>
              <a:defRPr sz="1800" b="1">
                <a:solidFill>
                  <a:srgbClr val="193F30"/>
                </a:solidFill>
              </a:defRPr>
            </a:lvl1pPr>
            <a:lvl2pPr>
              <a:defRPr sz="1800" b="1">
                <a:solidFill>
                  <a:srgbClr val="193F30"/>
                </a:solidFill>
              </a:defRPr>
            </a:lvl2pPr>
            <a:lvl3pPr>
              <a:defRPr sz="1800" b="1">
                <a:solidFill>
                  <a:srgbClr val="193F30"/>
                </a:solidFill>
              </a:defRPr>
            </a:lvl3pPr>
            <a:lvl4pPr>
              <a:defRPr sz="1800" b="1">
                <a:solidFill>
                  <a:srgbClr val="193F30"/>
                </a:solidFill>
              </a:defRPr>
            </a:lvl4pPr>
            <a:lvl5pPr>
              <a:defRPr sz="1800" b="1">
                <a:solidFill>
                  <a:srgbClr val="193F30"/>
                </a:solidFill>
              </a:defRPr>
            </a:lvl5pPr>
            <a:lvl6pPr>
              <a:defRPr sz="1800" b="1">
                <a:solidFill>
                  <a:srgbClr val="193F30"/>
                </a:solidFill>
              </a:defRPr>
            </a:lvl6pPr>
            <a:lvl7pPr>
              <a:defRPr sz="1800" b="1">
                <a:solidFill>
                  <a:srgbClr val="193F30"/>
                </a:solidFill>
              </a:defRPr>
            </a:lvl7pPr>
            <a:lvl8pPr>
              <a:defRPr sz="1800" b="1">
                <a:solidFill>
                  <a:srgbClr val="193F30"/>
                </a:solidFill>
              </a:defRPr>
            </a:lvl8pPr>
            <a:lvl9pPr>
              <a:defRPr sz="1800" b="1">
                <a:solidFill>
                  <a:srgbClr val="193F30"/>
                </a:solidFill>
              </a:defRPr>
            </a:lvl9pPr>
          </a:lstStyle>
          <a:p xmlns:a="http://schemas.openxmlformats.org/drawingml/2006/main">
            <a:pPr>
              <a:defRPr sz="1800" b="1">
                <a:solidFill>
                  <a:srgbClr val="193F30"/>
                </a:solidFill>
              </a:defRPr>
            </a:pPr>
            <a:r>
              <a:rPr sz="1800" b="1">
                <a:solidFill>
                  <a:srgbClr val="193F30"/>
                </a:solidFill>
              </a:rPr>
              <a:t>Total for this example</a:t>
            </a:r>
          </a:p>
        </p:txBody>
      </p:sp>
      <p:sp>
        <p:nvSpPr>
          <p:cNvPr id="16" name="">
            <a:extLst xmlns:a="http://schemas.openxmlformats.org/drawingml/2006/main">
              <a:ext uri="{FF2B5EF4-FFF2-40B4-BE49-F238E27FC236}">
                <a16:creationId xmlns:a16="http://schemas.microsoft.com/office/drawing/2014/main" id="{8B56C4ED-0911-4C11-BF2E-F68E839DB340}"/>
              </a:ext>
            </a:extLst>
          </p:cNvPr>
          <p:cNvSpPr>
            <a:spLocks xmlns:a="http://schemas.openxmlformats.org/drawingml/2006/main" noGrp="1"/>
          </p:cNvSpPr>
          <p:nvPr/>
        </p:nvSpPr>
        <p:spPr>
          <a:xfrm xmlns:a="http://schemas.openxmlformats.org/drawingml/2006/main">
            <a:off x="2952750" y="4676775"/>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68"/>
                </a:solidFill>
              </a:defRPr>
            </a:defPPr>
            <a:lvl1pPr>
              <a:defRPr sz="1800" b="0">
                <a:solidFill>
                  <a:srgbClr val="617468"/>
                </a:solidFill>
              </a:defRPr>
            </a:lvl1pPr>
            <a:lvl2pPr>
              <a:defRPr sz="1800" b="0">
                <a:solidFill>
                  <a:srgbClr val="617468"/>
                </a:solidFill>
              </a:defRPr>
            </a:lvl2pPr>
            <a:lvl3pPr>
              <a:defRPr sz="1800" b="0">
                <a:solidFill>
                  <a:srgbClr val="617468"/>
                </a:solidFill>
              </a:defRPr>
            </a:lvl3pPr>
            <a:lvl4pPr>
              <a:defRPr sz="1800" b="0">
                <a:solidFill>
                  <a:srgbClr val="617468"/>
                </a:solidFill>
              </a:defRPr>
            </a:lvl4pPr>
            <a:lvl5pPr>
              <a:defRPr sz="1800" b="0">
                <a:solidFill>
                  <a:srgbClr val="617468"/>
                </a:solidFill>
              </a:defRPr>
            </a:lvl5pPr>
            <a:lvl6pPr>
              <a:defRPr sz="1800" b="0">
                <a:solidFill>
                  <a:srgbClr val="617468"/>
                </a:solidFill>
              </a:defRPr>
            </a:lvl6pPr>
            <a:lvl7pPr>
              <a:defRPr sz="1800" b="0">
                <a:solidFill>
                  <a:srgbClr val="617468"/>
                </a:solidFill>
              </a:defRPr>
            </a:lvl7pPr>
            <a:lvl8pPr>
              <a:defRPr sz="1800" b="0">
                <a:solidFill>
                  <a:srgbClr val="617468"/>
                </a:solidFill>
              </a:defRPr>
            </a:lvl8pPr>
            <a:lvl9pPr>
              <a:defRPr sz="1800" b="0">
                <a:solidFill>
                  <a:srgbClr val="617468"/>
                </a:solidFill>
              </a:defRPr>
            </a:lvl9pPr>
          </a:lstStyle>
          <a:p xmlns:a="http://schemas.openxmlformats.org/drawingml/2006/main">
            <a:pPr>
              <a:defRPr sz="1800" b="0">
                <a:solidFill>
                  <a:srgbClr val="617468"/>
                </a:solidFill>
              </a:defRPr>
            </a:pPr>
            <a:r>
              <a:rPr sz="1800" b="0">
                <a:solidFill>
                  <a:srgbClr val="617468"/>
                </a:solidFill>
              </a:rPr>
              <a:t>₹15 pickup + ₹10 sorting</a:t>
            </a:r>
          </a:p>
        </p:txBody>
      </p:sp>
      <p:sp>
        <p:nvSpPr>
          <p:cNvPr id="17" name="">
            <a:extLst xmlns:a="http://schemas.openxmlformats.org/drawingml/2006/main">
              <a:ext uri="{FF2B5EF4-FFF2-40B4-BE49-F238E27FC236}">
                <a16:creationId xmlns:a16="http://schemas.microsoft.com/office/drawing/2014/main" id="{ADDB0BDC-BBA8-49E8-8ED3-A2268EF19C01}"/>
              </a:ext>
            </a:extLst>
          </p:cNvPr>
          <p:cNvSpPr>
            <a:spLocks xmlns:a="http://schemas.openxmlformats.org/drawingml/2006/main" noGrp="1"/>
          </p:cNvSpPr>
          <p:nvPr/>
        </p:nvSpPr>
        <p:spPr>
          <a:xfrm xmlns:a="http://schemas.openxmlformats.org/drawingml/2006/main">
            <a:off x="8953500" y="46767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6860A5"/>
                </a:solidFill>
              </a:defRPr>
            </a:defPPr>
            <a:lvl1pPr>
              <a:defRPr sz="1950" b="1">
                <a:solidFill>
                  <a:srgbClr val="6860A5"/>
                </a:solidFill>
              </a:defRPr>
            </a:lvl1pPr>
            <a:lvl2pPr>
              <a:defRPr sz="1950" b="1">
                <a:solidFill>
                  <a:srgbClr val="6860A5"/>
                </a:solidFill>
              </a:defRPr>
            </a:lvl2pPr>
            <a:lvl3pPr>
              <a:defRPr sz="1950" b="1">
                <a:solidFill>
                  <a:srgbClr val="6860A5"/>
                </a:solidFill>
              </a:defRPr>
            </a:lvl3pPr>
            <a:lvl4pPr>
              <a:defRPr sz="1950" b="1">
                <a:solidFill>
                  <a:srgbClr val="6860A5"/>
                </a:solidFill>
              </a:defRPr>
            </a:lvl4pPr>
            <a:lvl5pPr>
              <a:defRPr sz="1950" b="1">
                <a:solidFill>
                  <a:srgbClr val="6860A5"/>
                </a:solidFill>
              </a:defRPr>
            </a:lvl5pPr>
            <a:lvl6pPr>
              <a:defRPr sz="1950" b="1">
                <a:solidFill>
                  <a:srgbClr val="6860A5"/>
                </a:solidFill>
              </a:defRPr>
            </a:lvl6pPr>
            <a:lvl7pPr>
              <a:defRPr sz="1950" b="1">
                <a:solidFill>
                  <a:srgbClr val="6860A5"/>
                </a:solidFill>
              </a:defRPr>
            </a:lvl7pPr>
            <a:lvl8pPr>
              <a:defRPr sz="1950" b="1">
                <a:solidFill>
                  <a:srgbClr val="6860A5"/>
                </a:solidFill>
              </a:defRPr>
            </a:lvl8pPr>
            <a:lvl9pPr>
              <a:defRPr sz="1950" b="1">
                <a:solidFill>
                  <a:srgbClr val="6860A5"/>
                </a:solidFill>
              </a:defRPr>
            </a:lvl9pPr>
          </a:lstStyle>
          <a:p xmlns:a="http://schemas.openxmlformats.org/drawingml/2006/main">
            <a:pPr>
              <a:defRPr sz="1950" b="1">
                <a:solidFill>
                  <a:srgbClr val="6860A5"/>
                </a:solidFill>
              </a:defRPr>
            </a:pPr>
            <a:r>
              <a:rPr sz="1950" b="1">
                <a:solidFill>
                  <a:srgbClr val="6860A5"/>
                </a:solidFill>
              </a:rPr>
              <a:t>₹25</a:t>
            </a:r>
          </a:p>
        </p:txBody>
      </p:sp>
      <p:sp>
        <p:nvSpPr>
          <p:cNvPr id="18" name="">
            <a:extLst xmlns:a="http://schemas.openxmlformats.org/drawingml/2006/main">
              <a:ext uri="{FF2B5EF4-FFF2-40B4-BE49-F238E27FC236}">
                <a16:creationId xmlns:a16="http://schemas.microsoft.com/office/drawing/2014/main" id="{977B4CB7-006E-4CBF-A783-AC5F39B95CE7}"/>
              </a:ext>
            </a:extLst>
          </p:cNvPr>
          <p:cNvSpPr>
            <a:spLocks xmlns:a="http://schemas.openxmlformats.org/drawingml/2006/main" noGrp="1"/>
          </p:cNvSpPr>
          <p:nvPr/>
        </p:nvSpPr>
        <p:spPr>
          <a:xfrm xmlns:a="http://schemas.openxmlformats.org/drawingml/2006/main">
            <a:off x="619125"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17468"/>
                </a:solidFill>
              </a:defRPr>
            </a:defPPr>
            <a:lvl1pPr>
              <a:defRPr sz="1725" b="0">
                <a:solidFill>
                  <a:srgbClr val="617468"/>
                </a:solidFill>
              </a:defRPr>
            </a:lvl1pPr>
            <a:lvl2pPr>
              <a:defRPr sz="1725" b="0">
                <a:solidFill>
                  <a:srgbClr val="617468"/>
                </a:solidFill>
              </a:defRPr>
            </a:lvl2pPr>
            <a:lvl3pPr>
              <a:defRPr sz="1725" b="0">
                <a:solidFill>
                  <a:srgbClr val="617468"/>
                </a:solidFill>
              </a:defRPr>
            </a:lvl3pPr>
            <a:lvl4pPr>
              <a:defRPr sz="1725" b="0">
                <a:solidFill>
                  <a:srgbClr val="617468"/>
                </a:solidFill>
              </a:defRPr>
            </a:lvl4pPr>
            <a:lvl5pPr>
              <a:defRPr sz="1725" b="0">
                <a:solidFill>
                  <a:srgbClr val="617468"/>
                </a:solidFill>
              </a:defRPr>
            </a:lvl5pPr>
            <a:lvl6pPr>
              <a:defRPr sz="1725" b="0">
                <a:solidFill>
                  <a:srgbClr val="617468"/>
                </a:solidFill>
              </a:defRPr>
            </a:lvl6pPr>
            <a:lvl7pPr>
              <a:defRPr sz="1725" b="0">
                <a:solidFill>
                  <a:srgbClr val="617468"/>
                </a:solidFill>
              </a:defRPr>
            </a:lvl7pPr>
            <a:lvl8pPr>
              <a:defRPr sz="1725" b="0">
                <a:solidFill>
                  <a:srgbClr val="617468"/>
                </a:solidFill>
              </a:defRPr>
            </a:lvl8pPr>
            <a:lvl9pPr>
              <a:defRPr sz="1725" b="0">
                <a:solidFill>
                  <a:srgbClr val="617468"/>
                </a:solidFill>
              </a:defRPr>
            </a:lvl9pPr>
          </a:lstStyle>
          <a:p xmlns:a="http://schemas.openxmlformats.org/drawingml/2006/main">
            <a:pPr>
              <a:defRPr sz="1725" b="0">
                <a:solidFill>
                  <a:srgbClr val="617468"/>
                </a:solidFill>
              </a:defRPr>
            </a:pPr>
            <a:r>
              <a:rPr sz="1725" b="0">
                <a:solidFill>
                  <a:srgbClr val="617468"/>
                </a:solidFill>
              </a:rPr>
              <a:t>Separated waste has no sorting fee. Evening fees add ₹5–₹7. Plans and rewards cover only the base pickup fee.</a:t>
            </a:r>
          </a:p>
        </p:txBody>
      </p:sp>
    </p:spTree>
    <p:extLst>
      <p:ext uri="{BB962C8B-B14F-4D97-AF65-F5344CB8AC3E}">
        <p14:creationId xmlns:p14="http://schemas.microsoft.com/office/powerpoint/2010/main" val="797167763"/>
      </p:ext>
    </p:extLst>
  </p:cSld>
</p:sld>
</file>

<file path=ppt/slides/slide9.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DB9C1B-DA26-4F5C-8C14-5A04F533074D}"/>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Helpers have their own workspace</a:t>
            </a:r>
          </a:p>
        </p:txBody>
      </p:sp>
      <p:sp>
        <p:nvSpPr>
          <p:cNvPr id="3" name="">
            <a:extLst xmlns:a="http://schemas.openxmlformats.org/drawingml/2006/main">
              <a:ext uri="{FF2B5EF4-FFF2-40B4-BE49-F238E27FC236}">
                <a16:creationId xmlns:a16="http://schemas.microsoft.com/office/drawing/2014/main" id="{49406BAC-6A2A-4A41-8AE2-CFBFFC610D16}"/>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55A78C97-ADC0-4F2E-BD43-C186729CF7FC}"/>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09</a:t>
            </a:r>
          </a:p>
        </p:txBody>
      </p:sp>
      <p:sp>
        <p:nvSpPr>
          <p:cNvPr id="5" name="">
            <a:extLst xmlns:a="http://schemas.openxmlformats.org/drawingml/2006/main">
              <a:ext uri="{FF2B5EF4-FFF2-40B4-BE49-F238E27FC236}">
                <a16:creationId xmlns:a16="http://schemas.microsoft.com/office/drawing/2014/main" id="{F880E54A-D6CE-498F-868D-A41430667415}"/>
              </a:ext>
            </a:extLst>
          </p:cNvPr>
          <p:cNvSpPr>
            <a:spLocks xmlns:a="http://schemas.openxmlformats.org/drawingml/2006/main" noGrp="1"/>
          </p:cNvSpPr>
          <p:nvPr/>
        </p:nvSpPr>
        <p:spPr>
          <a:xfrm xmlns:a="http://schemas.openxmlformats.org/drawingml/2006/main">
            <a:off x="619125" y="2000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Collection and verification</a:t>
            </a:r>
          </a:p>
        </p:txBody>
      </p:sp>
      <p:sp>
        <p:nvSpPr>
          <p:cNvPr id="6" name="">
            <a:extLst xmlns:a="http://schemas.openxmlformats.org/drawingml/2006/main">
              <a:ext uri="{FF2B5EF4-FFF2-40B4-BE49-F238E27FC236}">
                <a16:creationId xmlns:a16="http://schemas.microsoft.com/office/drawing/2014/main" id="{3B8BAC61-EDE8-4356-9DA6-915FC3FD24E6}"/>
              </a:ext>
            </a:extLst>
          </p:cNvPr>
          <p:cNvSpPr>
            <a:spLocks xmlns:a="http://schemas.openxmlformats.org/drawingml/2006/main" noGrp="1"/>
          </p:cNvSpPr>
          <p:nvPr/>
        </p:nvSpPr>
        <p:spPr>
          <a:xfrm xmlns:a="http://schemas.openxmlformats.org/drawingml/2006/main">
            <a:off x="619125" y="26193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Approved helpers accept available jobs, verify the material and record gross and container weight.</a:t>
            </a:r>
          </a:p>
        </p:txBody>
      </p:sp>
      <p:sp>
        <p:nvSpPr>
          <p:cNvPr id="7" name="">
            <a:extLst xmlns:a="http://schemas.openxmlformats.org/drawingml/2006/main">
              <a:ext uri="{FF2B5EF4-FFF2-40B4-BE49-F238E27FC236}">
                <a16:creationId xmlns:a16="http://schemas.microsoft.com/office/drawing/2014/main" id="{A4C2DE4B-D2FB-48A9-967B-461CAE8A5971}"/>
              </a:ext>
            </a:extLst>
          </p:cNvPr>
          <p:cNvSpPr>
            <a:spLocks xmlns:a="http://schemas.openxmlformats.org/drawingml/2006/main" noGrp="1"/>
          </p:cNvSpPr>
          <p:nvPr/>
        </p:nvSpPr>
        <p:spPr>
          <a:xfrm xmlns:a="http://schemas.openxmlformats.org/drawingml/2006/main">
            <a:off x="6667500" y="2000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Work and earnings records</a:t>
            </a:r>
          </a:p>
        </p:txBody>
      </p:sp>
      <p:sp>
        <p:nvSpPr>
          <p:cNvPr id="8" name="">
            <a:extLst xmlns:a="http://schemas.openxmlformats.org/drawingml/2006/main">
              <a:ext uri="{FF2B5EF4-FFF2-40B4-BE49-F238E27FC236}">
                <a16:creationId xmlns:a16="http://schemas.microsoft.com/office/drawing/2014/main" id="{CC7E1D70-5615-4A3F-8A3D-7B2831688CF1}"/>
              </a:ext>
            </a:extLst>
          </p:cNvPr>
          <p:cNvSpPr>
            <a:spLocks xmlns:a="http://schemas.openxmlformats.org/drawingml/2006/main" noGrp="1"/>
          </p:cNvSpPr>
          <p:nvPr/>
        </p:nvSpPr>
        <p:spPr>
          <a:xfrm xmlns:a="http://schemas.openxmlformats.org/drawingml/2006/main">
            <a:off x="6667500" y="26193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Helpers track assigned jobs and recorded work payments in English or Hindi.</a:t>
            </a:r>
          </a:p>
        </p:txBody>
      </p:sp>
      <p:sp>
        <p:nvSpPr>
          <p:cNvPr id="9" name="">
            <a:extLst xmlns:a="http://schemas.openxmlformats.org/drawingml/2006/main">
              <a:ext uri="{FF2B5EF4-FFF2-40B4-BE49-F238E27FC236}">
                <a16:creationId xmlns:a16="http://schemas.microsoft.com/office/drawing/2014/main" id="{F4F9923C-4A03-4F49-93C1-0D080A0F443C}"/>
              </a:ext>
            </a:extLst>
          </p:cNvPr>
          <p:cNvSpPr>
            <a:spLocks xmlns:a="http://schemas.openxmlformats.org/drawingml/2006/main" noGrp="1"/>
          </p:cNvSpPr>
          <p:nvPr/>
        </p:nvSpPr>
        <p:spPr>
          <a:xfrm xmlns:a="http://schemas.openxmlformats.org/drawingml/2006/main">
            <a:off x="619125" y="5000625"/>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6860A5"/>
                </a:solidFill>
              </a:defRPr>
            </a:defPPr>
            <a:lvl1pPr>
              <a:defRPr sz="2850" b="1">
                <a:solidFill>
                  <a:srgbClr val="6860A5"/>
                </a:solidFill>
              </a:defRPr>
            </a:lvl1pPr>
            <a:lvl2pPr>
              <a:defRPr sz="2850" b="1">
                <a:solidFill>
                  <a:srgbClr val="6860A5"/>
                </a:solidFill>
              </a:defRPr>
            </a:lvl2pPr>
            <a:lvl3pPr>
              <a:defRPr sz="2850" b="1">
                <a:solidFill>
                  <a:srgbClr val="6860A5"/>
                </a:solidFill>
              </a:defRPr>
            </a:lvl3pPr>
            <a:lvl4pPr>
              <a:defRPr sz="2850" b="1">
                <a:solidFill>
                  <a:srgbClr val="6860A5"/>
                </a:solidFill>
              </a:defRPr>
            </a:lvl4pPr>
            <a:lvl5pPr>
              <a:defRPr sz="2850" b="1">
                <a:solidFill>
                  <a:srgbClr val="6860A5"/>
                </a:solidFill>
              </a:defRPr>
            </a:lvl5pPr>
            <a:lvl6pPr>
              <a:defRPr sz="2850" b="1">
                <a:solidFill>
                  <a:srgbClr val="6860A5"/>
                </a:solidFill>
              </a:defRPr>
            </a:lvl6pPr>
            <a:lvl7pPr>
              <a:defRPr sz="2850" b="1">
                <a:solidFill>
                  <a:srgbClr val="6860A5"/>
                </a:solidFill>
              </a:defRPr>
            </a:lvl7pPr>
            <a:lvl8pPr>
              <a:defRPr sz="2850" b="1">
                <a:solidFill>
                  <a:srgbClr val="6860A5"/>
                </a:solidFill>
              </a:defRPr>
            </a:lvl8pPr>
            <a:lvl9pPr>
              <a:defRPr sz="2850" b="1">
                <a:solidFill>
                  <a:srgbClr val="6860A5"/>
                </a:solidFill>
              </a:defRPr>
            </a:lvl9pPr>
          </a:lstStyle>
          <a:p xmlns:a="http://schemas.openxmlformats.org/drawingml/2006/main">
            <a:pPr>
              <a:defRPr sz="2850" b="1">
                <a:solidFill>
                  <a:srgbClr val="6860A5"/>
                </a:solidFill>
              </a:defRPr>
            </a:pPr>
            <a:r>
              <a:rPr sz="2850" b="1">
                <a:solidFill>
                  <a:srgbClr val="6860A5"/>
                </a:solidFill>
              </a:rPr>
              <a:t>The resident approves the handover</a:t>
            </a:r>
          </a:p>
        </p:txBody>
      </p:sp>
      <p:sp>
        <p:nvSpPr>
          <p:cNvPr id="10" name="">
            <a:extLst xmlns:a="http://schemas.openxmlformats.org/drawingml/2006/main">
              <a:ext uri="{FF2B5EF4-FFF2-40B4-BE49-F238E27FC236}">
                <a16:creationId xmlns:a16="http://schemas.microsoft.com/office/drawing/2014/main" id="{E3BB61E7-02AB-4E87-9F50-640C00BA7E3A}"/>
              </a:ext>
            </a:extLst>
          </p:cNvPr>
          <p:cNvSpPr>
            <a:spLocks xmlns:a="http://schemas.openxmlformats.org/drawingml/2006/main" noGrp="1"/>
          </p:cNvSpPr>
          <p:nvPr/>
        </p:nvSpPr>
        <p:spPr>
          <a:xfrm xmlns:a="http://schemas.openxmlformats.org/drawingml/2006/main">
            <a:off x="619125" y="5667375"/>
            <a:ext cx="10572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617468"/>
                </a:solidFill>
              </a:defRPr>
            </a:defPPr>
            <a:lvl1pPr>
              <a:defRPr sz="1875" b="0">
                <a:solidFill>
                  <a:srgbClr val="617468"/>
                </a:solidFill>
              </a:defRPr>
            </a:lvl1pPr>
            <a:lvl2pPr>
              <a:defRPr sz="1875" b="0">
                <a:solidFill>
                  <a:srgbClr val="617468"/>
                </a:solidFill>
              </a:defRPr>
            </a:lvl2pPr>
            <a:lvl3pPr>
              <a:defRPr sz="1875" b="0">
                <a:solidFill>
                  <a:srgbClr val="617468"/>
                </a:solidFill>
              </a:defRPr>
            </a:lvl3pPr>
            <a:lvl4pPr>
              <a:defRPr sz="1875" b="0">
                <a:solidFill>
                  <a:srgbClr val="617468"/>
                </a:solidFill>
              </a:defRPr>
            </a:lvl4pPr>
            <a:lvl5pPr>
              <a:defRPr sz="1875" b="0">
                <a:solidFill>
                  <a:srgbClr val="617468"/>
                </a:solidFill>
              </a:defRPr>
            </a:lvl5pPr>
            <a:lvl6pPr>
              <a:defRPr sz="1875" b="0">
                <a:solidFill>
                  <a:srgbClr val="617468"/>
                </a:solidFill>
              </a:defRPr>
            </a:lvl6pPr>
            <a:lvl7pPr>
              <a:defRPr sz="1875" b="0">
                <a:solidFill>
                  <a:srgbClr val="617468"/>
                </a:solidFill>
              </a:defRPr>
            </a:lvl7pPr>
            <a:lvl8pPr>
              <a:defRPr sz="1875" b="0">
                <a:solidFill>
                  <a:srgbClr val="617468"/>
                </a:solidFill>
              </a:defRPr>
            </a:lvl8pPr>
            <a:lvl9pPr>
              <a:defRPr sz="1875" b="0">
                <a:solidFill>
                  <a:srgbClr val="617468"/>
                </a:solidFill>
              </a:defRPr>
            </a:lvl9pPr>
          </a:lstStyle>
          <a:p xmlns:a="http://schemas.openxmlformats.org/drawingml/2006/main">
            <a:pPr>
              <a:defRPr sz="1875" b="0">
                <a:solidFill>
                  <a:srgbClr val="617468"/>
                </a:solidFill>
              </a:defRPr>
            </a:pPr>
            <a:r>
              <a:rPr sz="1875" b="0">
                <a:solidFill>
                  <a:srgbClr val="617468"/>
                </a:solidFill>
              </a:rPr>
              <a:t>Operations handles helper approval, disputes and settlement records. Payout entries record payment references.</a:t>
            </a:r>
          </a:p>
        </p:txBody>
      </p:sp>
    </p:spTree>
    <p:extLst>
      <p:ext uri="{BB962C8B-B14F-4D97-AF65-F5344CB8AC3E}">
        <p14:creationId xmlns:p14="http://schemas.microsoft.com/office/powerpoint/2010/main" val="1850775088"/>
      </p:ext>
    </p:extLst>
  </p:cSld>
</p:sld>
</file>

<file path=ppt/slides/slide10.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F4D1A43-8F62-41B7-B020-33874848D709}"/>
              </a:ext>
            </a:extLst>
          </p:cNvPr>
          <p:cNvSpPr>
            <a:spLocks xmlns:a="http://schemas.openxmlformats.org/drawingml/2006/main" noGrp="1"/>
          </p:cNvSpPr>
          <p:nvPr/>
        </p:nvSpPr>
        <p:spPr>
          <a:xfrm xmlns:a="http://schemas.openxmlformats.org/drawingml/2006/main">
            <a:off x="619125" y="523875"/>
            <a:ext cx="1085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Downstream handling in the pilot</a:t>
            </a:r>
          </a:p>
        </p:txBody>
      </p:sp>
      <p:sp>
        <p:nvSpPr>
          <p:cNvPr id="3" name="">
            <a:extLst xmlns:a="http://schemas.openxmlformats.org/drawingml/2006/main">
              <a:ext uri="{FF2B5EF4-FFF2-40B4-BE49-F238E27FC236}">
                <a16:creationId xmlns:a16="http://schemas.microsoft.com/office/drawing/2014/main" id="{14566E44-6551-43A1-B04B-D1E970D84F6E}"/>
              </a:ext>
            </a:extLst>
          </p:cNvPr>
          <p:cNvSpPr>
            <a:spLocks xmlns:a="http://schemas.openxmlformats.org/drawingml/2006/main" noGrp="1"/>
          </p:cNvSpPr>
          <p:nvPr/>
        </p:nvSpPr>
        <p:spPr>
          <a:xfrm xmlns:a="http://schemas.openxmlformats.org/drawingml/2006/main">
            <a:off x="619125"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F30"/>
                </a:solidFill>
              </a:defRPr>
            </a:defPPr>
            <a:lvl1pPr>
              <a:defRPr sz="2400" b="1">
                <a:solidFill>
                  <a:srgbClr val="193F30"/>
                </a:solidFill>
              </a:defRPr>
            </a:lvl1pPr>
            <a:lvl2pPr>
              <a:defRPr sz="2400" b="1">
                <a:solidFill>
                  <a:srgbClr val="193F30"/>
                </a:solidFill>
              </a:defRPr>
            </a:lvl2pPr>
            <a:lvl3pPr>
              <a:defRPr sz="2400" b="1">
                <a:solidFill>
                  <a:srgbClr val="193F30"/>
                </a:solidFill>
              </a:defRPr>
            </a:lvl3pPr>
            <a:lvl4pPr>
              <a:defRPr sz="2400" b="1">
                <a:solidFill>
                  <a:srgbClr val="193F30"/>
                </a:solidFill>
              </a:defRPr>
            </a:lvl4pPr>
            <a:lvl5pPr>
              <a:defRPr sz="2400" b="1">
                <a:solidFill>
                  <a:srgbClr val="193F30"/>
                </a:solidFill>
              </a:defRPr>
            </a:lvl5pPr>
            <a:lvl6pPr>
              <a:defRPr sz="2400" b="1">
                <a:solidFill>
                  <a:srgbClr val="193F30"/>
                </a:solidFill>
              </a:defRPr>
            </a:lvl6pPr>
            <a:lvl7pPr>
              <a:defRPr sz="2400" b="1">
                <a:solidFill>
                  <a:srgbClr val="193F30"/>
                </a:solidFill>
              </a:defRPr>
            </a:lvl7pPr>
            <a:lvl8pPr>
              <a:defRPr sz="2400" b="1">
                <a:solidFill>
                  <a:srgbClr val="193F30"/>
                </a:solidFill>
              </a:defRPr>
            </a:lvl8pPr>
            <a:lvl9pPr>
              <a:defRPr sz="2400" b="1">
                <a:solidFill>
                  <a:srgbClr val="193F30"/>
                </a:solidFill>
              </a:defRPr>
            </a:lvl9pPr>
          </a:lstStyle>
          <a:p xmlns:a="http://schemas.openxmlformats.org/drawingml/2006/main">
            <a:pPr>
              <a:defRPr sz="2400" b="1">
                <a:solidFill>
                  <a:srgbClr val="193F30"/>
                </a:solidFill>
              </a:defRPr>
            </a:pPr>
            <a:r>
              <a:rPr sz="2400" b="1">
                <a:solidFill>
                  <a:srgbClr val="193F30"/>
                </a:solidFill>
              </a:rPr>
              <a:t>Organic waste</a:t>
            </a:r>
          </a:p>
        </p:txBody>
      </p:sp>
      <p:sp>
        <p:nvSpPr>
          <p:cNvPr id="4" name="">
            <a:extLst xmlns:a="http://schemas.openxmlformats.org/drawingml/2006/main">
              <a:ext uri="{FF2B5EF4-FFF2-40B4-BE49-F238E27FC236}">
                <a16:creationId xmlns:a16="http://schemas.microsoft.com/office/drawing/2014/main" id="{CD5FF7D9-7A97-4C46-8C4A-37A9342661D6}"/>
              </a:ext>
            </a:extLst>
          </p:cNvPr>
          <p:cNvSpPr>
            <a:spLocks xmlns:a="http://schemas.openxmlformats.org/drawingml/2006/main" noGrp="1"/>
          </p:cNvSpPr>
          <p:nvPr/>
        </p:nvSpPr>
        <p:spPr>
          <a:xfrm xmlns:a="http://schemas.openxmlformats.org/drawingml/2006/main">
            <a:off x="619125" y="3238500"/>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17468"/>
                </a:solidFill>
              </a:defRPr>
            </a:defPPr>
            <a:lvl1pPr>
              <a:defRPr sz="2100" b="0">
                <a:solidFill>
                  <a:srgbClr val="617468"/>
                </a:solidFill>
              </a:defRPr>
            </a:lvl1pPr>
            <a:lvl2pPr>
              <a:defRPr sz="2100" b="0">
                <a:solidFill>
                  <a:srgbClr val="617468"/>
                </a:solidFill>
              </a:defRPr>
            </a:lvl2pPr>
            <a:lvl3pPr>
              <a:defRPr sz="2100" b="0">
                <a:solidFill>
                  <a:srgbClr val="617468"/>
                </a:solidFill>
              </a:defRPr>
            </a:lvl3pPr>
            <a:lvl4pPr>
              <a:defRPr sz="2100" b="0">
                <a:solidFill>
                  <a:srgbClr val="617468"/>
                </a:solidFill>
              </a:defRPr>
            </a:lvl4pPr>
            <a:lvl5pPr>
              <a:defRPr sz="2100" b="0">
                <a:solidFill>
                  <a:srgbClr val="617468"/>
                </a:solidFill>
              </a:defRPr>
            </a:lvl5pPr>
            <a:lvl6pPr>
              <a:defRPr sz="2100" b="0">
                <a:solidFill>
                  <a:srgbClr val="617468"/>
                </a:solidFill>
              </a:defRPr>
            </a:lvl6pPr>
            <a:lvl7pPr>
              <a:defRPr sz="2100" b="0">
                <a:solidFill>
                  <a:srgbClr val="617468"/>
                </a:solidFill>
              </a:defRPr>
            </a:lvl7pPr>
            <a:lvl8pPr>
              <a:defRPr sz="2100" b="0">
                <a:solidFill>
                  <a:srgbClr val="617468"/>
                </a:solidFill>
              </a:defRPr>
            </a:lvl8pPr>
            <a:lvl9pPr>
              <a:defRPr sz="2100" b="0">
                <a:solidFill>
                  <a:srgbClr val="617468"/>
                </a:solidFill>
              </a:defRPr>
            </a:lvl9pPr>
          </a:lstStyle>
          <a:p xmlns:a="http://schemas.openxmlformats.org/drawingml/2006/main">
            <a:pPr>
              <a:defRPr sz="2100" b="0">
                <a:solidFill>
                  <a:srgbClr val="617468"/>
                </a:solidFill>
              </a:defRPr>
            </a:pPr>
            <a:r>
              <a:rPr sz="2100" b="0">
                <a:solidFill>
                  <a:srgbClr val="617468"/>
                </a:solidFill>
              </a:rPr>
              <a:t>Separate collection for an agreed composting partner.</a:t>
            </a:r>
          </a:p>
        </p:txBody>
      </p:sp>
      <p:sp>
        <p:nvSpPr>
          <p:cNvPr id="5" name="">
            <a:extLst xmlns:a="http://schemas.openxmlformats.org/drawingml/2006/main">
              <a:ext uri="{FF2B5EF4-FFF2-40B4-BE49-F238E27FC236}">
                <a16:creationId xmlns:a16="http://schemas.microsoft.com/office/drawing/2014/main" id="{F8E65351-9FDD-47A9-AF76-B88C47AEFE66}"/>
              </a:ext>
            </a:extLst>
          </p:cNvPr>
          <p:cNvSpPr>
            <a:spLocks xmlns:a="http://schemas.openxmlformats.org/drawingml/2006/main" noGrp="1"/>
          </p:cNvSpPr>
          <p:nvPr/>
        </p:nvSpPr>
        <p:spPr>
          <a:xfrm xmlns:a="http://schemas.openxmlformats.org/drawingml/2006/main">
            <a:off x="4333875"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F30"/>
                </a:solidFill>
              </a:defRPr>
            </a:defPPr>
            <a:lvl1pPr>
              <a:defRPr sz="2400" b="1">
                <a:solidFill>
                  <a:srgbClr val="193F30"/>
                </a:solidFill>
              </a:defRPr>
            </a:lvl1pPr>
            <a:lvl2pPr>
              <a:defRPr sz="2400" b="1">
                <a:solidFill>
                  <a:srgbClr val="193F30"/>
                </a:solidFill>
              </a:defRPr>
            </a:lvl2pPr>
            <a:lvl3pPr>
              <a:defRPr sz="2400" b="1">
                <a:solidFill>
                  <a:srgbClr val="193F30"/>
                </a:solidFill>
              </a:defRPr>
            </a:lvl3pPr>
            <a:lvl4pPr>
              <a:defRPr sz="2400" b="1">
                <a:solidFill>
                  <a:srgbClr val="193F30"/>
                </a:solidFill>
              </a:defRPr>
            </a:lvl4pPr>
            <a:lvl5pPr>
              <a:defRPr sz="2400" b="1">
                <a:solidFill>
                  <a:srgbClr val="193F30"/>
                </a:solidFill>
              </a:defRPr>
            </a:lvl5pPr>
            <a:lvl6pPr>
              <a:defRPr sz="2400" b="1">
                <a:solidFill>
                  <a:srgbClr val="193F30"/>
                </a:solidFill>
              </a:defRPr>
            </a:lvl6pPr>
            <a:lvl7pPr>
              <a:defRPr sz="2400" b="1">
                <a:solidFill>
                  <a:srgbClr val="193F30"/>
                </a:solidFill>
              </a:defRPr>
            </a:lvl7pPr>
            <a:lvl8pPr>
              <a:defRPr sz="2400" b="1">
                <a:solidFill>
                  <a:srgbClr val="193F30"/>
                </a:solidFill>
              </a:defRPr>
            </a:lvl8pPr>
            <a:lvl9pPr>
              <a:defRPr sz="2400" b="1">
                <a:solidFill>
                  <a:srgbClr val="193F30"/>
                </a:solidFill>
              </a:defRPr>
            </a:lvl9pPr>
          </a:lstStyle>
          <a:p xmlns:a="http://schemas.openxmlformats.org/drawingml/2006/main">
            <a:pPr>
              <a:defRPr sz="2400" b="1">
                <a:solidFill>
                  <a:srgbClr val="193F30"/>
                </a:solidFill>
              </a:defRPr>
            </a:pPr>
            <a:r>
              <a:rPr sz="2400" b="1">
                <a:solidFill>
                  <a:srgbClr val="193F30"/>
                </a:solidFill>
              </a:rPr>
              <a:t>Paper, plastic and metal</a:t>
            </a:r>
          </a:p>
        </p:txBody>
      </p:sp>
      <p:sp>
        <p:nvSpPr>
          <p:cNvPr id="6" name="">
            <a:extLst xmlns:a="http://schemas.openxmlformats.org/drawingml/2006/main">
              <a:ext uri="{FF2B5EF4-FFF2-40B4-BE49-F238E27FC236}">
                <a16:creationId xmlns:a16="http://schemas.microsoft.com/office/drawing/2014/main" id="{64D1757B-FA78-472E-8341-984544187B26}"/>
              </a:ext>
            </a:extLst>
          </p:cNvPr>
          <p:cNvSpPr>
            <a:spLocks xmlns:a="http://schemas.openxmlformats.org/drawingml/2006/main" noGrp="1"/>
          </p:cNvSpPr>
          <p:nvPr/>
        </p:nvSpPr>
        <p:spPr>
          <a:xfrm xmlns:a="http://schemas.openxmlformats.org/drawingml/2006/main">
            <a:off x="4333875" y="3238500"/>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17468"/>
                </a:solidFill>
              </a:defRPr>
            </a:defPPr>
            <a:lvl1pPr>
              <a:defRPr sz="2100" b="0">
                <a:solidFill>
                  <a:srgbClr val="617468"/>
                </a:solidFill>
              </a:defRPr>
            </a:lvl1pPr>
            <a:lvl2pPr>
              <a:defRPr sz="2100" b="0">
                <a:solidFill>
                  <a:srgbClr val="617468"/>
                </a:solidFill>
              </a:defRPr>
            </a:lvl2pPr>
            <a:lvl3pPr>
              <a:defRPr sz="2100" b="0">
                <a:solidFill>
                  <a:srgbClr val="617468"/>
                </a:solidFill>
              </a:defRPr>
            </a:lvl3pPr>
            <a:lvl4pPr>
              <a:defRPr sz="2100" b="0">
                <a:solidFill>
                  <a:srgbClr val="617468"/>
                </a:solidFill>
              </a:defRPr>
            </a:lvl4pPr>
            <a:lvl5pPr>
              <a:defRPr sz="2100" b="0">
                <a:solidFill>
                  <a:srgbClr val="617468"/>
                </a:solidFill>
              </a:defRPr>
            </a:lvl5pPr>
            <a:lvl6pPr>
              <a:defRPr sz="2100" b="0">
                <a:solidFill>
                  <a:srgbClr val="617468"/>
                </a:solidFill>
              </a:defRPr>
            </a:lvl6pPr>
            <a:lvl7pPr>
              <a:defRPr sz="2100" b="0">
                <a:solidFill>
                  <a:srgbClr val="617468"/>
                </a:solidFill>
              </a:defRPr>
            </a:lvl7pPr>
            <a:lvl8pPr>
              <a:defRPr sz="2100" b="0">
                <a:solidFill>
                  <a:srgbClr val="617468"/>
                </a:solidFill>
              </a:defRPr>
            </a:lvl8pPr>
            <a:lvl9pPr>
              <a:defRPr sz="2100" b="0">
                <a:solidFill>
                  <a:srgbClr val="617468"/>
                </a:solidFill>
              </a:defRPr>
            </a:lvl9pPr>
          </a:lstStyle>
          <a:p xmlns:a="http://schemas.openxmlformats.org/drawingml/2006/main">
            <a:pPr>
              <a:defRPr sz="2100" b="0">
                <a:solidFill>
                  <a:srgbClr val="617468"/>
                </a:solidFill>
              </a:defRPr>
            </a:pPr>
            <a:r>
              <a:rPr sz="2100" b="0">
                <a:solidFill>
                  <a:srgbClr val="617468"/>
                </a:solidFill>
              </a:rPr>
              <a:t>Material-specific handover to buyers or recyclers who accept the grade.</a:t>
            </a:r>
          </a:p>
        </p:txBody>
      </p:sp>
      <p:sp>
        <p:nvSpPr>
          <p:cNvPr id="7" name="">
            <a:extLst xmlns:a="http://schemas.openxmlformats.org/drawingml/2006/main">
              <a:ext uri="{FF2B5EF4-FFF2-40B4-BE49-F238E27FC236}">
                <a16:creationId xmlns:a16="http://schemas.microsoft.com/office/drawing/2014/main" id="{0B46C39C-BC63-40C7-B32A-F9178B57D675}"/>
              </a:ext>
            </a:extLst>
          </p:cNvPr>
          <p:cNvSpPr>
            <a:spLocks xmlns:a="http://schemas.openxmlformats.org/drawingml/2006/main" noGrp="1"/>
          </p:cNvSpPr>
          <p:nvPr/>
        </p:nvSpPr>
        <p:spPr>
          <a:xfrm xmlns:a="http://schemas.openxmlformats.org/drawingml/2006/main">
            <a:off x="8048625" y="2047875"/>
            <a:ext cx="31908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F30"/>
                </a:solidFill>
              </a:defRPr>
            </a:defPPr>
            <a:lvl1pPr>
              <a:defRPr sz="2400" b="1">
                <a:solidFill>
                  <a:srgbClr val="193F30"/>
                </a:solidFill>
              </a:defRPr>
            </a:lvl1pPr>
            <a:lvl2pPr>
              <a:defRPr sz="2400" b="1">
                <a:solidFill>
                  <a:srgbClr val="193F30"/>
                </a:solidFill>
              </a:defRPr>
            </a:lvl2pPr>
            <a:lvl3pPr>
              <a:defRPr sz="2400" b="1">
                <a:solidFill>
                  <a:srgbClr val="193F30"/>
                </a:solidFill>
              </a:defRPr>
            </a:lvl3pPr>
            <a:lvl4pPr>
              <a:defRPr sz="2400" b="1">
                <a:solidFill>
                  <a:srgbClr val="193F30"/>
                </a:solidFill>
              </a:defRPr>
            </a:lvl4pPr>
            <a:lvl5pPr>
              <a:defRPr sz="2400" b="1">
                <a:solidFill>
                  <a:srgbClr val="193F30"/>
                </a:solidFill>
              </a:defRPr>
            </a:lvl5pPr>
            <a:lvl6pPr>
              <a:defRPr sz="2400" b="1">
                <a:solidFill>
                  <a:srgbClr val="193F30"/>
                </a:solidFill>
              </a:defRPr>
            </a:lvl6pPr>
            <a:lvl7pPr>
              <a:defRPr sz="2400" b="1">
                <a:solidFill>
                  <a:srgbClr val="193F30"/>
                </a:solidFill>
              </a:defRPr>
            </a:lvl7pPr>
            <a:lvl8pPr>
              <a:defRPr sz="2400" b="1">
                <a:solidFill>
                  <a:srgbClr val="193F30"/>
                </a:solidFill>
              </a:defRPr>
            </a:lvl8pPr>
            <a:lvl9pPr>
              <a:defRPr sz="2400" b="1">
                <a:solidFill>
                  <a:srgbClr val="193F30"/>
                </a:solidFill>
              </a:defRPr>
            </a:lvl9pPr>
          </a:lstStyle>
          <a:p xmlns:a="http://schemas.openxmlformats.org/drawingml/2006/main">
            <a:pPr>
              <a:defRPr sz="2400" b="1">
                <a:solidFill>
                  <a:srgbClr val="193F30"/>
                </a:solidFill>
              </a:defRPr>
            </a:pPr>
            <a:r>
              <a:rPr sz="2400" b="1">
                <a:solidFill>
                  <a:srgbClr val="193F30"/>
                </a:solidFill>
              </a:rPr>
              <a:t>Batteries and specialist waste</a:t>
            </a:r>
          </a:p>
        </p:txBody>
      </p:sp>
      <p:sp>
        <p:nvSpPr>
          <p:cNvPr id="8" name="">
            <a:extLst xmlns:a="http://schemas.openxmlformats.org/drawingml/2006/main">
              <a:ext uri="{FF2B5EF4-FFF2-40B4-BE49-F238E27FC236}">
                <a16:creationId xmlns:a16="http://schemas.microsoft.com/office/drawing/2014/main" id="{CDBAC549-8EBE-4599-B917-A7267AEFDE70}"/>
              </a:ext>
            </a:extLst>
          </p:cNvPr>
          <p:cNvSpPr>
            <a:spLocks xmlns:a="http://schemas.openxmlformats.org/drawingml/2006/main" noGrp="1"/>
          </p:cNvSpPr>
          <p:nvPr/>
        </p:nvSpPr>
        <p:spPr>
          <a:xfrm xmlns:a="http://schemas.openxmlformats.org/drawingml/2006/main">
            <a:off x="8048625" y="3238500"/>
            <a:ext cx="31432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17468"/>
                </a:solidFill>
              </a:defRPr>
            </a:defPPr>
            <a:lvl1pPr>
              <a:defRPr sz="2100" b="0">
                <a:solidFill>
                  <a:srgbClr val="617468"/>
                </a:solidFill>
              </a:defRPr>
            </a:lvl1pPr>
            <a:lvl2pPr>
              <a:defRPr sz="2100" b="0">
                <a:solidFill>
                  <a:srgbClr val="617468"/>
                </a:solidFill>
              </a:defRPr>
            </a:lvl2pPr>
            <a:lvl3pPr>
              <a:defRPr sz="2100" b="0">
                <a:solidFill>
                  <a:srgbClr val="617468"/>
                </a:solidFill>
              </a:defRPr>
            </a:lvl3pPr>
            <a:lvl4pPr>
              <a:defRPr sz="2100" b="0">
                <a:solidFill>
                  <a:srgbClr val="617468"/>
                </a:solidFill>
              </a:defRPr>
            </a:lvl4pPr>
            <a:lvl5pPr>
              <a:defRPr sz="2100" b="0">
                <a:solidFill>
                  <a:srgbClr val="617468"/>
                </a:solidFill>
              </a:defRPr>
            </a:lvl5pPr>
            <a:lvl6pPr>
              <a:defRPr sz="2100" b="0">
                <a:solidFill>
                  <a:srgbClr val="617468"/>
                </a:solidFill>
              </a:defRPr>
            </a:lvl6pPr>
            <a:lvl7pPr>
              <a:defRPr sz="2100" b="0">
                <a:solidFill>
                  <a:srgbClr val="617468"/>
                </a:solidFill>
              </a:defRPr>
            </a:lvl7pPr>
            <a:lvl8pPr>
              <a:defRPr sz="2100" b="0">
                <a:solidFill>
                  <a:srgbClr val="617468"/>
                </a:solidFill>
              </a:defRPr>
            </a:lvl8pPr>
            <a:lvl9pPr>
              <a:defRPr sz="2100" b="0">
                <a:solidFill>
                  <a:srgbClr val="617468"/>
                </a:solidFill>
              </a:defRPr>
            </a:lvl9pPr>
          </a:lstStyle>
          <a:p xmlns:a="http://schemas.openxmlformats.org/drawingml/2006/main">
            <a:pPr>
              <a:defRPr sz="2100" b="0">
                <a:solidFill>
                  <a:srgbClr val="617468"/>
                </a:solidFill>
              </a:defRPr>
            </a:pPr>
            <a:r>
              <a:rPr sz="2100" b="0">
                <a:solidFill>
                  <a:srgbClr val="617468"/>
                </a:solidFill>
              </a:rPr>
              <a:t>Separate inspection and an appropriate specialist channel. Ordinary pickup stays blocked.</a:t>
            </a:r>
          </a:p>
        </p:txBody>
      </p:sp>
      <p:sp>
        <p:nvSpPr>
          <p:cNvPr id="9" name="">
            <a:extLst xmlns:a="http://schemas.openxmlformats.org/drawingml/2006/main">
              <a:ext uri="{FF2B5EF4-FFF2-40B4-BE49-F238E27FC236}">
                <a16:creationId xmlns:a16="http://schemas.microsoft.com/office/drawing/2014/main" id="{66A01A54-C102-4A4B-96D0-B8C1F53CC17F}"/>
              </a:ext>
            </a:extLst>
          </p:cNvPr>
          <p:cNvSpPr>
            <a:spLocks xmlns:a="http://schemas.openxmlformats.org/drawingml/2006/main" noGrp="1"/>
          </p:cNvSpPr>
          <p:nvPr/>
        </p:nvSpPr>
        <p:spPr>
          <a:xfrm xmlns:a="http://schemas.openxmlformats.org/drawingml/2006/main">
            <a:off x="619125" y="53340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6860A5"/>
                </a:solidFill>
              </a:defRPr>
            </a:defPPr>
            <a:lvl1pPr>
              <a:defRPr sz="2100" b="1">
                <a:solidFill>
                  <a:srgbClr val="6860A5"/>
                </a:solidFill>
              </a:defRPr>
            </a:lvl1pPr>
            <a:lvl2pPr>
              <a:defRPr sz="2100" b="1">
                <a:solidFill>
                  <a:srgbClr val="6860A5"/>
                </a:solidFill>
              </a:defRPr>
            </a:lvl2pPr>
            <a:lvl3pPr>
              <a:defRPr sz="2100" b="1">
                <a:solidFill>
                  <a:srgbClr val="6860A5"/>
                </a:solidFill>
              </a:defRPr>
            </a:lvl3pPr>
            <a:lvl4pPr>
              <a:defRPr sz="2100" b="1">
                <a:solidFill>
                  <a:srgbClr val="6860A5"/>
                </a:solidFill>
              </a:defRPr>
            </a:lvl4pPr>
            <a:lvl5pPr>
              <a:defRPr sz="2100" b="1">
                <a:solidFill>
                  <a:srgbClr val="6860A5"/>
                </a:solidFill>
              </a:defRPr>
            </a:lvl5pPr>
            <a:lvl6pPr>
              <a:defRPr sz="2100" b="1">
                <a:solidFill>
                  <a:srgbClr val="6860A5"/>
                </a:solidFill>
              </a:defRPr>
            </a:lvl6pPr>
            <a:lvl7pPr>
              <a:defRPr sz="2100" b="1">
                <a:solidFill>
                  <a:srgbClr val="6860A5"/>
                </a:solidFill>
              </a:defRPr>
            </a:lvl7pPr>
            <a:lvl8pPr>
              <a:defRPr sz="2100" b="1">
                <a:solidFill>
                  <a:srgbClr val="6860A5"/>
                </a:solidFill>
              </a:defRPr>
            </a:lvl8pPr>
            <a:lvl9pPr>
              <a:defRPr sz="2100" b="1">
                <a:solidFill>
                  <a:srgbClr val="6860A5"/>
                </a:solidFill>
              </a:defRPr>
            </a:lvl9pPr>
          </a:lstStyle>
          <a:p xmlns:a="http://schemas.openxmlformats.org/drawingml/2006/main">
            <a:pPr>
              <a:defRPr sz="2100" b="1">
                <a:solidFill>
                  <a:srgbClr val="6860A5"/>
                </a:solidFill>
              </a:defRPr>
            </a:pPr>
            <a:r>
              <a:rPr sz="2100" b="1">
                <a:solidFill>
                  <a:srgbClr val="6860A5"/>
                </a:solidFill>
              </a:rPr>
              <a:t>Operations records accepted material, actual buyer proceeds and direct costs before any recovery payout.</a:t>
            </a:r>
          </a:p>
        </p:txBody>
      </p:sp>
      <p:sp>
        <p:nvSpPr>
          <p:cNvPr id="10" name="">
            <a:extLst xmlns:a="http://schemas.openxmlformats.org/drawingml/2006/main">
              <a:ext uri="{FF2B5EF4-FFF2-40B4-BE49-F238E27FC236}">
                <a16:creationId xmlns:a16="http://schemas.microsoft.com/office/drawing/2014/main" id="{5BE516B9-E320-44EA-95FC-829E9A1E2BCD}"/>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11" name="">
            <a:extLst xmlns:a="http://schemas.openxmlformats.org/drawingml/2006/main">
              <a:ext uri="{FF2B5EF4-FFF2-40B4-BE49-F238E27FC236}">
                <a16:creationId xmlns:a16="http://schemas.microsoft.com/office/drawing/2014/main" id="{50865358-2E95-4AB4-8A3F-51CBB48E17F0}"/>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10</a:t>
            </a:r>
          </a:p>
        </p:txBody>
      </p:sp>
    </p:spTree>
    <p:extLst>
      <p:ext uri="{BB962C8B-B14F-4D97-AF65-F5344CB8AC3E}">
        <p14:creationId xmlns:p14="http://schemas.microsoft.com/office/powerpoint/2010/main" val="710848663"/>
      </p:ext>
    </p:extLst>
  </p:cSld>
</p:sld>
</file>

<file path=ppt/slides/slide11.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9F5F59F-68C1-41EE-9E0D-08B523D2A572}"/>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Daily scan points support a repeat habit</a:t>
            </a:r>
          </a:p>
        </p:txBody>
      </p:sp>
      <p:sp>
        <p:nvSpPr>
          <p:cNvPr id="3" name="">
            <a:extLst xmlns:a="http://schemas.openxmlformats.org/drawingml/2006/main">
              <a:ext uri="{FF2B5EF4-FFF2-40B4-BE49-F238E27FC236}">
                <a16:creationId xmlns:a16="http://schemas.microsoft.com/office/drawing/2014/main" id="{4DBF38AA-7292-4538-864C-FF9B8A49A639}"/>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7E34275C-8447-466B-ACA2-24F8276F9992}"/>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11</a:t>
            </a:r>
          </a:p>
        </p:txBody>
      </p:sp>
      <p:sp>
        <p:nvSpPr>
          <p:cNvPr id="5" name="">
            <a:extLst xmlns:a="http://schemas.openxmlformats.org/drawingml/2006/main">
              <a:ext uri="{FF2B5EF4-FFF2-40B4-BE49-F238E27FC236}">
                <a16:creationId xmlns:a16="http://schemas.microsoft.com/office/drawing/2014/main" id="{2FB3417B-2809-4FAD-85A6-8F8479BE005D}"/>
              </a:ext>
            </a:extLst>
          </p:cNvPr>
          <p:cNvSpPr>
            <a:spLocks xmlns:a="http://schemas.openxmlformats.org/drawingml/2006/main" noGrp="1"/>
          </p:cNvSpPr>
          <p:nvPr/>
        </p:nvSpPr>
        <p:spPr>
          <a:xfrm xmlns:a="http://schemas.openxmlformats.org/drawingml/2006/main">
            <a:off x="619125" y="1952625"/>
            <a:ext cx="4476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6860A5"/>
                </a:solidFill>
              </a:defRPr>
            </a:defPPr>
            <a:lvl1pPr>
              <a:defRPr sz="5250" b="1">
                <a:solidFill>
                  <a:srgbClr val="6860A5"/>
                </a:solidFill>
              </a:defRPr>
            </a:lvl1pPr>
            <a:lvl2pPr>
              <a:defRPr sz="5250" b="1">
                <a:solidFill>
                  <a:srgbClr val="6860A5"/>
                </a:solidFill>
              </a:defRPr>
            </a:lvl2pPr>
            <a:lvl3pPr>
              <a:defRPr sz="5250" b="1">
                <a:solidFill>
                  <a:srgbClr val="6860A5"/>
                </a:solidFill>
              </a:defRPr>
            </a:lvl3pPr>
            <a:lvl4pPr>
              <a:defRPr sz="5250" b="1">
                <a:solidFill>
                  <a:srgbClr val="6860A5"/>
                </a:solidFill>
              </a:defRPr>
            </a:lvl4pPr>
            <a:lvl5pPr>
              <a:defRPr sz="5250" b="1">
                <a:solidFill>
                  <a:srgbClr val="6860A5"/>
                </a:solidFill>
              </a:defRPr>
            </a:lvl5pPr>
            <a:lvl6pPr>
              <a:defRPr sz="5250" b="1">
                <a:solidFill>
                  <a:srgbClr val="6860A5"/>
                </a:solidFill>
              </a:defRPr>
            </a:lvl6pPr>
            <a:lvl7pPr>
              <a:defRPr sz="5250" b="1">
                <a:solidFill>
                  <a:srgbClr val="6860A5"/>
                </a:solidFill>
              </a:defRPr>
            </a:lvl7pPr>
            <a:lvl8pPr>
              <a:defRPr sz="5250" b="1">
                <a:solidFill>
                  <a:srgbClr val="6860A5"/>
                </a:solidFill>
              </a:defRPr>
            </a:lvl8pPr>
            <a:lvl9pPr>
              <a:defRPr sz="5250" b="1">
                <a:solidFill>
                  <a:srgbClr val="6860A5"/>
                </a:solidFill>
              </a:defRPr>
            </a:lvl9pPr>
          </a:lstStyle>
          <a:p xmlns:a="http://schemas.openxmlformats.org/drawingml/2006/main">
            <a:pPr>
              <a:defRPr sz="5250" b="1">
                <a:solidFill>
                  <a:srgbClr val="6860A5"/>
                </a:solidFill>
              </a:defRPr>
            </a:pPr>
            <a:r>
              <a:rPr sz="5250" b="1">
                <a:solidFill>
                  <a:srgbClr val="6860A5"/>
                </a:solidFill>
              </a:rPr>
              <a:t>1 point</a:t>
            </a:r>
          </a:p>
        </p:txBody>
      </p:sp>
      <p:sp>
        <p:nvSpPr>
          <p:cNvPr id="6" name="">
            <a:extLst xmlns:a="http://schemas.openxmlformats.org/drawingml/2006/main">
              <a:ext uri="{FF2B5EF4-FFF2-40B4-BE49-F238E27FC236}">
                <a16:creationId xmlns:a16="http://schemas.microsoft.com/office/drawing/2014/main" id="{78232902-5560-4700-894A-027A8E8C9D48}"/>
              </a:ext>
            </a:extLst>
          </p:cNvPr>
          <p:cNvSpPr>
            <a:spLocks xmlns:a="http://schemas.openxmlformats.org/drawingml/2006/main" noGrp="1"/>
          </p:cNvSpPr>
          <p:nvPr/>
        </p:nvSpPr>
        <p:spPr>
          <a:xfrm xmlns:a="http://schemas.openxmlformats.org/drawingml/2006/main">
            <a:off x="619125" y="30956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17468"/>
                </a:solidFill>
              </a:defRPr>
            </a:defPPr>
            <a:lvl1pPr>
              <a:defRPr sz="2175" b="0">
                <a:solidFill>
                  <a:srgbClr val="617468"/>
                </a:solidFill>
              </a:defRPr>
            </a:lvl1pPr>
            <a:lvl2pPr>
              <a:defRPr sz="2175" b="0">
                <a:solidFill>
                  <a:srgbClr val="617468"/>
                </a:solidFill>
              </a:defRPr>
            </a:lvl2pPr>
            <a:lvl3pPr>
              <a:defRPr sz="2175" b="0">
                <a:solidFill>
                  <a:srgbClr val="617468"/>
                </a:solidFill>
              </a:defRPr>
            </a:lvl3pPr>
            <a:lvl4pPr>
              <a:defRPr sz="2175" b="0">
                <a:solidFill>
                  <a:srgbClr val="617468"/>
                </a:solidFill>
              </a:defRPr>
            </a:lvl4pPr>
            <a:lvl5pPr>
              <a:defRPr sz="2175" b="0">
                <a:solidFill>
                  <a:srgbClr val="617468"/>
                </a:solidFill>
              </a:defRPr>
            </a:lvl5pPr>
            <a:lvl6pPr>
              <a:defRPr sz="2175" b="0">
                <a:solidFill>
                  <a:srgbClr val="617468"/>
                </a:solidFill>
              </a:defRPr>
            </a:lvl6pPr>
            <a:lvl7pPr>
              <a:defRPr sz="2175" b="0">
                <a:solidFill>
                  <a:srgbClr val="617468"/>
                </a:solidFill>
              </a:defRPr>
            </a:lvl7pPr>
            <a:lvl8pPr>
              <a:defRPr sz="2175" b="0">
                <a:solidFill>
                  <a:srgbClr val="617468"/>
                </a:solidFill>
              </a:defRPr>
            </a:lvl8pPr>
            <a:lvl9pPr>
              <a:defRPr sz="2175" b="0">
                <a:solidFill>
                  <a:srgbClr val="617468"/>
                </a:solidFill>
              </a:defRPr>
            </a:lvl9pPr>
          </a:lstStyle>
          <a:p xmlns:a="http://schemas.openxmlformats.org/drawingml/2006/main">
            <a:pPr>
              <a:defRPr sz="2175" b="0">
                <a:solidFill>
                  <a:srgbClr val="617468"/>
                </a:solidFill>
              </a:defRPr>
            </a:pPr>
            <a:r>
              <a:rPr sz="2175" b="0">
                <a:solidFill>
                  <a:srgbClr val="617468"/>
                </a:solidFill>
              </a:rPr>
              <a:t>for the first new confirmed scan</a:t>
            </a:r>
          </a:p>
          <a:p xmlns:a="http://schemas.openxmlformats.org/drawingml/2006/main">
            <a:pPr>
              <a:defRPr sz="2175" b="0">
                <a:solidFill>
                  <a:srgbClr val="617468"/>
                </a:solidFill>
              </a:defRPr>
            </a:pPr>
            <a:r>
              <a:rPr sz="2175" b="0">
                <a:solidFill>
                  <a:srgbClr val="617468"/>
                </a:solidFill>
              </a:rPr>
              <a:t>on each India calendar day</a:t>
            </a:r>
          </a:p>
        </p:txBody>
      </p:sp>
      <p:sp>
        <p:nvSpPr>
          <p:cNvPr id="7" name="">
            <a:extLst xmlns:a="http://schemas.openxmlformats.org/drawingml/2006/main">
              <a:ext uri="{FF2B5EF4-FFF2-40B4-BE49-F238E27FC236}">
                <a16:creationId xmlns:a16="http://schemas.microsoft.com/office/drawing/2014/main" id="{EFADC006-9D11-4D66-810B-9465C2893809}"/>
              </a:ext>
            </a:extLst>
          </p:cNvPr>
          <p:cNvSpPr>
            <a:spLocks xmlns:a="http://schemas.openxmlformats.org/drawingml/2006/main" noGrp="1"/>
          </p:cNvSpPr>
          <p:nvPr/>
        </p:nvSpPr>
        <p:spPr>
          <a:xfrm xmlns:a="http://schemas.openxmlformats.org/drawingml/2006/main">
            <a:off x="6667500" y="1952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250" b="1">
                <a:solidFill>
                  <a:srgbClr val="6860A5"/>
                </a:solidFill>
              </a:defRPr>
            </a:defPPr>
            <a:lvl1pPr>
              <a:defRPr sz="5250" b="1">
                <a:solidFill>
                  <a:srgbClr val="6860A5"/>
                </a:solidFill>
              </a:defRPr>
            </a:lvl1pPr>
            <a:lvl2pPr>
              <a:defRPr sz="5250" b="1">
                <a:solidFill>
                  <a:srgbClr val="6860A5"/>
                </a:solidFill>
              </a:defRPr>
            </a:lvl2pPr>
            <a:lvl3pPr>
              <a:defRPr sz="5250" b="1">
                <a:solidFill>
                  <a:srgbClr val="6860A5"/>
                </a:solidFill>
              </a:defRPr>
            </a:lvl3pPr>
            <a:lvl4pPr>
              <a:defRPr sz="5250" b="1">
                <a:solidFill>
                  <a:srgbClr val="6860A5"/>
                </a:solidFill>
              </a:defRPr>
            </a:lvl4pPr>
            <a:lvl5pPr>
              <a:defRPr sz="5250" b="1">
                <a:solidFill>
                  <a:srgbClr val="6860A5"/>
                </a:solidFill>
              </a:defRPr>
            </a:lvl5pPr>
            <a:lvl6pPr>
              <a:defRPr sz="5250" b="1">
                <a:solidFill>
                  <a:srgbClr val="6860A5"/>
                </a:solidFill>
              </a:defRPr>
            </a:lvl6pPr>
            <a:lvl7pPr>
              <a:defRPr sz="5250" b="1">
                <a:solidFill>
                  <a:srgbClr val="6860A5"/>
                </a:solidFill>
              </a:defRPr>
            </a:lvl7pPr>
            <a:lvl8pPr>
              <a:defRPr sz="5250" b="1">
                <a:solidFill>
                  <a:srgbClr val="6860A5"/>
                </a:solidFill>
              </a:defRPr>
            </a:lvl8pPr>
            <a:lvl9pPr>
              <a:defRPr sz="5250" b="1">
                <a:solidFill>
                  <a:srgbClr val="6860A5"/>
                </a:solidFill>
              </a:defRPr>
            </a:lvl9pPr>
          </a:lstStyle>
          <a:p xmlns:a="http://schemas.openxmlformats.org/drawingml/2006/main">
            <a:pPr>
              <a:defRPr sz="5250" b="1">
                <a:solidFill>
                  <a:srgbClr val="6860A5"/>
                </a:solidFill>
              </a:defRPr>
            </a:pPr>
            <a:r>
              <a:rPr sz="5250" b="1">
                <a:solidFill>
                  <a:srgbClr val="6860A5"/>
                </a:solidFill>
              </a:rPr>
              <a:t>10 points</a:t>
            </a:r>
          </a:p>
        </p:txBody>
      </p:sp>
      <p:sp>
        <p:nvSpPr>
          <p:cNvPr id="8" name="">
            <a:extLst xmlns:a="http://schemas.openxmlformats.org/drawingml/2006/main">
              <a:ext uri="{FF2B5EF4-FFF2-40B4-BE49-F238E27FC236}">
                <a16:creationId xmlns:a16="http://schemas.microsoft.com/office/drawing/2014/main" id="{24980246-76F1-4C23-A35F-661B11F72EDD}"/>
              </a:ext>
            </a:extLst>
          </p:cNvPr>
          <p:cNvSpPr>
            <a:spLocks xmlns:a="http://schemas.openxmlformats.org/drawingml/2006/main" noGrp="1"/>
          </p:cNvSpPr>
          <p:nvPr/>
        </p:nvSpPr>
        <p:spPr>
          <a:xfrm xmlns:a="http://schemas.openxmlformats.org/drawingml/2006/main">
            <a:off x="6667500" y="30956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617468"/>
                </a:solidFill>
              </a:defRPr>
            </a:defPPr>
            <a:lvl1pPr>
              <a:defRPr sz="2175" b="0">
                <a:solidFill>
                  <a:srgbClr val="617468"/>
                </a:solidFill>
              </a:defRPr>
            </a:lvl1pPr>
            <a:lvl2pPr>
              <a:defRPr sz="2175" b="0">
                <a:solidFill>
                  <a:srgbClr val="617468"/>
                </a:solidFill>
              </a:defRPr>
            </a:lvl2pPr>
            <a:lvl3pPr>
              <a:defRPr sz="2175" b="0">
                <a:solidFill>
                  <a:srgbClr val="617468"/>
                </a:solidFill>
              </a:defRPr>
            </a:lvl3pPr>
            <a:lvl4pPr>
              <a:defRPr sz="2175" b="0">
                <a:solidFill>
                  <a:srgbClr val="617468"/>
                </a:solidFill>
              </a:defRPr>
            </a:lvl4pPr>
            <a:lvl5pPr>
              <a:defRPr sz="2175" b="0">
                <a:solidFill>
                  <a:srgbClr val="617468"/>
                </a:solidFill>
              </a:defRPr>
            </a:lvl5pPr>
            <a:lvl6pPr>
              <a:defRPr sz="2175" b="0">
                <a:solidFill>
                  <a:srgbClr val="617468"/>
                </a:solidFill>
              </a:defRPr>
            </a:lvl6pPr>
            <a:lvl7pPr>
              <a:defRPr sz="2175" b="0">
                <a:solidFill>
                  <a:srgbClr val="617468"/>
                </a:solidFill>
              </a:defRPr>
            </a:lvl7pPr>
            <a:lvl8pPr>
              <a:defRPr sz="2175" b="0">
                <a:solidFill>
                  <a:srgbClr val="617468"/>
                </a:solidFill>
              </a:defRPr>
            </a:lvl8pPr>
            <a:lvl9pPr>
              <a:defRPr sz="2175" b="0">
                <a:solidFill>
                  <a:srgbClr val="617468"/>
                </a:solidFill>
              </a:defRPr>
            </a:lvl9pPr>
          </a:lstStyle>
          <a:p xmlns:a="http://schemas.openxmlformats.org/drawingml/2006/main">
            <a:pPr>
              <a:defRPr sz="2175" b="0">
                <a:solidFill>
                  <a:srgbClr val="617468"/>
                </a:solidFill>
              </a:defRPr>
            </a:pPr>
            <a:r>
              <a:rPr sz="2175" b="0">
                <a:solidFill>
                  <a:srgbClr val="617468"/>
                </a:solidFill>
              </a:rPr>
              <a:t>redeem one Basic pickup credit</a:t>
            </a:r>
          </a:p>
          <a:p xmlns:a="http://schemas.openxmlformats.org/drawingml/2006/main">
            <a:pPr>
              <a:defRPr sz="2175" b="0">
                <a:solidFill>
                  <a:srgbClr val="617468"/>
                </a:solidFill>
              </a:defRPr>
            </a:pPr>
            <a:r>
              <a:rPr sz="2175" b="0">
                <a:solidFill>
                  <a:srgbClr val="617468"/>
                </a:solidFill>
              </a:rPr>
              <a:t>at any time in the month</a:t>
            </a:r>
          </a:p>
        </p:txBody>
      </p:sp>
      <p:sp>
        <p:nvSpPr>
          <p:cNvPr id="9" name="">
            <a:extLst xmlns:a="http://schemas.openxmlformats.org/drawingml/2006/main">
              <a:ext uri="{FF2B5EF4-FFF2-40B4-BE49-F238E27FC236}">
                <a16:creationId xmlns:a16="http://schemas.microsoft.com/office/drawing/2014/main" id="{D6F3637F-CC0C-4B3B-9BD6-7CE5291F29E2}"/>
              </a:ext>
            </a:extLst>
          </p:cNvPr>
          <p:cNvSpPr>
            <a:spLocks xmlns:a="http://schemas.openxmlformats.org/drawingml/2006/main" noGrp="1"/>
          </p:cNvSpPr>
          <p:nvPr/>
        </p:nvSpPr>
        <p:spPr>
          <a:xfrm xmlns:a="http://schemas.openxmlformats.org/drawingml/2006/main">
            <a:off x="619125" y="4810125"/>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1">
                <a:solidFill>
                  <a:srgbClr val="193F30"/>
                </a:solidFill>
              </a:defRPr>
            </a:defPPr>
            <a:lvl1pPr>
              <a:defRPr sz="2100" b="1">
                <a:solidFill>
                  <a:srgbClr val="193F30"/>
                </a:solidFill>
              </a:defRPr>
            </a:lvl1pPr>
            <a:lvl2pPr>
              <a:defRPr sz="2100" b="1">
                <a:solidFill>
                  <a:srgbClr val="193F30"/>
                </a:solidFill>
              </a:defRPr>
            </a:lvl2pPr>
            <a:lvl3pPr>
              <a:defRPr sz="2100" b="1">
                <a:solidFill>
                  <a:srgbClr val="193F30"/>
                </a:solidFill>
              </a:defRPr>
            </a:lvl3pPr>
            <a:lvl4pPr>
              <a:defRPr sz="2100" b="1">
                <a:solidFill>
                  <a:srgbClr val="193F30"/>
                </a:solidFill>
              </a:defRPr>
            </a:lvl4pPr>
            <a:lvl5pPr>
              <a:defRPr sz="2100" b="1">
                <a:solidFill>
                  <a:srgbClr val="193F30"/>
                </a:solidFill>
              </a:defRPr>
            </a:lvl5pPr>
            <a:lvl6pPr>
              <a:defRPr sz="2100" b="1">
                <a:solidFill>
                  <a:srgbClr val="193F30"/>
                </a:solidFill>
              </a:defRPr>
            </a:lvl6pPr>
            <a:lvl7pPr>
              <a:defRPr sz="2100" b="1">
                <a:solidFill>
                  <a:srgbClr val="193F30"/>
                </a:solidFill>
              </a:defRPr>
            </a:lvl7pPr>
            <a:lvl8pPr>
              <a:defRPr sz="2100" b="1">
                <a:solidFill>
                  <a:srgbClr val="193F30"/>
                </a:solidFill>
              </a:defRPr>
            </a:lvl8pPr>
            <a:lvl9pPr>
              <a:defRPr sz="2100" b="1">
                <a:solidFill>
                  <a:srgbClr val="193F30"/>
                </a:solidFill>
              </a:defRPr>
            </a:lvl9pPr>
          </a:lstStyle>
          <a:p xmlns:a="http://schemas.openxmlformats.org/drawingml/2006/main">
            <a:pPr>
              <a:defRPr sz="2100" b="1">
                <a:solidFill>
                  <a:srgbClr val="193F30"/>
                </a:solidFill>
              </a:defRPr>
            </a:pPr>
            <a:r>
              <a:rPr sz="2100" b="1">
                <a:solidFill>
                  <a:srgbClr val="193F30"/>
                </a:solidFill>
              </a:rPr>
              <a:t>Up to 2 redemptions per month. Sorting and evening charges still apply.</a:t>
            </a:r>
          </a:p>
        </p:txBody>
      </p:sp>
      <p:sp>
        <p:nvSpPr>
          <p:cNvPr id="10" name="">
            <a:extLst xmlns:a="http://schemas.openxmlformats.org/drawingml/2006/main">
              <a:ext uri="{FF2B5EF4-FFF2-40B4-BE49-F238E27FC236}">
                <a16:creationId xmlns:a16="http://schemas.microsoft.com/office/drawing/2014/main" id="{57C4BB14-ECFB-4E6E-BDD2-1DFE4A7706C8}"/>
              </a:ext>
            </a:extLst>
          </p:cNvPr>
          <p:cNvSpPr>
            <a:spLocks xmlns:a="http://schemas.openxmlformats.org/drawingml/2006/main" noGrp="1"/>
          </p:cNvSpPr>
          <p:nvPr/>
        </p:nvSpPr>
        <p:spPr>
          <a:xfrm xmlns:a="http://schemas.openxmlformats.org/drawingml/2006/main">
            <a:off x="619125" y="5667375"/>
            <a:ext cx="1085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617468"/>
                </a:solidFill>
              </a:defRPr>
            </a:defPPr>
            <a:lvl1pPr>
              <a:defRPr sz="1800" b="0">
                <a:solidFill>
                  <a:srgbClr val="617468"/>
                </a:solidFill>
              </a:defRPr>
            </a:lvl1pPr>
            <a:lvl2pPr>
              <a:defRPr sz="1800" b="0">
                <a:solidFill>
                  <a:srgbClr val="617468"/>
                </a:solidFill>
              </a:defRPr>
            </a:lvl2pPr>
            <a:lvl3pPr>
              <a:defRPr sz="1800" b="0">
                <a:solidFill>
                  <a:srgbClr val="617468"/>
                </a:solidFill>
              </a:defRPr>
            </a:lvl3pPr>
            <a:lvl4pPr>
              <a:defRPr sz="1800" b="0">
                <a:solidFill>
                  <a:srgbClr val="617468"/>
                </a:solidFill>
              </a:defRPr>
            </a:lvl4pPr>
            <a:lvl5pPr>
              <a:defRPr sz="1800" b="0">
                <a:solidFill>
                  <a:srgbClr val="617468"/>
                </a:solidFill>
              </a:defRPr>
            </a:lvl5pPr>
            <a:lvl6pPr>
              <a:defRPr sz="1800" b="0">
                <a:solidFill>
                  <a:srgbClr val="617468"/>
                </a:solidFill>
              </a:defRPr>
            </a:lvl6pPr>
            <a:lvl7pPr>
              <a:defRPr sz="1800" b="0">
                <a:solidFill>
                  <a:srgbClr val="617468"/>
                </a:solidFill>
              </a:defRPr>
            </a:lvl7pPr>
            <a:lvl8pPr>
              <a:defRPr sz="1800" b="0">
                <a:solidFill>
                  <a:srgbClr val="617468"/>
                </a:solidFill>
              </a:defRPr>
            </a:lvl8pPr>
            <a:lvl9pPr>
              <a:defRPr sz="1800" b="0">
                <a:solidFill>
                  <a:srgbClr val="617468"/>
                </a:solidFill>
              </a:defRPr>
            </a:lvl9pPr>
          </a:lstStyle>
          <a:p xmlns:a="http://schemas.openxmlformats.org/drawingml/2006/main">
            <a:pPr>
              <a:defRPr sz="1800" b="0">
                <a:solidFill>
                  <a:srgbClr val="617468"/>
                </a:solidFill>
              </a:defRPr>
            </a:pPr>
            <a:r>
              <a:rPr sz="1800" b="0">
                <a:solidFill>
                  <a:srgbClr val="617468"/>
                </a:solidFill>
              </a:rPr>
              <a:t>History supports repeat pickups. The optional locality leaderboard uses an alias.</a:t>
            </a:r>
          </a:p>
        </p:txBody>
      </p:sp>
    </p:spTree>
    <p:extLst>
      <p:ext uri="{BB962C8B-B14F-4D97-AF65-F5344CB8AC3E}">
        <p14:creationId xmlns:p14="http://schemas.microsoft.com/office/powerpoint/2010/main" val="606442955"/>
      </p:ext>
    </p:extLst>
  </p:cSld>
</p:sld>
</file>

<file path=ppt/slides/slide12.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E5F540D-D352-4D9A-9E53-8803169BFD25}"/>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How Waste Right earns revenue</a:t>
            </a:r>
          </a:p>
        </p:txBody>
      </p:sp>
      <p:sp>
        <p:nvSpPr>
          <p:cNvPr id="3" name="">
            <a:extLst xmlns:a="http://schemas.openxmlformats.org/drawingml/2006/main">
              <a:ext uri="{FF2B5EF4-FFF2-40B4-BE49-F238E27FC236}">
                <a16:creationId xmlns:a16="http://schemas.microsoft.com/office/drawing/2014/main" id="{24DF22A0-6995-4FC3-B532-7A49F3F5D156}"/>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83151EC5-69CE-43AF-AFE6-61E44B95EFB6}"/>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12</a:t>
            </a:r>
          </a:p>
        </p:txBody>
      </p:sp>
      <p:sp>
        <p:nvSpPr>
          <p:cNvPr id="5" name="">
            <a:extLst xmlns:a="http://schemas.openxmlformats.org/drawingml/2006/main">
              <a:ext uri="{FF2B5EF4-FFF2-40B4-BE49-F238E27FC236}">
                <a16:creationId xmlns:a16="http://schemas.microsoft.com/office/drawing/2014/main" id="{DA61B95A-A6B3-4683-B809-B28FBB973B8D}"/>
              </a:ext>
            </a:extLst>
          </p:cNvPr>
          <p:cNvSpPr>
            <a:spLocks xmlns:a="http://schemas.openxmlformats.org/drawingml/2006/main" noGrp="1"/>
          </p:cNvSpPr>
          <p:nvPr/>
        </p:nvSpPr>
        <p:spPr>
          <a:xfrm xmlns:a="http://schemas.openxmlformats.org/drawingml/2006/main">
            <a:off x="619125" y="20002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Service income</a:t>
            </a:r>
          </a:p>
        </p:txBody>
      </p:sp>
      <p:sp>
        <p:nvSpPr>
          <p:cNvPr id="6" name="">
            <a:extLst xmlns:a="http://schemas.openxmlformats.org/drawingml/2006/main">
              <a:ext uri="{FF2B5EF4-FFF2-40B4-BE49-F238E27FC236}">
                <a16:creationId xmlns:a16="http://schemas.microsoft.com/office/drawing/2014/main" id="{B015C0D0-ADB0-4CB2-99A9-8144D7E986F0}"/>
              </a:ext>
            </a:extLst>
          </p:cNvPr>
          <p:cNvSpPr>
            <a:spLocks xmlns:a="http://schemas.openxmlformats.org/drawingml/2006/main" noGrp="1"/>
          </p:cNvSpPr>
          <p:nvPr/>
        </p:nvSpPr>
        <p:spPr>
          <a:xfrm xmlns:a="http://schemas.openxmlformats.org/drawingml/2006/main">
            <a:off x="619125" y="2619375"/>
            <a:ext cx="5143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Basic pickup fees and monthly passes fund collection. Sorting charges cover the additional work for unsegregated waste.</a:t>
            </a:r>
          </a:p>
        </p:txBody>
      </p:sp>
      <p:sp>
        <p:nvSpPr>
          <p:cNvPr id="7" name="">
            <a:extLst xmlns:a="http://schemas.openxmlformats.org/drawingml/2006/main">
              <a:ext uri="{FF2B5EF4-FFF2-40B4-BE49-F238E27FC236}">
                <a16:creationId xmlns:a16="http://schemas.microsoft.com/office/drawing/2014/main" id="{75CAF131-F59E-4611-9483-592FD5A4DBAE}"/>
              </a:ext>
            </a:extLst>
          </p:cNvPr>
          <p:cNvSpPr>
            <a:spLocks xmlns:a="http://schemas.openxmlformats.org/drawingml/2006/main" noGrp="1"/>
          </p:cNvSpPr>
          <p:nvPr/>
        </p:nvSpPr>
        <p:spPr>
          <a:xfrm xmlns:a="http://schemas.openxmlformats.org/drawingml/2006/main">
            <a:off x="6667500" y="20002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Material recovery</a:t>
            </a:r>
          </a:p>
        </p:txBody>
      </p:sp>
      <p:sp>
        <p:nvSpPr>
          <p:cNvPr id="8" name="">
            <a:extLst xmlns:a="http://schemas.openxmlformats.org/drawingml/2006/main">
              <a:ext uri="{FF2B5EF4-FFF2-40B4-BE49-F238E27FC236}">
                <a16:creationId xmlns:a16="http://schemas.microsoft.com/office/drawing/2014/main" id="{976ED4D1-1B53-4063-B1C9-8D3B2A4A6C22}"/>
              </a:ext>
            </a:extLst>
          </p:cNvPr>
          <p:cNvSpPr>
            <a:spLocks xmlns:a="http://schemas.openxmlformats.org/drawingml/2006/main" noGrp="1"/>
          </p:cNvSpPr>
          <p:nvPr/>
        </p:nvSpPr>
        <p:spPr>
          <a:xfrm xmlns:a="http://schemas.openxmlformats.org/drawingml/2006/main">
            <a:off x="6667500" y="2619375"/>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Accepted material can generate buyer proceeds. Recorded direct costs and the plan’s resident share determine what remains.</a:t>
            </a:r>
          </a:p>
        </p:txBody>
      </p:sp>
      <p:sp>
        <p:nvSpPr>
          <p:cNvPr id="9" name="">
            <a:extLst xmlns:a="http://schemas.openxmlformats.org/drawingml/2006/main">
              <a:ext uri="{FF2B5EF4-FFF2-40B4-BE49-F238E27FC236}">
                <a16:creationId xmlns:a16="http://schemas.microsoft.com/office/drawing/2014/main" id="{0728604A-F931-412F-B87A-807CC006AD5C}"/>
              </a:ext>
            </a:extLst>
          </p:cNvPr>
          <p:cNvSpPr>
            <a:spLocks xmlns:a="http://schemas.openxmlformats.org/drawingml/2006/main" noGrp="1"/>
          </p:cNvSpPr>
          <p:nvPr/>
        </p:nvSpPr>
        <p:spPr>
          <a:xfrm xmlns:a="http://schemas.openxmlformats.org/drawingml/2006/main">
            <a:off x="619125" y="49530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6860A5"/>
                </a:solidFill>
              </a:defRPr>
            </a:defPPr>
            <a:lvl1pPr>
              <a:defRPr sz="2850" b="1">
                <a:solidFill>
                  <a:srgbClr val="6860A5"/>
                </a:solidFill>
              </a:defRPr>
            </a:lvl1pPr>
            <a:lvl2pPr>
              <a:defRPr sz="2850" b="1">
                <a:solidFill>
                  <a:srgbClr val="6860A5"/>
                </a:solidFill>
              </a:defRPr>
            </a:lvl2pPr>
            <a:lvl3pPr>
              <a:defRPr sz="2850" b="1">
                <a:solidFill>
                  <a:srgbClr val="6860A5"/>
                </a:solidFill>
              </a:defRPr>
            </a:lvl3pPr>
            <a:lvl4pPr>
              <a:defRPr sz="2850" b="1">
                <a:solidFill>
                  <a:srgbClr val="6860A5"/>
                </a:solidFill>
              </a:defRPr>
            </a:lvl4pPr>
            <a:lvl5pPr>
              <a:defRPr sz="2850" b="1">
                <a:solidFill>
                  <a:srgbClr val="6860A5"/>
                </a:solidFill>
              </a:defRPr>
            </a:lvl5pPr>
            <a:lvl6pPr>
              <a:defRPr sz="2850" b="1">
                <a:solidFill>
                  <a:srgbClr val="6860A5"/>
                </a:solidFill>
              </a:defRPr>
            </a:lvl6pPr>
            <a:lvl7pPr>
              <a:defRPr sz="2850" b="1">
                <a:solidFill>
                  <a:srgbClr val="6860A5"/>
                </a:solidFill>
              </a:defRPr>
            </a:lvl7pPr>
            <a:lvl8pPr>
              <a:defRPr sz="2850" b="1">
                <a:solidFill>
                  <a:srgbClr val="6860A5"/>
                </a:solidFill>
              </a:defRPr>
            </a:lvl8pPr>
            <a:lvl9pPr>
              <a:defRPr sz="2850" b="1">
                <a:solidFill>
                  <a:srgbClr val="6860A5"/>
                </a:solidFill>
              </a:defRPr>
            </a:lvl9pPr>
          </a:lstStyle>
          <a:p xmlns:a="http://schemas.openxmlformats.org/drawingml/2006/main">
            <a:pPr>
              <a:defRPr sz="2850" b="1">
                <a:solidFill>
                  <a:srgbClr val="6860A5"/>
                </a:solidFill>
              </a:defRPr>
            </a:pPr>
            <a:r>
              <a:rPr sz="2850" b="1">
                <a:solidFill>
                  <a:srgbClr val="6860A5"/>
                </a:solidFill>
              </a:rPr>
              <a:t>Profit depends on operating costs</a:t>
            </a:r>
          </a:p>
        </p:txBody>
      </p:sp>
      <p:sp>
        <p:nvSpPr>
          <p:cNvPr id="10" name="">
            <a:extLst xmlns:a="http://schemas.openxmlformats.org/drawingml/2006/main">
              <a:ext uri="{FF2B5EF4-FFF2-40B4-BE49-F238E27FC236}">
                <a16:creationId xmlns:a16="http://schemas.microsoft.com/office/drawing/2014/main" id="{D84FA3D8-BF03-4396-B0F3-97363162B6EB}"/>
              </a:ext>
            </a:extLst>
          </p:cNvPr>
          <p:cNvSpPr>
            <a:spLocks xmlns:a="http://schemas.openxmlformats.org/drawingml/2006/main" noGrp="1"/>
          </p:cNvSpPr>
          <p:nvPr/>
        </p:nvSpPr>
        <p:spPr>
          <a:xfrm xmlns:a="http://schemas.openxmlformats.org/drawingml/2006/main">
            <a:off x="619125" y="561975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Helper pay, transport, sorting, downstream handling, AI, payments and support all reduce service revenue.</a:t>
            </a:r>
          </a:p>
        </p:txBody>
      </p:sp>
    </p:spTree>
    <p:extLst>
      <p:ext uri="{BB962C8B-B14F-4D97-AF65-F5344CB8AC3E}">
        <p14:creationId xmlns:p14="http://schemas.microsoft.com/office/powerpoint/2010/main" val="440842656"/>
      </p:ext>
    </p:extLst>
  </p:cSld>
</p:sld>
</file>

<file path=ppt/slides/slide13.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E132E9E-DFF5-43E6-BA95-BECEF0DD5D39}"/>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The pilot must validate the collection cost</a:t>
            </a:r>
          </a:p>
        </p:txBody>
      </p:sp>
      <p:sp>
        <p:nvSpPr>
          <p:cNvPr id="3" name="">
            <a:extLst xmlns:a="http://schemas.openxmlformats.org/drawingml/2006/main">
              <a:ext uri="{FF2B5EF4-FFF2-40B4-BE49-F238E27FC236}">
                <a16:creationId xmlns:a16="http://schemas.microsoft.com/office/drawing/2014/main" id="{DCF11DE8-244E-4ACF-9025-9B650C1014C9}"/>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AA27712E-A4ED-4D70-8199-317B99F2D5F3}"/>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13</a:t>
            </a:r>
          </a:p>
        </p:txBody>
      </p:sp>
      <p:sp>
        <p:nvSpPr>
          <p:cNvPr id="5" name="">
            <a:extLst xmlns:a="http://schemas.openxmlformats.org/drawingml/2006/main">
              <a:ext uri="{FF2B5EF4-FFF2-40B4-BE49-F238E27FC236}">
                <a16:creationId xmlns:a16="http://schemas.microsoft.com/office/drawing/2014/main" id="{5FAE70A5-F443-4CD4-9344-C0B4DE5AFD4E}"/>
              </a:ext>
            </a:extLst>
          </p:cNvPr>
          <p:cNvSpPr>
            <a:spLocks xmlns:a="http://schemas.openxmlformats.org/drawingml/2006/main" noGrp="1"/>
          </p:cNvSpPr>
          <p:nvPr/>
        </p:nvSpPr>
        <p:spPr>
          <a:xfrm xmlns:a="http://schemas.openxmlformats.org/drawingml/2006/main">
            <a:off x="619125" y="1762125"/>
            <a:ext cx="10858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6860A5"/>
                </a:solidFill>
              </a:defRPr>
            </a:defPPr>
            <a:lvl1pPr>
              <a:defRPr sz="2550" b="1">
                <a:solidFill>
                  <a:srgbClr val="6860A5"/>
                </a:solidFill>
              </a:defRPr>
            </a:lvl1pPr>
            <a:lvl2pPr>
              <a:defRPr sz="2550" b="1">
                <a:solidFill>
                  <a:srgbClr val="6860A5"/>
                </a:solidFill>
              </a:defRPr>
            </a:lvl2pPr>
            <a:lvl3pPr>
              <a:defRPr sz="2550" b="1">
                <a:solidFill>
                  <a:srgbClr val="6860A5"/>
                </a:solidFill>
              </a:defRPr>
            </a:lvl3pPr>
            <a:lvl4pPr>
              <a:defRPr sz="2550" b="1">
                <a:solidFill>
                  <a:srgbClr val="6860A5"/>
                </a:solidFill>
              </a:defRPr>
            </a:lvl4pPr>
            <a:lvl5pPr>
              <a:defRPr sz="2550" b="1">
                <a:solidFill>
                  <a:srgbClr val="6860A5"/>
                </a:solidFill>
              </a:defRPr>
            </a:lvl5pPr>
            <a:lvl6pPr>
              <a:defRPr sz="2550" b="1">
                <a:solidFill>
                  <a:srgbClr val="6860A5"/>
                </a:solidFill>
              </a:defRPr>
            </a:lvl6pPr>
            <a:lvl7pPr>
              <a:defRPr sz="2550" b="1">
                <a:solidFill>
                  <a:srgbClr val="6860A5"/>
                </a:solidFill>
              </a:defRPr>
            </a:lvl7pPr>
            <a:lvl8pPr>
              <a:defRPr sz="2550" b="1">
                <a:solidFill>
                  <a:srgbClr val="6860A5"/>
                </a:solidFill>
              </a:defRPr>
            </a:lvl8pPr>
            <a:lvl9pPr>
              <a:defRPr sz="2550" b="1">
                <a:solidFill>
                  <a:srgbClr val="6860A5"/>
                </a:solidFill>
              </a:defRPr>
            </a:lvl9pPr>
          </a:lstStyle>
          <a:p xmlns:a="http://schemas.openxmlformats.org/drawingml/2006/main">
            <a:pPr>
              <a:defRPr sz="2550" b="1">
                <a:solidFill>
                  <a:srgbClr val="6860A5"/>
                </a:solidFill>
              </a:defRPr>
            </a:pPr>
            <a:r>
              <a:rPr sz="2550" b="1">
                <a:solidFill>
                  <a:srgbClr val="6860A5"/>
                </a:solidFill>
              </a:rPr>
              <a:t>Illustration: 20 Gold + 10 Platinum households</a:t>
            </a:r>
          </a:p>
        </p:txBody>
      </p:sp>
      <p:sp>
        <p:nvSpPr>
          <p:cNvPr id="6" name="">
            <a:extLst xmlns:a="http://schemas.openxmlformats.org/drawingml/2006/main">
              <a:ext uri="{FF2B5EF4-FFF2-40B4-BE49-F238E27FC236}">
                <a16:creationId xmlns:a16="http://schemas.microsoft.com/office/drawing/2014/main" id="{E040B24B-76EA-4BB5-853A-B64D5FAED19A}"/>
              </a:ext>
            </a:extLst>
          </p:cNvPr>
          <p:cNvSpPr>
            <a:spLocks xmlns:a="http://schemas.openxmlformats.org/drawingml/2006/main" noGrp="1"/>
          </p:cNvSpPr>
          <p:nvPr/>
        </p:nvSpPr>
        <p:spPr>
          <a:xfrm xmlns:a="http://schemas.openxmlformats.org/drawingml/2006/main">
            <a:off x="619125" y="2714625"/>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193F30"/>
                </a:solidFill>
              </a:defRPr>
            </a:defPPr>
            <a:lvl1pPr>
              <a:defRPr sz="5400" b="1">
                <a:solidFill>
                  <a:srgbClr val="193F30"/>
                </a:solidFill>
              </a:defRPr>
            </a:lvl1pPr>
            <a:lvl2pPr>
              <a:defRPr sz="5400" b="1">
                <a:solidFill>
                  <a:srgbClr val="193F30"/>
                </a:solidFill>
              </a:defRPr>
            </a:lvl2pPr>
            <a:lvl3pPr>
              <a:defRPr sz="5400" b="1">
                <a:solidFill>
                  <a:srgbClr val="193F30"/>
                </a:solidFill>
              </a:defRPr>
            </a:lvl3pPr>
            <a:lvl4pPr>
              <a:defRPr sz="5400" b="1">
                <a:solidFill>
                  <a:srgbClr val="193F30"/>
                </a:solidFill>
              </a:defRPr>
            </a:lvl4pPr>
            <a:lvl5pPr>
              <a:defRPr sz="5400" b="1">
                <a:solidFill>
                  <a:srgbClr val="193F30"/>
                </a:solidFill>
              </a:defRPr>
            </a:lvl5pPr>
            <a:lvl6pPr>
              <a:defRPr sz="5400" b="1">
                <a:solidFill>
                  <a:srgbClr val="193F30"/>
                </a:solidFill>
              </a:defRPr>
            </a:lvl6pPr>
            <a:lvl7pPr>
              <a:defRPr sz="5400" b="1">
                <a:solidFill>
                  <a:srgbClr val="193F30"/>
                </a:solidFill>
              </a:defRPr>
            </a:lvl7pPr>
            <a:lvl8pPr>
              <a:defRPr sz="5400" b="1">
                <a:solidFill>
                  <a:srgbClr val="193F30"/>
                </a:solidFill>
              </a:defRPr>
            </a:lvl8pPr>
            <a:lvl9pPr>
              <a:defRPr sz="5400" b="1">
                <a:solidFill>
                  <a:srgbClr val="193F30"/>
                </a:solidFill>
              </a:defRPr>
            </a:lvl9pPr>
          </a:lstStyle>
          <a:p xmlns:a="http://schemas.openxmlformats.org/drawingml/2006/main">
            <a:pPr>
              <a:defRPr sz="5400" b="1">
                <a:solidFill>
                  <a:srgbClr val="193F30"/>
                </a:solidFill>
              </a:defRPr>
            </a:pPr>
            <a:r>
              <a:rPr sz="5400" b="1">
                <a:solidFill>
                  <a:srgbClr val="193F30"/>
                </a:solidFill>
              </a:rPr>
              <a:t>₹18,970</a:t>
            </a:r>
          </a:p>
        </p:txBody>
      </p:sp>
      <p:sp>
        <p:nvSpPr>
          <p:cNvPr id="7" name="">
            <a:extLst xmlns:a="http://schemas.openxmlformats.org/drawingml/2006/main">
              <a:ext uri="{FF2B5EF4-FFF2-40B4-BE49-F238E27FC236}">
                <a16:creationId xmlns:a16="http://schemas.microsoft.com/office/drawing/2014/main" id="{AD2FF5EC-490D-4B74-BD60-15FDC588E930}"/>
              </a:ext>
            </a:extLst>
          </p:cNvPr>
          <p:cNvSpPr>
            <a:spLocks xmlns:a="http://schemas.openxmlformats.org/drawingml/2006/main" noGrp="1"/>
          </p:cNvSpPr>
          <p:nvPr/>
        </p:nvSpPr>
        <p:spPr>
          <a:xfrm xmlns:a="http://schemas.openxmlformats.org/drawingml/2006/main">
            <a:off x="619125" y="38100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17468"/>
                </a:solidFill>
              </a:defRPr>
            </a:defPPr>
            <a:lvl1pPr>
              <a:defRPr sz="2100" b="0">
                <a:solidFill>
                  <a:srgbClr val="617468"/>
                </a:solidFill>
              </a:defRPr>
            </a:lvl1pPr>
            <a:lvl2pPr>
              <a:defRPr sz="2100" b="0">
                <a:solidFill>
                  <a:srgbClr val="617468"/>
                </a:solidFill>
              </a:defRPr>
            </a:lvl2pPr>
            <a:lvl3pPr>
              <a:defRPr sz="2100" b="0">
                <a:solidFill>
                  <a:srgbClr val="617468"/>
                </a:solidFill>
              </a:defRPr>
            </a:lvl3pPr>
            <a:lvl4pPr>
              <a:defRPr sz="2100" b="0">
                <a:solidFill>
                  <a:srgbClr val="617468"/>
                </a:solidFill>
              </a:defRPr>
            </a:lvl4pPr>
            <a:lvl5pPr>
              <a:defRPr sz="2100" b="0">
                <a:solidFill>
                  <a:srgbClr val="617468"/>
                </a:solidFill>
              </a:defRPr>
            </a:lvl5pPr>
            <a:lvl6pPr>
              <a:defRPr sz="2100" b="0">
                <a:solidFill>
                  <a:srgbClr val="617468"/>
                </a:solidFill>
              </a:defRPr>
            </a:lvl6pPr>
            <a:lvl7pPr>
              <a:defRPr sz="2100" b="0">
                <a:solidFill>
                  <a:srgbClr val="617468"/>
                </a:solidFill>
              </a:defRPr>
            </a:lvl7pPr>
            <a:lvl8pPr>
              <a:defRPr sz="2100" b="0">
                <a:solidFill>
                  <a:srgbClr val="617468"/>
                </a:solidFill>
              </a:defRPr>
            </a:lvl8pPr>
            <a:lvl9pPr>
              <a:defRPr sz="2100" b="0">
                <a:solidFill>
                  <a:srgbClr val="617468"/>
                </a:solidFill>
              </a:defRPr>
            </a:lvl9pPr>
          </a:lstStyle>
          <a:p xmlns:a="http://schemas.openxmlformats.org/drawingml/2006/main">
            <a:pPr>
              <a:defRPr sz="2100" b="0">
                <a:solidFill>
                  <a:srgbClr val="617468"/>
                </a:solidFill>
              </a:defRPr>
            </a:pPr>
            <a:r>
              <a:rPr sz="2100" b="0">
                <a:solidFill>
                  <a:srgbClr val="617468"/>
                </a:solidFill>
              </a:rPr>
              <a:t>monthly subscription revenue</a:t>
            </a:r>
          </a:p>
          <a:p xmlns:a="http://schemas.openxmlformats.org/drawingml/2006/main">
            <a:pPr>
              <a:defRPr sz="2100" b="0">
                <a:solidFill>
                  <a:srgbClr val="617468"/>
                </a:solidFill>
              </a:defRPr>
            </a:pPr>
            <a:r>
              <a:rPr sz="2100" b="0">
                <a:solidFill>
                  <a:srgbClr val="617468"/>
                </a:solidFill>
              </a:rPr>
              <a:t>before any operating costs</a:t>
            </a:r>
          </a:p>
        </p:txBody>
      </p:sp>
      <p:sp>
        <p:nvSpPr>
          <p:cNvPr id="8" name="">
            <a:extLst xmlns:a="http://schemas.openxmlformats.org/drawingml/2006/main">
              <a:ext uri="{FF2B5EF4-FFF2-40B4-BE49-F238E27FC236}">
                <a16:creationId xmlns:a16="http://schemas.microsoft.com/office/drawing/2014/main" id="{DC7682E2-EC45-4578-A035-C2A698976C10}"/>
              </a:ext>
            </a:extLst>
          </p:cNvPr>
          <p:cNvSpPr>
            <a:spLocks xmlns:a="http://schemas.openxmlformats.org/drawingml/2006/main" noGrp="1"/>
          </p:cNvSpPr>
          <p:nvPr/>
        </p:nvSpPr>
        <p:spPr>
          <a:xfrm xmlns:a="http://schemas.openxmlformats.org/drawingml/2006/main">
            <a:off x="6667500" y="2714625"/>
            <a:ext cx="4857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193F30"/>
                </a:solidFill>
              </a:defRPr>
            </a:defPPr>
            <a:lvl1pPr>
              <a:defRPr sz="5400" b="1">
                <a:solidFill>
                  <a:srgbClr val="193F30"/>
                </a:solidFill>
              </a:defRPr>
            </a:lvl1pPr>
            <a:lvl2pPr>
              <a:defRPr sz="5400" b="1">
                <a:solidFill>
                  <a:srgbClr val="193F30"/>
                </a:solidFill>
              </a:defRPr>
            </a:lvl2pPr>
            <a:lvl3pPr>
              <a:defRPr sz="5400" b="1">
                <a:solidFill>
                  <a:srgbClr val="193F30"/>
                </a:solidFill>
              </a:defRPr>
            </a:lvl3pPr>
            <a:lvl4pPr>
              <a:defRPr sz="5400" b="1">
                <a:solidFill>
                  <a:srgbClr val="193F30"/>
                </a:solidFill>
              </a:defRPr>
            </a:lvl4pPr>
            <a:lvl5pPr>
              <a:defRPr sz="5400" b="1">
                <a:solidFill>
                  <a:srgbClr val="193F30"/>
                </a:solidFill>
              </a:defRPr>
            </a:lvl5pPr>
            <a:lvl6pPr>
              <a:defRPr sz="5400" b="1">
                <a:solidFill>
                  <a:srgbClr val="193F30"/>
                </a:solidFill>
              </a:defRPr>
            </a:lvl6pPr>
            <a:lvl7pPr>
              <a:defRPr sz="5400" b="1">
                <a:solidFill>
                  <a:srgbClr val="193F30"/>
                </a:solidFill>
              </a:defRPr>
            </a:lvl7pPr>
            <a:lvl8pPr>
              <a:defRPr sz="5400" b="1">
                <a:solidFill>
                  <a:srgbClr val="193F30"/>
                </a:solidFill>
              </a:defRPr>
            </a:lvl8pPr>
            <a:lvl9pPr>
              <a:defRPr sz="5400" b="1">
                <a:solidFill>
                  <a:srgbClr val="193F30"/>
                </a:solidFill>
              </a:defRPr>
            </a:lvl9pPr>
          </a:lstStyle>
          <a:p xmlns:a="http://schemas.openxmlformats.org/drawingml/2006/main">
            <a:pPr>
              <a:defRPr sz="5400" b="1">
                <a:solidFill>
                  <a:srgbClr val="193F30"/>
                </a:solidFill>
              </a:defRPr>
            </a:pPr>
            <a:r>
              <a:rPr sz="5400" b="1">
                <a:solidFill>
                  <a:srgbClr val="193F30"/>
                </a:solidFill>
              </a:rPr>
              <a:t>520</a:t>
            </a:r>
          </a:p>
        </p:txBody>
      </p:sp>
      <p:sp>
        <p:nvSpPr>
          <p:cNvPr id="9" name="">
            <a:extLst xmlns:a="http://schemas.openxmlformats.org/drawingml/2006/main">
              <a:ext uri="{FF2B5EF4-FFF2-40B4-BE49-F238E27FC236}">
                <a16:creationId xmlns:a16="http://schemas.microsoft.com/office/drawing/2014/main" id="{D26CD80B-8695-4397-B9D2-8BD0DFEDF0D9}"/>
              </a:ext>
            </a:extLst>
          </p:cNvPr>
          <p:cNvSpPr>
            <a:spLocks xmlns:a="http://schemas.openxmlformats.org/drawingml/2006/main" noGrp="1"/>
          </p:cNvSpPr>
          <p:nvPr/>
        </p:nvSpPr>
        <p:spPr>
          <a:xfrm xmlns:a="http://schemas.openxmlformats.org/drawingml/2006/main">
            <a:off x="6667500" y="381000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617468"/>
                </a:solidFill>
              </a:defRPr>
            </a:defPPr>
            <a:lvl1pPr>
              <a:defRPr sz="2100" b="0">
                <a:solidFill>
                  <a:srgbClr val="617468"/>
                </a:solidFill>
              </a:defRPr>
            </a:lvl1pPr>
            <a:lvl2pPr>
              <a:defRPr sz="2100" b="0">
                <a:solidFill>
                  <a:srgbClr val="617468"/>
                </a:solidFill>
              </a:defRPr>
            </a:lvl2pPr>
            <a:lvl3pPr>
              <a:defRPr sz="2100" b="0">
                <a:solidFill>
                  <a:srgbClr val="617468"/>
                </a:solidFill>
              </a:defRPr>
            </a:lvl3pPr>
            <a:lvl4pPr>
              <a:defRPr sz="2100" b="0">
                <a:solidFill>
                  <a:srgbClr val="617468"/>
                </a:solidFill>
              </a:defRPr>
            </a:lvl4pPr>
            <a:lvl5pPr>
              <a:defRPr sz="2100" b="0">
                <a:solidFill>
                  <a:srgbClr val="617468"/>
                </a:solidFill>
              </a:defRPr>
            </a:lvl5pPr>
            <a:lvl6pPr>
              <a:defRPr sz="2100" b="0">
                <a:solidFill>
                  <a:srgbClr val="617468"/>
                </a:solidFill>
              </a:defRPr>
            </a:lvl6pPr>
            <a:lvl7pPr>
              <a:defRPr sz="2100" b="0">
                <a:solidFill>
                  <a:srgbClr val="617468"/>
                </a:solidFill>
              </a:defRPr>
            </a:lvl7pPr>
            <a:lvl8pPr>
              <a:defRPr sz="2100" b="0">
                <a:solidFill>
                  <a:srgbClr val="617468"/>
                </a:solidFill>
              </a:defRPr>
            </a:lvl8pPr>
            <a:lvl9pPr>
              <a:defRPr sz="2100" b="0">
                <a:solidFill>
                  <a:srgbClr val="617468"/>
                </a:solidFill>
              </a:defRPr>
            </a:lvl9pPr>
          </a:lstStyle>
          <a:p xmlns:a="http://schemas.openxmlformats.org/drawingml/2006/main">
            <a:pPr>
              <a:defRPr sz="2100" b="0">
                <a:solidFill>
                  <a:srgbClr val="617468"/>
                </a:solidFill>
              </a:defRPr>
            </a:pPr>
            <a:r>
              <a:rPr sz="2100" b="0">
                <a:solidFill>
                  <a:srgbClr val="617468"/>
                </a:solidFill>
              </a:rPr>
              <a:t>included pickups if every household</a:t>
            </a:r>
          </a:p>
          <a:p xmlns:a="http://schemas.openxmlformats.org/drawingml/2006/main">
            <a:pPr>
              <a:defRPr sz="2100" b="0">
                <a:solidFill>
                  <a:srgbClr val="617468"/>
                </a:solidFill>
              </a:defRPr>
            </a:pPr>
            <a:r>
              <a:rPr sz="2100" b="0">
                <a:solidFill>
                  <a:srgbClr val="617468"/>
                </a:solidFill>
              </a:rPr>
              <a:t>uses its full monthly allowance</a:t>
            </a:r>
          </a:p>
        </p:txBody>
      </p:sp>
      <p:sp>
        <p:nvSpPr>
          <p:cNvPr id="10" name="">
            <a:extLst xmlns:a="http://schemas.openxmlformats.org/drawingml/2006/main">
              <a:ext uri="{FF2B5EF4-FFF2-40B4-BE49-F238E27FC236}">
                <a16:creationId xmlns:a16="http://schemas.microsoft.com/office/drawing/2014/main" id="{891B82F9-6618-4343-A181-4CD7D2C98A0E}"/>
              </a:ext>
            </a:extLst>
          </p:cNvPr>
          <p:cNvSpPr>
            <a:spLocks xmlns:a="http://schemas.openxmlformats.org/drawingml/2006/main" noGrp="1"/>
          </p:cNvSpPr>
          <p:nvPr/>
        </p:nvSpPr>
        <p:spPr>
          <a:xfrm xmlns:a="http://schemas.openxmlformats.org/drawingml/2006/main">
            <a:off x="619125" y="509587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6860A5"/>
                </a:solidFill>
              </a:defRPr>
            </a:defPPr>
            <a:lvl1pPr>
              <a:defRPr sz="2400" b="1">
                <a:solidFill>
                  <a:srgbClr val="6860A5"/>
                </a:solidFill>
              </a:defRPr>
            </a:lvl1pPr>
            <a:lvl2pPr>
              <a:defRPr sz="2400" b="1">
                <a:solidFill>
                  <a:srgbClr val="6860A5"/>
                </a:solidFill>
              </a:defRPr>
            </a:lvl2pPr>
            <a:lvl3pPr>
              <a:defRPr sz="2400" b="1">
                <a:solidFill>
                  <a:srgbClr val="6860A5"/>
                </a:solidFill>
              </a:defRPr>
            </a:lvl3pPr>
            <a:lvl4pPr>
              <a:defRPr sz="2400" b="1">
                <a:solidFill>
                  <a:srgbClr val="6860A5"/>
                </a:solidFill>
              </a:defRPr>
            </a:lvl4pPr>
            <a:lvl5pPr>
              <a:defRPr sz="2400" b="1">
                <a:solidFill>
                  <a:srgbClr val="6860A5"/>
                </a:solidFill>
              </a:defRPr>
            </a:lvl5pPr>
            <a:lvl6pPr>
              <a:defRPr sz="2400" b="1">
                <a:solidFill>
                  <a:srgbClr val="6860A5"/>
                </a:solidFill>
              </a:defRPr>
            </a:lvl6pPr>
            <a:lvl7pPr>
              <a:defRPr sz="2400" b="1">
                <a:solidFill>
                  <a:srgbClr val="6860A5"/>
                </a:solidFill>
              </a:defRPr>
            </a:lvl7pPr>
            <a:lvl8pPr>
              <a:defRPr sz="2400" b="1">
                <a:solidFill>
                  <a:srgbClr val="6860A5"/>
                </a:solidFill>
              </a:defRPr>
            </a:lvl8pPr>
            <a:lvl9pPr>
              <a:defRPr sz="2400" b="1">
                <a:solidFill>
                  <a:srgbClr val="6860A5"/>
                </a:solidFill>
              </a:defRPr>
            </a:lvl9pPr>
          </a:lstStyle>
          <a:p xmlns:a="http://schemas.openxmlformats.org/drawingml/2006/main">
            <a:pPr>
              <a:defRPr sz="2400" b="1">
                <a:solidFill>
                  <a:srgbClr val="6860A5"/>
                </a:solidFill>
              </a:defRPr>
            </a:pPr>
            <a:r>
              <a:rPr sz="2400" b="1">
                <a:solidFill>
                  <a:srgbClr val="6860A5"/>
                </a:solidFill>
              </a:rPr>
              <a:t>₹36.48 service revenue per included pickup at full use</a:t>
            </a:r>
          </a:p>
        </p:txBody>
      </p:sp>
      <p:sp>
        <p:nvSpPr>
          <p:cNvPr id="11" name="">
            <a:extLst xmlns:a="http://schemas.openxmlformats.org/drawingml/2006/main">
              <a:ext uri="{FF2B5EF4-FFF2-40B4-BE49-F238E27FC236}">
                <a16:creationId xmlns:a16="http://schemas.microsoft.com/office/drawing/2014/main" id="{E7F4C117-82F7-4B62-8192-95435159C235}"/>
              </a:ext>
            </a:extLst>
          </p:cNvPr>
          <p:cNvSpPr>
            <a:spLocks xmlns:a="http://schemas.openxmlformats.org/drawingml/2006/main" noGrp="1"/>
          </p:cNvSpPr>
          <p:nvPr/>
        </p:nvSpPr>
        <p:spPr>
          <a:xfrm xmlns:a="http://schemas.openxmlformats.org/drawingml/2006/main">
            <a:off x="619125" y="571500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17468"/>
                </a:solidFill>
              </a:defRPr>
            </a:defPPr>
            <a:lvl1pPr>
              <a:defRPr sz="1725" b="0">
                <a:solidFill>
                  <a:srgbClr val="617468"/>
                </a:solidFill>
              </a:defRPr>
            </a:lvl1pPr>
            <a:lvl2pPr>
              <a:defRPr sz="1725" b="0">
                <a:solidFill>
                  <a:srgbClr val="617468"/>
                </a:solidFill>
              </a:defRPr>
            </a:lvl2pPr>
            <a:lvl3pPr>
              <a:defRPr sz="1725" b="0">
                <a:solidFill>
                  <a:srgbClr val="617468"/>
                </a:solidFill>
              </a:defRPr>
            </a:lvl3pPr>
            <a:lvl4pPr>
              <a:defRPr sz="1725" b="0">
                <a:solidFill>
                  <a:srgbClr val="617468"/>
                </a:solidFill>
              </a:defRPr>
            </a:lvl4pPr>
            <a:lvl5pPr>
              <a:defRPr sz="1725" b="0">
                <a:solidFill>
                  <a:srgbClr val="617468"/>
                </a:solidFill>
              </a:defRPr>
            </a:lvl5pPr>
            <a:lvl6pPr>
              <a:defRPr sz="1725" b="0">
                <a:solidFill>
                  <a:srgbClr val="617468"/>
                </a:solidFill>
              </a:defRPr>
            </a:lvl6pPr>
            <a:lvl7pPr>
              <a:defRPr sz="1725" b="0">
                <a:solidFill>
                  <a:srgbClr val="617468"/>
                </a:solidFill>
              </a:defRPr>
            </a:lvl7pPr>
            <a:lvl8pPr>
              <a:defRPr sz="1725" b="0">
                <a:solidFill>
                  <a:srgbClr val="617468"/>
                </a:solidFill>
              </a:defRPr>
            </a:lvl8pPr>
            <a:lvl9pPr>
              <a:defRPr sz="1725" b="0">
                <a:solidFill>
                  <a:srgbClr val="617468"/>
                </a:solidFill>
              </a:defRPr>
            </a:lvl9pPr>
          </a:lstStyle>
          <a:p xmlns:a="http://schemas.openxmlformats.org/drawingml/2006/main">
            <a:pPr>
              <a:defRPr sz="1725" b="0">
                <a:solidFill>
                  <a:srgbClr val="617468"/>
                </a:solidFill>
              </a:defRPr>
            </a:pPr>
            <a:r>
              <a:rPr sz="1725" b="0">
                <a:solidFill>
                  <a:srgbClr val="617468"/>
                </a:solidFill>
              </a:rPr>
              <a:t>Nearby collections on shared routes are the pilot operating approach. Actual costs will decide whether these prices can scale.</a:t>
            </a:r>
          </a:p>
        </p:txBody>
      </p:sp>
    </p:spTree>
    <p:extLst>
      <p:ext uri="{BB962C8B-B14F-4D97-AF65-F5344CB8AC3E}">
        <p14:creationId xmlns:p14="http://schemas.microsoft.com/office/powerpoint/2010/main" val="1667776441"/>
      </p:ext>
    </p:extLst>
  </p:cSld>
</p:sld>
</file>

<file path=ppt/slides/slide14.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BF4139-C5DA-4803-BA9E-0C7FF664613A}"/>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A working app, with launch work clearly defined</a:t>
            </a:r>
          </a:p>
        </p:txBody>
      </p:sp>
      <p:sp>
        <p:nvSpPr>
          <p:cNvPr id="3" name="">
            <a:extLst xmlns:a="http://schemas.openxmlformats.org/drawingml/2006/main">
              <a:ext uri="{FF2B5EF4-FFF2-40B4-BE49-F238E27FC236}">
                <a16:creationId xmlns:a16="http://schemas.microsoft.com/office/drawing/2014/main" id="{89918853-8E02-48B8-8E25-265CA9138872}"/>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C9523B06-E5BA-4AE5-BC4F-47C5EE1A42A5}"/>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14</a:t>
            </a:r>
          </a:p>
        </p:txBody>
      </p:sp>
      <p:sp>
        <p:nvSpPr>
          <p:cNvPr id="5" name="">
            <a:extLst xmlns:a="http://schemas.openxmlformats.org/drawingml/2006/main">
              <a:ext uri="{FF2B5EF4-FFF2-40B4-BE49-F238E27FC236}">
                <a16:creationId xmlns:a16="http://schemas.microsoft.com/office/drawing/2014/main" id="{BA921F7F-E4C9-4C5B-A6B0-CB8FDC14A10A}"/>
              </a:ext>
            </a:extLst>
          </p:cNvPr>
          <p:cNvSpPr>
            <a:spLocks xmlns:a="http://schemas.openxmlformats.org/drawingml/2006/main" noGrp="1"/>
          </p:cNvSpPr>
          <p:nvPr/>
        </p:nvSpPr>
        <p:spPr>
          <a:xfrm xmlns:a="http://schemas.openxmlformats.org/drawingml/2006/main">
            <a:off x="619125" y="18573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Implemented in the prototype</a:t>
            </a:r>
          </a:p>
        </p:txBody>
      </p:sp>
      <p:sp>
        <p:nvSpPr>
          <p:cNvPr id="6" name="">
            <a:extLst xmlns:a="http://schemas.openxmlformats.org/drawingml/2006/main">
              <a:ext uri="{FF2B5EF4-FFF2-40B4-BE49-F238E27FC236}">
                <a16:creationId xmlns:a16="http://schemas.microsoft.com/office/drawing/2014/main" id="{340A9B23-C93D-4E8A-8C21-4D32CCFF9AE4}"/>
              </a:ext>
            </a:extLst>
          </p:cNvPr>
          <p:cNvSpPr>
            <a:spLocks xmlns:a="http://schemas.openxmlformats.org/drawingml/2006/main" noGrp="1"/>
          </p:cNvSpPr>
          <p:nvPr/>
        </p:nvSpPr>
        <p:spPr>
          <a:xfrm xmlns:a="http://schemas.openxmlformats.org/drawingml/2006/main">
            <a:off x="619125" y="2476500"/>
            <a:ext cx="5334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Resident and helper accounts</a:t>
            </a:r>
          </a:p>
          <a:p xmlns:a="http://schemas.openxmlformats.org/drawingml/2006/main">
            <a:pPr>
              <a:defRPr sz="1950" b="0">
                <a:solidFill>
                  <a:srgbClr val="617468"/>
                </a:solidFill>
              </a:defRPr>
            </a:pPr>
            <a:r>
              <a:rPr sz="1950" b="0">
                <a:solidFill>
                  <a:srgbClr val="617468"/>
                </a:solidFill>
              </a:rPr>
              <a:t>Camera, photo, text and OCR inputs</a:t>
            </a:r>
          </a:p>
          <a:p xmlns:a="http://schemas.openxmlformats.org/drawingml/2006/main">
            <a:pPr>
              <a:defRPr sz="1950" b="0">
                <a:solidFill>
                  <a:srgbClr val="617468"/>
                </a:solidFill>
              </a:defRPr>
            </a:pPr>
            <a:r>
              <a:rPr sz="1950" b="0">
                <a:solidFill>
                  <a:srgbClr val="617468"/>
                </a:solidFill>
              </a:rPr>
              <a:t>Editable results and disposal history</a:t>
            </a:r>
          </a:p>
          <a:p xmlns:a="http://schemas.openxmlformats.org/drawingml/2006/main">
            <a:pPr>
              <a:defRPr sz="1950" b="0">
                <a:solidFill>
                  <a:srgbClr val="617468"/>
                </a:solidFill>
              </a:defRPr>
            </a:pPr>
            <a:r>
              <a:rPr sz="1950" b="0">
                <a:solidFill>
                  <a:srgbClr val="617468"/>
                </a:solidFill>
              </a:rPr>
              <a:t>Pickup scheduling and measured receipts</a:t>
            </a:r>
          </a:p>
          <a:p xmlns:a="http://schemas.openxmlformats.org/drawingml/2006/main">
            <a:pPr>
              <a:defRPr sz="1950" b="0">
                <a:solidFill>
                  <a:srgbClr val="617468"/>
                </a:solidFill>
              </a:defRPr>
            </a:pPr>
            <a:r>
              <a:rPr sz="1950" b="0">
                <a:solidFill>
                  <a:srgbClr val="617468"/>
                </a:solidFill>
              </a:rPr>
              <a:t>Plans, scan rewards and Operations records</a:t>
            </a:r>
          </a:p>
        </p:txBody>
      </p:sp>
      <p:sp>
        <p:nvSpPr>
          <p:cNvPr id="7" name="">
            <a:extLst xmlns:a="http://schemas.openxmlformats.org/drawingml/2006/main">
              <a:ext uri="{FF2B5EF4-FFF2-40B4-BE49-F238E27FC236}">
                <a16:creationId xmlns:a16="http://schemas.microsoft.com/office/drawing/2014/main" id="{9C8823DF-DD68-4C37-B2EE-719B22C4D2FB}"/>
              </a:ext>
            </a:extLst>
          </p:cNvPr>
          <p:cNvSpPr>
            <a:spLocks xmlns:a="http://schemas.openxmlformats.org/drawingml/2006/main" noGrp="1"/>
          </p:cNvSpPr>
          <p:nvPr/>
        </p:nvSpPr>
        <p:spPr>
          <a:xfrm xmlns:a="http://schemas.openxmlformats.org/drawingml/2006/main">
            <a:off x="6667500" y="185737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93F30"/>
                </a:solidFill>
              </a:defRPr>
            </a:defPPr>
            <a:lvl1pPr>
              <a:defRPr sz="2325" b="1">
                <a:solidFill>
                  <a:srgbClr val="193F30"/>
                </a:solidFill>
              </a:defRPr>
            </a:lvl1pPr>
            <a:lvl2pPr>
              <a:defRPr sz="2325" b="1">
                <a:solidFill>
                  <a:srgbClr val="193F30"/>
                </a:solidFill>
              </a:defRPr>
            </a:lvl2pPr>
            <a:lvl3pPr>
              <a:defRPr sz="2325" b="1">
                <a:solidFill>
                  <a:srgbClr val="193F30"/>
                </a:solidFill>
              </a:defRPr>
            </a:lvl3pPr>
            <a:lvl4pPr>
              <a:defRPr sz="2325" b="1">
                <a:solidFill>
                  <a:srgbClr val="193F30"/>
                </a:solidFill>
              </a:defRPr>
            </a:lvl4pPr>
            <a:lvl5pPr>
              <a:defRPr sz="2325" b="1">
                <a:solidFill>
                  <a:srgbClr val="193F30"/>
                </a:solidFill>
              </a:defRPr>
            </a:lvl5pPr>
            <a:lvl6pPr>
              <a:defRPr sz="2325" b="1">
                <a:solidFill>
                  <a:srgbClr val="193F30"/>
                </a:solidFill>
              </a:defRPr>
            </a:lvl6pPr>
            <a:lvl7pPr>
              <a:defRPr sz="2325" b="1">
                <a:solidFill>
                  <a:srgbClr val="193F30"/>
                </a:solidFill>
              </a:defRPr>
            </a:lvl7pPr>
            <a:lvl8pPr>
              <a:defRPr sz="2325" b="1">
                <a:solidFill>
                  <a:srgbClr val="193F30"/>
                </a:solidFill>
              </a:defRPr>
            </a:lvl8pPr>
            <a:lvl9pPr>
              <a:defRPr sz="2325" b="1">
                <a:solidFill>
                  <a:srgbClr val="193F30"/>
                </a:solidFill>
              </a:defRPr>
            </a:lvl9pPr>
          </a:lstStyle>
          <a:p xmlns:a="http://schemas.openxmlformats.org/drawingml/2006/main">
            <a:pPr>
              <a:defRPr sz="2325" b="1">
                <a:solidFill>
                  <a:srgbClr val="193F30"/>
                </a:solidFill>
              </a:defRPr>
            </a:pPr>
            <a:r>
              <a:rPr sz="2325" b="1">
                <a:solidFill>
                  <a:srgbClr val="193F30"/>
                </a:solidFill>
              </a:rPr>
              <a:t>Required before a public launch</a:t>
            </a:r>
          </a:p>
        </p:txBody>
      </p:sp>
      <p:sp>
        <p:nvSpPr>
          <p:cNvPr id="8" name="">
            <a:extLst xmlns:a="http://schemas.openxmlformats.org/drawingml/2006/main">
              <a:ext uri="{FF2B5EF4-FFF2-40B4-BE49-F238E27FC236}">
                <a16:creationId xmlns:a16="http://schemas.microsoft.com/office/drawing/2014/main" id="{4947A078-57A1-466D-9ED8-4DB66AD3A897}"/>
              </a:ext>
            </a:extLst>
          </p:cNvPr>
          <p:cNvSpPr>
            <a:spLocks xmlns:a="http://schemas.openxmlformats.org/drawingml/2006/main" noGrp="1"/>
          </p:cNvSpPr>
          <p:nvPr/>
        </p:nvSpPr>
        <p:spPr>
          <a:xfrm xmlns:a="http://schemas.openxmlformats.org/drawingml/2006/main">
            <a:off x="6667500" y="2476500"/>
            <a:ext cx="4857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617468"/>
                </a:solidFill>
              </a:defRPr>
            </a:defPPr>
            <a:lvl1pPr>
              <a:defRPr sz="1950" b="0">
                <a:solidFill>
                  <a:srgbClr val="617468"/>
                </a:solidFill>
              </a:defRPr>
            </a:lvl1pPr>
            <a:lvl2pPr>
              <a:defRPr sz="1950" b="0">
                <a:solidFill>
                  <a:srgbClr val="617468"/>
                </a:solidFill>
              </a:defRPr>
            </a:lvl2pPr>
            <a:lvl3pPr>
              <a:defRPr sz="1950" b="0">
                <a:solidFill>
                  <a:srgbClr val="617468"/>
                </a:solidFill>
              </a:defRPr>
            </a:lvl3pPr>
            <a:lvl4pPr>
              <a:defRPr sz="1950" b="0">
                <a:solidFill>
                  <a:srgbClr val="617468"/>
                </a:solidFill>
              </a:defRPr>
            </a:lvl4pPr>
            <a:lvl5pPr>
              <a:defRPr sz="1950" b="0">
                <a:solidFill>
                  <a:srgbClr val="617468"/>
                </a:solidFill>
              </a:defRPr>
            </a:lvl5pPr>
            <a:lvl6pPr>
              <a:defRPr sz="1950" b="0">
                <a:solidFill>
                  <a:srgbClr val="617468"/>
                </a:solidFill>
              </a:defRPr>
            </a:lvl6pPr>
            <a:lvl7pPr>
              <a:defRPr sz="1950" b="0">
                <a:solidFill>
                  <a:srgbClr val="617468"/>
                </a:solidFill>
              </a:defRPr>
            </a:lvl7pPr>
            <a:lvl8pPr>
              <a:defRPr sz="1950" b="0">
                <a:solidFill>
                  <a:srgbClr val="617468"/>
                </a:solidFill>
              </a:defRPr>
            </a:lvl8pPr>
            <a:lvl9pPr>
              <a:defRPr sz="1950" b="0">
                <a:solidFill>
                  <a:srgbClr val="617468"/>
                </a:solidFill>
              </a:defRPr>
            </a:lvl9pPr>
          </a:lstStyle>
          <a:p xmlns:a="http://schemas.openxmlformats.org/drawingml/2006/main">
            <a:pPr>
              <a:defRPr sz="1950" b="0">
                <a:solidFill>
                  <a:srgbClr val="617468"/>
                </a:solidFill>
              </a:defRPr>
            </a:pPr>
            <a:r>
              <a:rPr sz="1950" b="0">
                <a:solidFill>
                  <a:srgbClr val="617468"/>
                </a:solidFill>
              </a:rPr>
              <a:t>Physical-device and field trials</a:t>
            </a:r>
          </a:p>
          <a:p xmlns:a="http://schemas.openxmlformats.org/drawingml/2006/main">
            <a:pPr>
              <a:defRPr sz="1950" b="0">
                <a:solidFill>
                  <a:srgbClr val="617468"/>
                </a:solidFill>
              </a:defRPr>
            </a:pPr>
            <a:r>
              <a:rPr sz="1950" b="0">
                <a:solidFill>
                  <a:srgbClr val="617468"/>
                </a:solidFill>
              </a:rPr>
              <a:t>A staffed collection area</a:t>
            </a:r>
          </a:p>
          <a:p xmlns:a="http://schemas.openxmlformats.org/drawingml/2006/main">
            <a:pPr>
              <a:defRPr sz="1950" b="0">
                <a:solidFill>
                  <a:srgbClr val="617468"/>
                </a:solidFill>
              </a:defRPr>
            </a:pPr>
            <a:r>
              <a:rPr sz="1950" b="0">
                <a:solidFill>
                  <a:srgbClr val="617468"/>
                </a:solidFill>
              </a:rPr>
              <a:t>Approved processing and buyer partners</a:t>
            </a:r>
          </a:p>
          <a:p xmlns:a="http://schemas.openxmlformats.org/drawingml/2006/main">
            <a:pPr>
              <a:defRPr sz="1950" b="0">
                <a:solidFill>
                  <a:srgbClr val="617468"/>
                </a:solidFill>
              </a:defRPr>
            </a:pPr>
            <a:r>
              <a:rPr sz="1950" b="0">
                <a:solidFill>
                  <a:srgbClr val="617468"/>
                </a:solidFill>
              </a:rPr>
              <a:t>Measured collection costs</a:t>
            </a:r>
          </a:p>
          <a:p xmlns:a="http://schemas.openxmlformats.org/drawingml/2006/main">
            <a:pPr>
              <a:defRPr sz="1950" b="0">
                <a:solidFill>
                  <a:srgbClr val="617468"/>
                </a:solidFill>
              </a:defRPr>
            </a:pPr>
            <a:r>
              <a:rPr sz="1950" b="0">
                <a:solidFill>
                  <a:srgbClr val="617468"/>
                </a:solidFill>
              </a:rPr>
              <a:t>Payment webhook delivery and full checkout tests</a:t>
            </a:r>
          </a:p>
        </p:txBody>
      </p:sp>
      <p:sp>
        <p:nvSpPr>
          <p:cNvPr id="9" name="">
            <a:extLst xmlns:a="http://schemas.openxmlformats.org/drawingml/2006/main">
              <a:ext uri="{FF2B5EF4-FFF2-40B4-BE49-F238E27FC236}">
                <a16:creationId xmlns:a16="http://schemas.microsoft.com/office/drawing/2014/main" id="{132EB5D6-CE14-47FB-BEC4-DE3CAB4156BE}"/>
              </a:ext>
            </a:extLst>
          </p:cNvPr>
          <p:cNvSpPr>
            <a:spLocks xmlns:a="http://schemas.openxmlformats.org/drawingml/2006/main" noGrp="1"/>
          </p:cNvSpPr>
          <p:nvPr/>
        </p:nvSpPr>
        <p:spPr>
          <a:xfrm xmlns:a="http://schemas.openxmlformats.org/drawingml/2006/main">
            <a:off x="619125" y="561975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6860A5"/>
                </a:solidFill>
              </a:defRPr>
            </a:defPPr>
            <a:lvl1pPr>
              <a:defRPr sz="1725" b="0">
                <a:solidFill>
                  <a:srgbClr val="6860A5"/>
                </a:solidFill>
              </a:defRPr>
            </a:lvl1pPr>
            <a:lvl2pPr>
              <a:defRPr sz="1725" b="0">
                <a:solidFill>
                  <a:srgbClr val="6860A5"/>
                </a:solidFill>
              </a:defRPr>
            </a:lvl2pPr>
            <a:lvl3pPr>
              <a:defRPr sz="1725" b="0">
                <a:solidFill>
                  <a:srgbClr val="6860A5"/>
                </a:solidFill>
              </a:defRPr>
            </a:lvl3pPr>
            <a:lvl4pPr>
              <a:defRPr sz="1725" b="0">
                <a:solidFill>
                  <a:srgbClr val="6860A5"/>
                </a:solidFill>
              </a:defRPr>
            </a:lvl4pPr>
            <a:lvl5pPr>
              <a:defRPr sz="1725" b="0">
                <a:solidFill>
                  <a:srgbClr val="6860A5"/>
                </a:solidFill>
              </a:defRPr>
            </a:lvl5pPr>
            <a:lvl6pPr>
              <a:defRPr sz="1725" b="0">
                <a:solidFill>
                  <a:srgbClr val="6860A5"/>
                </a:solidFill>
              </a:defRPr>
            </a:lvl6pPr>
            <a:lvl7pPr>
              <a:defRPr sz="1725" b="0">
                <a:solidFill>
                  <a:srgbClr val="6860A5"/>
                </a:solidFill>
              </a:defRPr>
            </a:lvl7pPr>
            <a:lvl8pPr>
              <a:defRPr sz="1725" b="0">
                <a:solidFill>
                  <a:srgbClr val="6860A5"/>
                </a:solidFill>
              </a:defRPr>
            </a:lvl8pPr>
            <a:lvl9pPr>
              <a:defRPr sz="1725" b="0">
                <a:solidFill>
                  <a:srgbClr val="6860A5"/>
                </a:solidFill>
              </a:defRPr>
            </a:lvl9pPr>
          </a:lstStyle>
          <a:p xmlns:a="http://schemas.openxmlformats.org/drawingml/2006/main">
            <a:pPr>
              <a:defRPr sz="1725" b="0">
                <a:solidFill>
                  <a:srgbClr val="6860A5"/>
                </a:solidFill>
              </a:defRPr>
            </a:pPr>
            <a:r>
              <a:rPr sz="1725" b="0">
                <a:solidFill>
                  <a:srgbClr val="6860A5"/>
                </a:solidFill>
              </a:rPr>
              <a:t>Next.js and MongoDB power the prototype. Razorpay uses test credentials. Public collection and live payment verification remain launch work.</a:t>
            </a:r>
          </a:p>
        </p:txBody>
      </p:sp>
    </p:spTree>
    <p:extLst>
      <p:ext uri="{BB962C8B-B14F-4D97-AF65-F5344CB8AC3E}">
        <p14:creationId xmlns:p14="http://schemas.microsoft.com/office/powerpoint/2010/main" val="828869520"/>
      </p:ext>
    </p:extLst>
  </p:cSld>
</p:sld>
</file>

<file path=ppt/slides/slide15.xml><?xml version="1.0" encoding="utf-8"?>
<p:sld xmlns:p="http://schemas.openxmlformats.org/presentationml/2006/main">
  <p:cSld>
    <p:bg>
      <p:bgPr>
        <a:solidFill xmlns:a="http://schemas.openxmlformats.org/drawingml/2006/main">
          <a:srgbClr val="F7F8F3"/>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67A63BC-0EEB-482E-8AFE-1A442BE86A1B}"/>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93F30"/>
                </a:solidFill>
              </a:defRPr>
            </a:defPPr>
            <a:lvl1pPr>
              <a:defRPr sz="3450" b="1">
                <a:solidFill>
                  <a:srgbClr val="193F30"/>
                </a:solidFill>
              </a:defRPr>
            </a:lvl1pPr>
            <a:lvl2pPr>
              <a:defRPr sz="3450" b="1">
                <a:solidFill>
                  <a:srgbClr val="193F30"/>
                </a:solidFill>
              </a:defRPr>
            </a:lvl2pPr>
            <a:lvl3pPr>
              <a:defRPr sz="3450" b="1">
                <a:solidFill>
                  <a:srgbClr val="193F30"/>
                </a:solidFill>
              </a:defRPr>
            </a:lvl3pPr>
            <a:lvl4pPr>
              <a:defRPr sz="3450" b="1">
                <a:solidFill>
                  <a:srgbClr val="193F30"/>
                </a:solidFill>
              </a:defRPr>
            </a:lvl4pPr>
            <a:lvl5pPr>
              <a:defRPr sz="3450" b="1">
                <a:solidFill>
                  <a:srgbClr val="193F30"/>
                </a:solidFill>
              </a:defRPr>
            </a:lvl5pPr>
            <a:lvl6pPr>
              <a:defRPr sz="3450" b="1">
                <a:solidFill>
                  <a:srgbClr val="193F30"/>
                </a:solidFill>
              </a:defRPr>
            </a:lvl6pPr>
            <a:lvl7pPr>
              <a:defRPr sz="3450" b="1">
                <a:solidFill>
                  <a:srgbClr val="193F30"/>
                </a:solidFill>
              </a:defRPr>
            </a:lvl7pPr>
            <a:lvl8pPr>
              <a:defRPr sz="3450" b="1">
                <a:solidFill>
                  <a:srgbClr val="193F30"/>
                </a:solidFill>
              </a:defRPr>
            </a:lvl8pPr>
            <a:lvl9pPr>
              <a:defRPr sz="3450" b="1">
                <a:solidFill>
                  <a:srgbClr val="193F30"/>
                </a:solidFill>
              </a:defRPr>
            </a:lvl9pPr>
          </a:lstStyle>
          <a:p xmlns:a="http://schemas.openxmlformats.org/drawingml/2006/main">
            <a:pPr>
              <a:defRPr sz="3450" b="1">
                <a:solidFill>
                  <a:srgbClr val="193F30"/>
                </a:solidFill>
              </a:defRPr>
            </a:pPr>
            <a:r>
              <a:rPr sz="3450" b="1">
                <a:solidFill>
                  <a:srgbClr val="193F30"/>
                </a:solidFill>
              </a:rPr>
              <a:t>A focused first pilot</a:t>
            </a:r>
          </a:p>
        </p:txBody>
      </p:sp>
      <p:sp>
        <p:nvSpPr>
          <p:cNvPr id="3" name="">
            <a:extLst xmlns:a="http://schemas.openxmlformats.org/drawingml/2006/main">
              <a:ext uri="{FF2B5EF4-FFF2-40B4-BE49-F238E27FC236}">
                <a16:creationId xmlns:a16="http://schemas.microsoft.com/office/drawing/2014/main" id="{93E967F9-AE12-41B8-8EAF-204ABBBDAE8A}"/>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Waste Right</a:t>
            </a:r>
          </a:p>
        </p:txBody>
      </p:sp>
      <p:sp>
        <p:nvSpPr>
          <p:cNvPr id="4" name="">
            <a:extLst xmlns:a="http://schemas.openxmlformats.org/drawingml/2006/main">
              <a:ext uri="{FF2B5EF4-FFF2-40B4-BE49-F238E27FC236}">
                <a16:creationId xmlns:a16="http://schemas.microsoft.com/office/drawing/2014/main" id="{F1F23112-3692-43F0-B8A0-B08E4A581991}"/>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17468"/>
                </a:solidFill>
              </a:defRPr>
            </a:defPPr>
            <a:lvl1pPr>
              <a:defRPr sz="1200" b="0">
                <a:solidFill>
                  <a:srgbClr val="617468"/>
                </a:solidFill>
              </a:defRPr>
            </a:lvl1pPr>
            <a:lvl2pPr>
              <a:defRPr sz="1200" b="0">
                <a:solidFill>
                  <a:srgbClr val="617468"/>
                </a:solidFill>
              </a:defRPr>
            </a:lvl2pPr>
            <a:lvl3pPr>
              <a:defRPr sz="1200" b="0">
                <a:solidFill>
                  <a:srgbClr val="617468"/>
                </a:solidFill>
              </a:defRPr>
            </a:lvl3pPr>
            <a:lvl4pPr>
              <a:defRPr sz="1200" b="0">
                <a:solidFill>
                  <a:srgbClr val="617468"/>
                </a:solidFill>
              </a:defRPr>
            </a:lvl4pPr>
            <a:lvl5pPr>
              <a:defRPr sz="1200" b="0">
                <a:solidFill>
                  <a:srgbClr val="617468"/>
                </a:solidFill>
              </a:defRPr>
            </a:lvl5pPr>
            <a:lvl6pPr>
              <a:defRPr sz="1200" b="0">
                <a:solidFill>
                  <a:srgbClr val="617468"/>
                </a:solidFill>
              </a:defRPr>
            </a:lvl6pPr>
            <a:lvl7pPr>
              <a:defRPr sz="1200" b="0">
                <a:solidFill>
                  <a:srgbClr val="617468"/>
                </a:solidFill>
              </a:defRPr>
            </a:lvl7pPr>
            <a:lvl8pPr>
              <a:defRPr sz="1200" b="0">
                <a:solidFill>
                  <a:srgbClr val="617468"/>
                </a:solidFill>
              </a:defRPr>
            </a:lvl8pPr>
            <a:lvl9pPr>
              <a:defRPr sz="1200" b="0">
                <a:solidFill>
                  <a:srgbClr val="617468"/>
                </a:solidFill>
              </a:defRPr>
            </a:lvl9pPr>
          </a:lstStyle>
          <a:p xmlns:a="http://schemas.openxmlformats.org/drawingml/2006/main">
            <a:pPr>
              <a:defRPr sz="1200" b="0">
                <a:solidFill>
                  <a:srgbClr val="617468"/>
                </a:solidFill>
              </a:defRPr>
            </a:pPr>
            <a:r>
              <a:rPr sz="1200" b="0">
                <a:solidFill>
                  <a:srgbClr val="617468"/>
                </a:solidFill>
              </a:rPr>
              <a:t>15</a:t>
            </a:r>
          </a:p>
        </p:txBody>
      </p:sp>
      <p:sp>
        <p:nvSpPr>
          <p:cNvPr id="5" name="">
            <a:extLst xmlns:a="http://schemas.openxmlformats.org/drawingml/2006/main">
              <a:ext uri="{FF2B5EF4-FFF2-40B4-BE49-F238E27FC236}">
                <a16:creationId xmlns:a16="http://schemas.microsoft.com/office/drawing/2014/main" id="{F3AEC9BC-B900-4600-B5D4-85F4423EA6FF}"/>
              </a:ext>
            </a:extLst>
          </p:cNvPr>
          <p:cNvSpPr>
            <a:spLocks xmlns:a="http://schemas.openxmlformats.org/drawingml/2006/main" noGrp="1"/>
          </p:cNvSpPr>
          <p:nvPr/>
        </p:nvSpPr>
        <p:spPr>
          <a:xfrm xmlns:a="http://schemas.openxmlformats.org/drawingml/2006/main">
            <a:off x="619125" y="1952625"/>
            <a:ext cx="52387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6860A5"/>
                </a:solidFill>
              </a:defRPr>
            </a:defPPr>
            <a:lvl1pPr>
              <a:defRPr sz="3600" b="1">
                <a:solidFill>
                  <a:srgbClr val="6860A5"/>
                </a:solidFill>
              </a:defRPr>
            </a:lvl1pPr>
            <a:lvl2pPr>
              <a:defRPr sz="3600" b="1">
                <a:solidFill>
                  <a:srgbClr val="6860A5"/>
                </a:solidFill>
              </a:defRPr>
            </a:lvl2pPr>
            <a:lvl3pPr>
              <a:defRPr sz="3600" b="1">
                <a:solidFill>
                  <a:srgbClr val="6860A5"/>
                </a:solidFill>
              </a:defRPr>
            </a:lvl3pPr>
            <a:lvl4pPr>
              <a:defRPr sz="3600" b="1">
                <a:solidFill>
                  <a:srgbClr val="6860A5"/>
                </a:solidFill>
              </a:defRPr>
            </a:lvl4pPr>
            <a:lvl5pPr>
              <a:defRPr sz="3600" b="1">
                <a:solidFill>
                  <a:srgbClr val="6860A5"/>
                </a:solidFill>
              </a:defRPr>
            </a:lvl5pPr>
            <a:lvl6pPr>
              <a:defRPr sz="3600" b="1">
                <a:solidFill>
                  <a:srgbClr val="6860A5"/>
                </a:solidFill>
              </a:defRPr>
            </a:lvl6pPr>
            <a:lvl7pPr>
              <a:defRPr sz="3600" b="1">
                <a:solidFill>
                  <a:srgbClr val="6860A5"/>
                </a:solidFill>
              </a:defRPr>
            </a:lvl7pPr>
            <a:lvl8pPr>
              <a:defRPr sz="3600" b="1">
                <a:solidFill>
                  <a:srgbClr val="6860A5"/>
                </a:solidFill>
              </a:defRPr>
            </a:lvl8pPr>
            <a:lvl9pPr>
              <a:defRPr sz="3600" b="1">
                <a:solidFill>
                  <a:srgbClr val="6860A5"/>
                </a:solidFill>
              </a:defRPr>
            </a:lvl9pPr>
          </a:lstStyle>
          <a:p xmlns:a="http://schemas.openxmlformats.org/drawingml/2006/main">
            <a:pPr>
              <a:defRPr sz="3600" b="1">
                <a:solidFill>
                  <a:srgbClr val="6860A5"/>
                </a:solidFill>
              </a:defRPr>
            </a:pPr>
            <a:r>
              <a:rPr sz="3600" b="1">
                <a:solidFill>
                  <a:srgbClr val="6860A5"/>
                </a:solidFill>
              </a:rPr>
              <a:t>One housing society</a:t>
            </a:r>
          </a:p>
          <a:p xmlns:a="http://schemas.openxmlformats.org/drawingml/2006/main">
            <a:pPr>
              <a:defRPr sz="3600" b="1">
                <a:solidFill>
                  <a:srgbClr val="6860A5"/>
                </a:solidFill>
              </a:defRPr>
            </a:pPr>
            <a:r>
              <a:rPr sz="3600" b="1">
                <a:solidFill>
                  <a:srgbClr val="6860A5"/>
                </a:solidFill>
              </a:rPr>
              <a:t>30 households</a:t>
            </a:r>
          </a:p>
          <a:p xmlns:a="http://schemas.openxmlformats.org/drawingml/2006/main">
            <a:pPr>
              <a:defRPr sz="3600" b="1">
                <a:solidFill>
                  <a:srgbClr val="6860A5"/>
                </a:solidFill>
              </a:defRPr>
            </a:pPr>
            <a:r>
              <a:rPr sz="3600" b="1">
                <a:solidFill>
                  <a:srgbClr val="6860A5"/>
                </a:solidFill>
              </a:rPr>
              <a:t>30 days</a:t>
            </a:r>
          </a:p>
        </p:txBody>
      </p:sp>
      <p:sp>
        <p:nvSpPr>
          <p:cNvPr id="6" name="">
            <a:extLst xmlns:a="http://schemas.openxmlformats.org/drawingml/2006/main">
              <a:ext uri="{FF2B5EF4-FFF2-40B4-BE49-F238E27FC236}">
                <a16:creationId xmlns:a16="http://schemas.microsoft.com/office/drawing/2014/main" id="{E3CA26F7-71F6-4464-8F20-DFFA8C2E68FE}"/>
              </a:ext>
            </a:extLst>
          </p:cNvPr>
          <p:cNvSpPr>
            <a:spLocks xmlns:a="http://schemas.openxmlformats.org/drawingml/2006/main" noGrp="1"/>
          </p:cNvSpPr>
          <p:nvPr/>
        </p:nvSpPr>
        <p:spPr>
          <a:xfrm xmlns:a="http://schemas.openxmlformats.org/drawingml/2006/main">
            <a:off x="619125" y="48577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7468"/>
                </a:solidFill>
              </a:defRPr>
            </a:defPPr>
            <a:lvl1pPr>
              <a:defRPr sz="2025" b="0">
                <a:solidFill>
                  <a:srgbClr val="617468"/>
                </a:solidFill>
              </a:defRPr>
            </a:lvl1pPr>
            <a:lvl2pPr>
              <a:defRPr sz="2025" b="0">
                <a:solidFill>
                  <a:srgbClr val="617468"/>
                </a:solidFill>
              </a:defRPr>
            </a:lvl2pPr>
            <a:lvl3pPr>
              <a:defRPr sz="2025" b="0">
                <a:solidFill>
                  <a:srgbClr val="617468"/>
                </a:solidFill>
              </a:defRPr>
            </a:lvl3pPr>
            <a:lvl4pPr>
              <a:defRPr sz="2025" b="0">
                <a:solidFill>
                  <a:srgbClr val="617468"/>
                </a:solidFill>
              </a:defRPr>
            </a:lvl4pPr>
            <a:lvl5pPr>
              <a:defRPr sz="2025" b="0">
                <a:solidFill>
                  <a:srgbClr val="617468"/>
                </a:solidFill>
              </a:defRPr>
            </a:lvl5pPr>
            <a:lvl6pPr>
              <a:defRPr sz="2025" b="0">
                <a:solidFill>
                  <a:srgbClr val="617468"/>
                </a:solidFill>
              </a:defRPr>
            </a:lvl6pPr>
            <a:lvl7pPr>
              <a:defRPr sz="2025" b="0">
                <a:solidFill>
                  <a:srgbClr val="617468"/>
                </a:solidFill>
              </a:defRPr>
            </a:lvl7pPr>
            <a:lvl8pPr>
              <a:defRPr sz="2025" b="0">
                <a:solidFill>
                  <a:srgbClr val="617468"/>
                </a:solidFill>
              </a:defRPr>
            </a:lvl8pPr>
            <a:lvl9pPr>
              <a:defRPr sz="2025" b="0">
                <a:solidFill>
                  <a:srgbClr val="617468"/>
                </a:solidFill>
              </a:defRPr>
            </a:lvl9pPr>
          </a:lstStyle>
          <a:p xmlns:a="http://schemas.openxmlformats.org/drawingml/2006/main">
            <a:pPr>
              <a:defRPr sz="2025" b="0">
                <a:solidFill>
                  <a:srgbClr val="617468"/>
                </a:solidFill>
              </a:defRPr>
            </a:pPr>
            <a:r>
              <a:rPr sz="2025" b="0">
                <a:solidFill>
                  <a:srgbClr val="617468"/>
                </a:solidFill>
              </a:rPr>
              <a:t>A proposed pilot, with a dedicated collection team and confirmed downstream partners.</a:t>
            </a:r>
          </a:p>
        </p:txBody>
      </p:sp>
      <p:sp>
        <p:nvSpPr>
          <p:cNvPr id="7" name="">
            <a:extLst xmlns:a="http://schemas.openxmlformats.org/drawingml/2006/main">
              <a:ext uri="{FF2B5EF4-FFF2-40B4-BE49-F238E27FC236}">
                <a16:creationId xmlns:a16="http://schemas.microsoft.com/office/drawing/2014/main" id="{C7BA6129-79EC-48D0-8765-CC7CC3B411AF}"/>
              </a:ext>
            </a:extLst>
          </p:cNvPr>
          <p:cNvSpPr>
            <a:spLocks xmlns:a="http://schemas.openxmlformats.org/drawingml/2006/main" noGrp="1"/>
          </p:cNvSpPr>
          <p:nvPr/>
        </p:nvSpPr>
        <p:spPr>
          <a:xfrm xmlns:a="http://schemas.openxmlformats.org/drawingml/2006/main">
            <a:off x="6667500" y="1952625"/>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93F30"/>
                </a:solidFill>
              </a:defRPr>
            </a:defPPr>
            <a:lvl1pPr>
              <a:defRPr sz="2400" b="1">
                <a:solidFill>
                  <a:srgbClr val="193F30"/>
                </a:solidFill>
              </a:defRPr>
            </a:lvl1pPr>
            <a:lvl2pPr>
              <a:defRPr sz="2400" b="1">
                <a:solidFill>
                  <a:srgbClr val="193F30"/>
                </a:solidFill>
              </a:defRPr>
            </a:lvl2pPr>
            <a:lvl3pPr>
              <a:defRPr sz="2400" b="1">
                <a:solidFill>
                  <a:srgbClr val="193F30"/>
                </a:solidFill>
              </a:defRPr>
            </a:lvl3pPr>
            <a:lvl4pPr>
              <a:defRPr sz="2400" b="1">
                <a:solidFill>
                  <a:srgbClr val="193F30"/>
                </a:solidFill>
              </a:defRPr>
            </a:lvl4pPr>
            <a:lvl5pPr>
              <a:defRPr sz="2400" b="1">
                <a:solidFill>
                  <a:srgbClr val="193F30"/>
                </a:solidFill>
              </a:defRPr>
            </a:lvl5pPr>
            <a:lvl6pPr>
              <a:defRPr sz="2400" b="1">
                <a:solidFill>
                  <a:srgbClr val="193F30"/>
                </a:solidFill>
              </a:defRPr>
            </a:lvl6pPr>
            <a:lvl7pPr>
              <a:defRPr sz="2400" b="1">
                <a:solidFill>
                  <a:srgbClr val="193F30"/>
                </a:solidFill>
              </a:defRPr>
            </a:lvl7pPr>
            <a:lvl8pPr>
              <a:defRPr sz="2400" b="1">
                <a:solidFill>
                  <a:srgbClr val="193F30"/>
                </a:solidFill>
              </a:defRPr>
            </a:lvl8pPr>
            <a:lvl9pPr>
              <a:defRPr sz="2400" b="1">
                <a:solidFill>
                  <a:srgbClr val="193F30"/>
                </a:solidFill>
              </a:defRPr>
            </a:lvl9pPr>
          </a:lstStyle>
          <a:p xmlns:a="http://schemas.openxmlformats.org/drawingml/2006/main">
            <a:pPr>
              <a:defRPr sz="2400" b="1">
                <a:solidFill>
                  <a:srgbClr val="193F30"/>
                </a:solidFill>
              </a:defRPr>
            </a:pPr>
            <a:r>
              <a:rPr sz="2400" b="1">
                <a:solidFill>
                  <a:srgbClr val="193F30"/>
                </a:solidFill>
              </a:rPr>
              <a:t>The pilot will measure</a:t>
            </a:r>
          </a:p>
        </p:txBody>
      </p:sp>
      <p:sp>
        <p:nvSpPr>
          <p:cNvPr id="8" name="">
            <a:extLst xmlns:a="http://schemas.openxmlformats.org/drawingml/2006/main">
              <a:ext uri="{FF2B5EF4-FFF2-40B4-BE49-F238E27FC236}">
                <a16:creationId xmlns:a16="http://schemas.microsoft.com/office/drawing/2014/main" id="{3E72141C-2F1F-41EC-BCA6-3143F957E696}"/>
              </a:ext>
            </a:extLst>
          </p:cNvPr>
          <p:cNvSpPr>
            <a:spLocks xmlns:a="http://schemas.openxmlformats.org/drawingml/2006/main" noGrp="1"/>
          </p:cNvSpPr>
          <p:nvPr/>
        </p:nvSpPr>
        <p:spPr>
          <a:xfrm xmlns:a="http://schemas.openxmlformats.org/drawingml/2006/main">
            <a:off x="6667500" y="2809875"/>
            <a:ext cx="4857750"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617468"/>
                </a:solidFill>
              </a:defRPr>
            </a:defPPr>
            <a:lvl1pPr>
              <a:defRPr sz="2025" b="0">
                <a:solidFill>
                  <a:srgbClr val="617468"/>
                </a:solidFill>
              </a:defRPr>
            </a:lvl1pPr>
            <a:lvl2pPr>
              <a:defRPr sz="2025" b="0">
                <a:solidFill>
                  <a:srgbClr val="617468"/>
                </a:solidFill>
              </a:defRPr>
            </a:lvl2pPr>
            <a:lvl3pPr>
              <a:defRPr sz="2025" b="0">
                <a:solidFill>
                  <a:srgbClr val="617468"/>
                </a:solidFill>
              </a:defRPr>
            </a:lvl3pPr>
            <a:lvl4pPr>
              <a:defRPr sz="2025" b="0">
                <a:solidFill>
                  <a:srgbClr val="617468"/>
                </a:solidFill>
              </a:defRPr>
            </a:lvl4pPr>
            <a:lvl5pPr>
              <a:defRPr sz="2025" b="0">
                <a:solidFill>
                  <a:srgbClr val="617468"/>
                </a:solidFill>
              </a:defRPr>
            </a:lvl5pPr>
            <a:lvl6pPr>
              <a:defRPr sz="2025" b="0">
                <a:solidFill>
                  <a:srgbClr val="617468"/>
                </a:solidFill>
              </a:defRPr>
            </a:lvl6pPr>
            <a:lvl7pPr>
              <a:defRPr sz="2025" b="0">
                <a:solidFill>
                  <a:srgbClr val="617468"/>
                </a:solidFill>
              </a:defRPr>
            </a:lvl7pPr>
            <a:lvl8pPr>
              <a:defRPr sz="2025" b="0">
                <a:solidFill>
                  <a:srgbClr val="617468"/>
                </a:solidFill>
              </a:defRPr>
            </a:lvl8pPr>
            <a:lvl9pPr>
              <a:defRPr sz="2025" b="0">
                <a:solidFill>
                  <a:srgbClr val="617468"/>
                </a:solidFill>
              </a:defRPr>
            </a:lvl9pPr>
          </a:lstStyle>
          <a:p xmlns:a="http://schemas.openxmlformats.org/drawingml/2006/main">
            <a:pPr>
              <a:defRPr sz="2025" b="0">
                <a:solidFill>
                  <a:srgbClr val="617468"/>
                </a:solidFill>
              </a:defRPr>
            </a:pPr>
            <a:r>
              <a:rPr sz="2025" b="0">
                <a:solidFill>
                  <a:srgbClr val="617468"/>
                </a:solidFill>
              </a:rPr>
              <a:t>Completed pickups and missed requests</a:t>
            </a:r>
          </a:p>
          <a:p xmlns:a="http://schemas.openxmlformats.org/drawingml/2006/main">
            <a:pPr>
              <a:defRPr sz="2025" b="0">
                <a:solidFill>
                  <a:srgbClr val="617468"/>
                </a:solidFill>
              </a:defRPr>
            </a:pPr>
            <a:r>
              <a:rPr sz="2025" b="0">
                <a:solidFill>
                  <a:srgbClr val="617468"/>
                </a:solidFill>
              </a:rPr>
              <a:t>Cost per collection and per kg</a:t>
            </a:r>
          </a:p>
          <a:p xmlns:a="http://schemas.openxmlformats.org/drawingml/2006/main">
            <a:pPr>
              <a:defRPr sz="2025" b="0">
                <a:solidFill>
                  <a:srgbClr val="617468"/>
                </a:solidFill>
              </a:defRPr>
            </a:pPr>
            <a:r>
              <a:rPr sz="2025" b="0">
                <a:solidFill>
                  <a:srgbClr val="617468"/>
                </a:solidFill>
              </a:rPr>
              <a:t>Material corrections and rejected loads</a:t>
            </a:r>
          </a:p>
          <a:p xmlns:a="http://schemas.openxmlformats.org/drawingml/2006/main">
            <a:pPr>
              <a:defRPr sz="2025" b="0">
                <a:solidFill>
                  <a:srgbClr val="617468"/>
                </a:solidFill>
              </a:defRPr>
            </a:pPr>
            <a:r>
              <a:rPr sz="2025" b="0">
                <a:solidFill>
                  <a:srgbClr val="617468"/>
                </a:solidFill>
              </a:rPr>
              <a:t>Repeat bookings and reward use</a:t>
            </a:r>
          </a:p>
          <a:p xmlns:a="http://schemas.openxmlformats.org/drawingml/2006/main">
            <a:pPr>
              <a:defRPr sz="2025" b="0">
                <a:solidFill>
                  <a:srgbClr val="617468"/>
                </a:solidFill>
              </a:defRPr>
            </a:pPr>
            <a:r>
              <a:rPr sz="2025" b="0">
                <a:solidFill>
                  <a:srgbClr val="617468"/>
                </a:solidFill>
              </a:rPr>
              <a:t>Receipt disputes and settlement time</a:t>
            </a:r>
          </a:p>
        </p:txBody>
      </p:sp>
      <p:sp>
        <p:nvSpPr>
          <p:cNvPr id="9" name="">
            <a:extLst xmlns:a="http://schemas.openxmlformats.org/drawingml/2006/main">
              <a:ext uri="{FF2B5EF4-FFF2-40B4-BE49-F238E27FC236}">
                <a16:creationId xmlns:a16="http://schemas.microsoft.com/office/drawing/2014/main" id="{80F1B6C8-D7E0-45F7-86AB-946E4EF95379}"/>
              </a:ext>
            </a:extLst>
          </p:cNvPr>
          <p:cNvSpPr>
            <a:spLocks xmlns:a="http://schemas.openxmlformats.org/drawingml/2006/main" noGrp="1"/>
          </p:cNvSpPr>
          <p:nvPr/>
        </p:nvSpPr>
        <p:spPr>
          <a:xfrm xmlns:a="http://schemas.openxmlformats.org/drawingml/2006/main">
            <a:off x="6667500" y="5524500"/>
            <a:ext cx="485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1">
                <a:solidFill>
                  <a:srgbClr val="6860A5"/>
                </a:solidFill>
              </a:defRPr>
            </a:defPPr>
            <a:lvl1pPr>
              <a:defRPr sz="1950" b="1">
                <a:solidFill>
                  <a:srgbClr val="6860A5"/>
                </a:solidFill>
              </a:defRPr>
            </a:lvl1pPr>
            <a:lvl2pPr>
              <a:defRPr sz="1950" b="1">
                <a:solidFill>
                  <a:srgbClr val="6860A5"/>
                </a:solidFill>
              </a:defRPr>
            </a:lvl2pPr>
            <a:lvl3pPr>
              <a:defRPr sz="1950" b="1">
                <a:solidFill>
                  <a:srgbClr val="6860A5"/>
                </a:solidFill>
              </a:defRPr>
            </a:lvl3pPr>
            <a:lvl4pPr>
              <a:defRPr sz="1950" b="1">
                <a:solidFill>
                  <a:srgbClr val="6860A5"/>
                </a:solidFill>
              </a:defRPr>
            </a:lvl4pPr>
            <a:lvl5pPr>
              <a:defRPr sz="1950" b="1">
                <a:solidFill>
                  <a:srgbClr val="6860A5"/>
                </a:solidFill>
              </a:defRPr>
            </a:lvl5pPr>
            <a:lvl6pPr>
              <a:defRPr sz="1950" b="1">
                <a:solidFill>
                  <a:srgbClr val="6860A5"/>
                </a:solidFill>
              </a:defRPr>
            </a:lvl6pPr>
            <a:lvl7pPr>
              <a:defRPr sz="1950" b="1">
                <a:solidFill>
                  <a:srgbClr val="6860A5"/>
                </a:solidFill>
              </a:defRPr>
            </a:lvl7pPr>
            <a:lvl8pPr>
              <a:defRPr sz="1950" b="1">
                <a:solidFill>
                  <a:srgbClr val="6860A5"/>
                </a:solidFill>
              </a:defRPr>
            </a:lvl8pPr>
            <a:lvl9pPr>
              <a:defRPr sz="1950" b="1">
                <a:solidFill>
                  <a:srgbClr val="6860A5"/>
                </a:solidFill>
              </a:defRPr>
            </a:lvl9pPr>
          </a:lstStyle>
          <a:p xmlns:a="http://schemas.openxmlformats.org/drawingml/2006/main">
            <a:pPr>
              <a:defRPr sz="1950" b="1">
                <a:solidFill>
                  <a:srgbClr val="6860A5"/>
                </a:solidFill>
              </a:defRPr>
            </a:pPr>
            <a:r>
              <a:rPr sz="1950" b="1">
                <a:solidFill>
                  <a:srgbClr val="6860A5"/>
                </a:solidFill>
              </a:rPr>
              <a:t>Expansion follows reliable service and positive contribution after direct costs.</a:t>
            </a:r>
          </a:p>
        </p:txBody>
      </p:sp>
    </p:spTree>
    <p:extLst>
      <p:ext uri="{BB962C8B-B14F-4D97-AF65-F5344CB8AC3E}">
        <p14:creationId xmlns:p14="http://schemas.microsoft.com/office/powerpoint/2010/main" val="672561651"/>
      </p:ext>
    </p:extLst>
  </p:cSld>
</p:sld>
</file>

<file path=ppt/slides/slide16.xml><?xml version="1.0" encoding="utf-8"?>
<p:sld xmlns:p="http://schemas.openxmlformats.org/presentationml/2006/main">
  <p:cSld>
    <p:bg>
      <p:bgPr>
        <a:solidFill xmlns:a="http://schemas.openxmlformats.org/drawingml/2006/main">
          <a:srgbClr val="193F30"/>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02B0D9D-E48B-4574-8CA5-BA2B9DB25331}"/>
              </a:ext>
            </a:extLst>
          </p:cNvPr>
          <p:cNvSpPr>
            <a:spLocks xmlns:a="http://schemas.openxmlformats.org/drawingml/2006/main" noGrp="1"/>
          </p:cNvSpPr>
          <p:nvPr/>
        </p:nvSpPr>
        <p:spPr>
          <a:xfrm xmlns:a="http://schemas.openxmlformats.org/drawingml/2006/main">
            <a:off x="619125" y="523875"/>
            <a:ext cx="10953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FFFFFF"/>
                </a:solidFill>
              </a:defRPr>
            </a:defPPr>
            <a:lvl1pPr>
              <a:defRPr sz="3450" b="1">
                <a:solidFill>
                  <a:srgbClr val="FFFFFF"/>
                </a:solidFill>
              </a:defRPr>
            </a:lvl1pPr>
            <a:lvl2pPr>
              <a:defRPr sz="3450" b="1">
                <a:solidFill>
                  <a:srgbClr val="FFFFFF"/>
                </a:solidFill>
              </a:defRPr>
            </a:lvl2pPr>
            <a:lvl3pPr>
              <a:defRPr sz="3450" b="1">
                <a:solidFill>
                  <a:srgbClr val="FFFFFF"/>
                </a:solidFill>
              </a:defRPr>
            </a:lvl3pPr>
            <a:lvl4pPr>
              <a:defRPr sz="3450" b="1">
                <a:solidFill>
                  <a:srgbClr val="FFFFFF"/>
                </a:solidFill>
              </a:defRPr>
            </a:lvl4pPr>
            <a:lvl5pPr>
              <a:defRPr sz="3450" b="1">
                <a:solidFill>
                  <a:srgbClr val="FFFFFF"/>
                </a:solidFill>
              </a:defRPr>
            </a:lvl5pPr>
            <a:lvl6pPr>
              <a:defRPr sz="3450" b="1">
                <a:solidFill>
                  <a:srgbClr val="FFFFFF"/>
                </a:solidFill>
              </a:defRPr>
            </a:lvl6pPr>
            <a:lvl7pPr>
              <a:defRPr sz="3450" b="1">
                <a:solidFill>
                  <a:srgbClr val="FFFFFF"/>
                </a:solidFill>
              </a:defRPr>
            </a:lvl7pPr>
            <a:lvl8pPr>
              <a:defRPr sz="3450" b="1">
                <a:solidFill>
                  <a:srgbClr val="FFFFFF"/>
                </a:solidFill>
              </a:defRPr>
            </a:lvl8pPr>
            <a:lvl9pPr>
              <a:defRPr sz="3450" b="1">
                <a:solidFill>
                  <a:srgbClr val="FFFFFF"/>
                </a:solidFill>
              </a:defRPr>
            </a:lvl9pPr>
          </a:lstStyle>
          <a:p xmlns:a="http://schemas.openxmlformats.org/drawingml/2006/main">
            <a:pPr>
              <a:defRPr sz="3450" b="1">
                <a:solidFill>
                  <a:srgbClr val="FFFFFF"/>
                </a:solidFill>
              </a:defRPr>
            </a:pPr>
            <a:r>
              <a:rPr sz="3450" b="1">
                <a:solidFill>
                  <a:srgbClr val="FFFFFF"/>
                </a:solidFill>
              </a:rPr>
              <a:t>Waste Right</a:t>
            </a:r>
          </a:p>
        </p:txBody>
      </p:sp>
      <p:sp>
        <p:nvSpPr>
          <p:cNvPr id="3" name="">
            <a:extLst xmlns:a="http://schemas.openxmlformats.org/drawingml/2006/main">
              <a:ext uri="{FF2B5EF4-FFF2-40B4-BE49-F238E27FC236}">
                <a16:creationId xmlns:a16="http://schemas.microsoft.com/office/drawing/2014/main" id="{0051FB3F-7E8B-431A-9E63-1BD7338D6321}"/>
              </a:ext>
            </a:extLst>
          </p:cNvPr>
          <p:cNvSpPr>
            <a:spLocks xmlns:a="http://schemas.openxmlformats.org/drawingml/2006/main" noGrp="1"/>
          </p:cNvSpPr>
          <p:nvPr/>
        </p:nvSpPr>
        <p:spPr>
          <a:xfrm xmlns:a="http://schemas.openxmlformats.org/drawingml/2006/main">
            <a:off x="619125" y="6381750"/>
            <a:ext cx="571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EC5A2"/>
                </a:solidFill>
              </a:defRPr>
            </a:defPPr>
            <a:lvl1pPr>
              <a:defRPr sz="1200" b="0">
                <a:solidFill>
                  <a:srgbClr val="AEC5A2"/>
                </a:solidFill>
              </a:defRPr>
            </a:lvl1pPr>
            <a:lvl2pPr>
              <a:defRPr sz="1200" b="0">
                <a:solidFill>
                  <a:srgbClr val="AEC5A2"/>
                </a:solidFill>
              </a:defRPr>
            </a:lvl2pPr>
            <a:lvl3pPr>
              <a:defRPr sz="1200" b="0">
                <a:solidFill>
                  <a:srgbClr val="AEC5A2"/>
                </a:solidFill>
              </a:defRPr>
            </a:lvl3pPr>
            <a:lvl4pPr>
              <a:defRPr sz="1200" b="0">
                <a:solidFill>
                  <a:srgbClr val="AEC5A2"/>
                </a:solidFill>
              </a:defRPr>
            </a:lvl4pPr>
            <a:lvl5pPr>
              <a:defRPr sz="1200" b="0">
                <a:solidFill>
                  <a:srgbClr val="AEC5A2"/>
                </a:solidFill>
              </a:defRPr>
            </a:lvl5pPr>
            <a:lvl6pPr>
              <a:defRPr sz="1200" b="0">
                <a:solidFill>
                  <a:srgbClr val="AEC5A2"/>
                </a:solidFill>
              </a:defRPr>
            </a:lvl6pPr>
            <a:lvl7pPr>
              <a:defRPr sz="1200" b="0">
                <a:solidFill>
                  <a:srgbClr val="AEC5A2"/>
                </a:solidFill>
              </a:defRPr>
            </a:lvl7pPr>
            <a:lvl8pPr>
              <a:defRPr sz="1200" b="0">
                <a:solidFill>
                  <a:srgbClr val="AEC5A2"/>
                </a:solidFill>
              </a:defRPr>
            </a:lvl8pPr>
            <a:lvl9pPr>
              <a:defRPr sz="1200" b="0">
                <a:solidFill>
                  <a:srgbClr val="AEC5A2"/>
                </a:solidFill>
              </a:defRPr>
            </a:lvl9pPr>
          </a:lstStyle>
          <a:p xmlns:a="http://schemas.openxmlformats.org/drawingml/2006/main">
            <a:pPr>
              <a:defRPr sz="1200" b="0">
                <a:solidFill>
                  <a:srgbClr val="AEC5A2"/>
                </a:solidFill>
              </a:defRPr>
            </a:pPr>
            <a:r>
              <a:rPr sz="1200" b="0">
                <a:solidFill>
                  <a:srgbClr val="AEC5A2"/>
                </a:solidFill>
              </a:rPr>
              <a:t>Waste Right</a:t>
            </a:r>
          </a:p>
        </p:txBody>
      </p:sp>
      <p:sp>
        <p:nvSpPr>
          <p:cNvPr id="4" name="">
            <a:extLst xmlns:a="http://schemas.openxmlformats.org/drawingml/2006/main">
              <a:ext uri="{FF2B5EF4-FFF2-40B4-BE49-F238E27FC236}">
                <a16:creationId xmlns:a16="http://schemas.microsoft.com/office/drawing/2014/main" id="{531C1558-FA1B-43D2-BEA1-85B5E3156BE5}"/>
              </a:ext>
            </a:extLst>
          </p:cNvPr>
          <p:cNvSpPr>
            <a:spLocks xmlns:a="http://schemas.openxmlformats.org/drawingml/2006/main" noGrp="1"/>
          </p:cNvSpPr>
          <p:nvPr/>
        </p:nvSpPr>
        <p:spPr>
          <a:xfrm xmlns:a="http://schemas.openxmlformats.org/drawingml/2006/main">
            <a:off x="11172825" y="6381750"/>
            <a:ext cx="57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AEC5A2"/>
                </a:solidFill>
              </a:defRPr>
            </a:defPPr>
            <a:lvl1pPr>
              <a:defRPr sz="1200" b="0">
                <a:solidFill>
                  <a:srgbClr val="AEC5A2"/>
                </a:solidFill>
              </a:defRPr>
            </a:lvl1pPr>
            <a:lvl2pPr>
              <a:defRPr sz="1200" b="0">
                <a:solidFill>
                  <a:srgbClr val="AEC5A2"/>
                </a:solidFill>
              </a:defRPr>
            </a:lvl2pPr>
            <a:lvl3pPr>
              <a:defRPr sz="1200" b="0">
                <a:solidFill>
                  <a:srgbClr val="AEC5A2"/>
                </a:solidFill>
              </a:defRPr>
            </a:lvl3pPr>
            <a:lvl4pPr>
              <a:defRPr sz="1200" b="0">
                <a:solidFill>
                  <a:srgbClr val="AEC5A2"/>
                </a:solidFill>
              </a:defRPr>
            </a:lvl4pPr>
            <a:lvl5pPr>
              <a:defRPr sz="1200" b="0">
                <a:solidFill>
                  <a:srgbClr val="AEC5A2"/>
                </a:solidFill>
              </a:defRPr>
            </a:lvl5pPr>
            <a:lvl6pPr>
              <a:defRPr sz="1200" b="0">
                <a:solidFill>
                  <a:srgbClr val="AEC5A2"/>
                </a:solidFill>
              </a:defRPr>
            </a:lvl6pPr>
            <a:lvl7pPr>
              <a:defRPr sz="1200" b="0">
                <a:solidFill>
                  <a:srgbClr val="AEC5A2"/>
                </a:solidFill>
              </a:defRPr>
            </a:lvl7pPr>
            <a:lvl8pPr>
              <a:defRPr sz="1200" b="0">
                <a:solidFill>
                  <a:srgbClr val="AEC5A2"/>
                </a:solidFill>
              </a:defRPr>
            </a:lvl8pPr>
            <a:lvl9pPr>
              <a:defRPr sz="1200" b="0">
                <a:solidFill>
                  <a:srgbClr val="AEC5A2"/>
                </a:solidFill>
              </a:defRPr>
            </a:lvl9pPr>
          </a:lstStyle>
          <a:p xmlns:a="http://schemas.openxmlformats.org/drawingml/2006/main">
            <a:pPr>
              <a:defRPr sz="1200" b="0">
                <a:solidFill>
                  <a:srgbClr val="AEC5A2"/>
                </a:solidFill>
              </a:defRPr>
            </a:pPr>
            <a:r>
              <a:rPr sz="1200" b="0">
                <a:solidFill>
                  <a:srgbClr val="AEC5A2"/>
                </a:solidFill>
              </a:rPr>
              <a:t>16</a:t>
            </a:r>
          </a:p>
        </p:txBody>
      </p:sp>
      <p:sp>
        <p:nvSpPr>
          <p:cNvPr id="5" name="">
            <a:extLst xmlns:a="http://schemas.openxmlformats.org/drawingml/2006/main">
              <a:ext uri="{FF2B5EF4-FFF2-40B4-BE49-F238E27FC236}">
                <a16:creationId xmlns:a16="http://schemas.microsoft.com/office/drawing/2014/main" id="{858C72F7-545E-4F0C-A046-4C7A224589F0}"/>
              </a:ext>
            </a:extLst>
          </p:cNvPr>
          <p:cNvSpPr>
            <a:spLocks xmlns:a="http://schemas.openxmlformats.org/drawingml/2006/main" noGrp="1"/>
          </p:cNvSpPr>
          <p:nvPr/>
        </p:nvSpPr>
        <p:spPr>
          <a:xfrm xmlns:a="http://schemas.openxmlformats.org/drawingml/2006/main">
            <a:off x="619125" y="2000250"/>
            <a:ext cx="10572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350" b="1">
                <a:solidFill>
                  <a:srgbClr val="FFFFFF"/>
                </a:solidFill>
              </a:defRPr>
            </a:defPPr>
            <a:lvl1pPr>
              <a:defRPr sz="4350" b="1">
                <a:solidFill>
                  <a:srgbClr val="FFFFFF"/>
                </a:solidFill>
              </a:defRPr>
            </a:lvl1pPr>
            <a:lvl2pPr>
              <a:defRPr sz="4350" b="1">
                <a:solidFill>
                  <a:srgbClr val="FFFFFF"/>
                </a:solidFill>
              </a:defRPr>
            </a:lvl2pPr>
            <a:lvl3pPr>
              <a:defRPr sz="4350" b="1">
                <a:solidFill>
                  <a:srgbClr val="FFFFFF"/>
                </a:solidFill>
              </a:defRPr>
            </a:lvl3pPr>
            <a:lvl4pPr>
              <a:defRPr sz="4350" b="1">
                <a:solidFill>
                  <a:srgbClr val="FFFFFF"/>
                </a:solidFill>
              </a:defRPr>
            </a:lvl4pPr>
            <a:lvl5pPr>
              <a:defRPr sz="4350" b="1">
                <a:solidFill>
                  <a:srgbClr val="FFFFFF"/>
                </a:solidFill>
              </a:defRPr>
            </a:lvl5pPr>
            <a:lvl6pPr>
              <a:defRPr sz="4350" b="1">
                <a:solidFill>
                  <a:srgbClr val="FFFFFF"/>
                </a:solidFill>
              </a:defRPr>
            </a:lvl6pPr>
            <a:lvl7pPr>
              <a:defRPr sz="4350" b="1">
                <a:solidFill>
                  <a:srgbClr val="FFFFFF"/>
                </a:solidFill>
              </a:defRPr>
            </a:lvl7pPr>
            <a:lvl8pPr>
              <a:defRPr sz="4350" b="1">
                <a:solidFill>
                  <a:srgbClr val="FFFFFF"/>
                </a:solidFill>
              </a:defRPr>
            </a:lvl8pPr>
            <a:lvl9pPr>
              <a:defRPr sz="4350" b="1">
                <a:solidFill>
                  <a:srgbClr val="FFFFFF"/>
                </a:solidFill>
              </a:defRPr>
            </a:lvl9pPr>
          </a:lstStyle>
          <a:p xmlns:a="http://schemas.openxmlformats.org/drawingml/2006/main">
            <a:pPr>
              <a:defRPr sz="4350" b="1">
                <a:solidFill>
                  <a:srgbClr val="FFFFFF"/>
                </a:solidFill>
              </a:defRPr>
            </a:pPr>
            <a:r>
              <a:rPr sz="4350" b="1">
                <a:solidFill>
                  <a:srgbClr val="FFFFFF"/>
                </a:solidFill>
              </a:rPr>
              <a:t>A phone scan becomes</a:t>
            </a:r>
          </a:p>
          <a:p xmlns:a="http://schemas.openxmlformats.org/drawingml/2006/main">
            <a:pPr>
              <a:defRPr sz="4350" b="1">
                <a:solidFill>
                  <a:srgbClr val="FFFFFF"/>
                </a:solidFill>
              </a:defRPr>
            </a:pPr>
            <a:r>
              <a:rPr sz="4350" b="1">
                <a:solidFill>
                  <a:srgbClr val="FFFFFF"/>
                </a:solidFill>
              </a:rPr>
              <a:t>a collection request</a:t>
            </a:r>
          </a:p>
          <a:p xmlns:a="http://schemas.openxmlformats.org/drawingml/2006/main">
            <a:pPr>
              <a:defRPr sz="4350" b="1">
                <a:solidFill>
                  <a:srgbClr val="FFFFFF"/>
                </a:solidFill>
              </a:defRPr>
            </a:pPr>
            <a:r>
              <a:rPr sz="4350" b="1">
                <a:solidFill>
                  <a:srgbClr val="FFFFFF"/>
                </a:solidFill>
              </a:rPr>
              <a:t>and a measured receipt.</a:t>
            </a:r>
          </a:p>
        </p:txBody>
      </p:sp>
      <p:sp>
        <p:nvSpPr>
          <p:cNvPr id="6" name="">
            <a:extLst xmlns:a="http://schemas.openxmlformats.org/drawingml/2006/main">
              <a:ext uri="{FF2B5EF4-FFF2-40B4-BE49-F238E27FC236}">
                <a16:creationId xmlns:a16="http://schemas.microsoft.com/office/drawing/2014/main" id="{9622F264-1B9F-4B59-BE73-4FBEE3AD836C}"/>
              </a:ext>
            </a:extLst>
          </p:cNvPr>
          <p:cNvSpPr>
            <a:spLocks xmlns:a="http://schemas.openxmlformats.org/drawingml/2006/main" noGrp="1"/>
          </p:cNvSpPr>
          <p:nvPr/>
        </p:nvSpPr>
        <p:spPr>
          <a:xfrm xmlns:a="http://schemas.openxmlformats.org/drawingml/2006/main">
            <a:off x="619125" y="5000625"/>
            <a:ext cx="1066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1">
                <a:solidFill>
                  <a:srgbClr val="B9CEA9"/>
                </a:solidFill>
              </a:defRPr>
            </a:defPPr>
            <a:lvl1pPr>
              <a:defRPr sz="2550" b="1">
                <a:solidFill>
                  <a:srgbClr val="B9CEA9"/>
                </a:solidFill>
              </a:defRPr>
            </a:lvl1pPr>
            <a:lvl2pPr>
              <a:defRPr sz="2550" b="1">
                <a:solidFill>
                  <a:srgbClr val="B9CEA9"/>
                </a:solidFill>
              </a:defRPr>
            </a:lvl2pPr>
            <a:lvl3pPr>
              <a:defRPr sz="2550" b="1">
                <a:solidFill>
                  <a:srgbClr val="B9CEA9"/>
                </a:solidFill>
              </a:defRPr>
            </a:lvl3pPr>
            <a:lvl4pPr>
              <a:defRPr sz="2550" b="1">
                <a:solidFill>
                  <a:srgbClr val="B9CEA9"/>
                </a:solidFill>
              </a:defRPr>
            </a:lvl4pPr>
            <a:lvl5pPr>
              <a:defRPr sz="2550" b="1">
                <a:solidFill>
                  <a:srgbClr val="B9CEA9"/>
                </a:solidFill>
              </a:defRPr>
            </a:lvl5pPr>
            <a:lvl6pPr>
              <a:defRPr sz="2550" b="1">
                <a:solidFill>
                  <a:srgbClr val="B9CEA9"/>
                </a:solidFill>
              </a:defRPr>
            </a:lvl6pPr>
            <a:lvl7pPr>
              <a:defRPr sz="2550" b="1">
                <a:solidFill>
                  <a:srgbClr val="B9CEA9"/>
                </a:solidFill>
              </a:defRPr>
            </a:lvl7pPr>
            <a:lvl8pPr>
              <a:defRPr sz="2550" b="1">
                <a:solidFill>
                  <a:srgbClr val="B9CEA9"/>
                </a:solidFill>
              </a:defRPr>
            </a:lvl8pPr>
            <a:lvl9pPr>
              <a:defRPr sz="2550" b="1">
                <a:solidFill>
                  <a:srgbClr val="B9CEA9"/>
                </a:solidFill>
              </a:defRPr>
            </a:lvl9pPr>
          </a:lstStyle>
          <a:p xmlns:a="http://schemas.openxmlformats.org/drawingml/2006/main">
            <a:pPr>
              <a:defRPr sz="2550" b="1">
                <a:solidFill>
                  <a:srgbClr val="B9CEA9"/>
                </a:solidFill>
              </a:defRPr>
            </a:pPr>
            <a:r>
              <a:rPr sz="2550" b="1">
                <a:solidFill>
                  <a:srgbClr val="B9CEA9"/>
                </a:solidFill>
              </a:rPr>
              <a:t>Our next step: a 30-household pilot in one housing society.</a:t>
            </a:r>
          </a:p>
        </p:txBody>
      </p:sp>
    </p:spTree>
    <p:extLst>
      <p:ext uri="{BB962C8B-B14F-4D97-AF65-F5344CB8AC3E}">
        <p14:creationId xmlns:p14="http://schemas.microsoft.com/office/powerpoint/2010/main" val="13143126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2026-10-23T18:28:27.5570000Z</dcterms:created>
  <dcterms:modified xsi:type="dcterms:W3CDTF">2026-10-23T18:28:27.5570000Z</dcterms:modified>
</coreProperties>
</file>